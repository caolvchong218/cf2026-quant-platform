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6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8c8036caba43a7" /><Relationship Type="http://schemas.openxmlformats.org/officeDocument/2006/relationships/extended-properties" Target="/docProps/app.xml" Id="Ra297af128f764b31" /><Relationship Type="http://schemas.openxmlformats.org/officeDocument/2006/relationships/officeDocument" Target="/ppt/presentation.xml" Id="Re777d1c40fc84b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795c6bacec4148"/>
  </p:sldMasterIdLst>
  <p:notesMasterIdLst>
    <p:notesMasterId xmlns:r="http://schemas.openxmlformats.org/officeDocument/2006/relationships" r:id="R7bcdaf2c66c444eb"/>
  </p:notesMasterIdLst>
  <p:sldIdLst>
    <p:sldId xmlns:r="http://schemas.openxmlformats.org/officeDocument/2006/relationships" id="256" r:id="R7a36e0f0c094483f"/>
    <p:sldId xmlns:r="http://schemas.openxmlformats.org/officeDocument/2006/relationships" id="257" r:id="R379f6b961b994f0f"/>
    <p:sldId xmlns:r="http://schemas.openxmlformats.org/officeDocument/2006/relationships" id="258" r:id="R0b33cb7a644d4627"/>
    <p:sldId xmlns:r="http://schemas.openxmlformats.org/officeDocument/2006/relationships" id="259" r:id="R625dc80be6dd4fac"/>
    <p:sldId xmlns:r="http://schemas.openxmlformats.org/officeDocument/2006/relationships" id="260" r:id="R7838c92ba2524532"/>
    <p:sldId xmlns:r="http://schemas.openxmlformats.org/officeDocument/2006/relationships" id="261" r:id="R4e4c6963db894a78"/>
    <p:sldId xmlns:r="http://schemas.openxmlformats.org/officeDocument/2006/relationships" id="262" r:id="R2c230afddbb64398"/>
    <p:sldId xmlns:r="http://schemas.openxmlformats.org/officeDocument/2006/relationships" id="263" r:id="R3fe695ea139e4f30"/>
    <p:sldId xmlns:r="http://schemas.openxmlformats.org/officeDocument/2006/relationships" id="264" r:id="R0f04507192fc41fe"/>
    <p:sldId xmlns:r="http://schemas.openxmlformats.org/officeDocument/2006/relationships" id="265" r:id="R408338107167461b"/>
    <p:sldId xmlns:r="http://schemas.openxmlformats.org/officeDocument/2006/relationships" id="266" r:id="R94e3ad9f33014573"/>
    <p:sldId xmlns:r="http://schemas.openxmlformats.org/officeDocument/2006/relationships" id="267" r:id="R9cb49a77c57a4808"/>
    <p:sldId xmlns:r="http://schemas.openxmlformats.org/officeDocument/2006/relationships" id="268" r:id="R055a43aaa47a45d5"/>
    <p:sldId xmlns:r="http://schemas.openxmlformats.org/officeDocument/2006/relationships" id="269" r:id="R5d31e0179ec94c3d"/>
    <p:sldId xmlns:r="http://schemas.openxmlformats.org/officeDocument/2006/relationships" id="270" r:id="R3416ace27eb041e8"/>
    <p:sldId xmlns:r="http://schemas.openxmlformats.org/officeDocument/2006/relationships" id="271" r:id="R9f4b8ac057e44044"/>
    <p:sldId xmlns:r="http://schemas.openxmlformats.org/officeDocument/2006/relationships" id="272" r:id="Rc77713d9895649f8"/>
    <p:sldId xmlns:r="http://schemas.openxmlformats.org/officeDocument/2006/relationships" id="273" r:id="Rce61501f73934852"/>
    <p:sldId xmlns:r="http://schemas.openxmlformats.org/officeDocument/2006/relationships" id="274" r:id="R31d216161db54355"/>
    <p:sldId xmlns:r="http://schemas.openxmlformats.org/officeDocument/2006/relationships" id="275" r:id="R39c7b2e3876843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e8cbe1cbec4ada" /><Relationship Type="http://schemas.openxmlformats.org/officeDocument/2006/relationships/slideMaster" Target="/ppt/slideMasters/slideMaster1.xml" Id="R73795c6bacec4148" /><Relationship Type="http://schemas.openxmlformats.org/officeDocument/2006/relationships/notesMaster" Target="/ppt/notesMasters/notesMaster1.xml" Id="R7bcdaf2c66c444eb" /><Relationship Type="http://schemas.openxmlformats.org/officeDocument/2006/relationships/presProps" Target="/ppt/presProps.xml" Id="R7909c71dc2084585" /><Relationship Type="http://schemas.openxmlformats.org/officeDocument/2006/relationships/tableStyles" Target="/ppt/tableStyles.xml" Id="Rc2b326ee3c4a4c10" /><Relationship Type="http://schemas.openxmlformats.org/officeDocument/2006/relationships/slide" Target="/ppt/slides/slide1.xml" Id="R7a36e0f0c094483f" /><Relationship Type="http://schemas.openxmlformats.org/officeDocument/2006/relationships/slide" Target="/ppt/slides/slide2.xml" Id="R379f6b961b994f0f" /><Relationship Type="http://schemas.openxmlformats.org/officeDocument/2006/relationships/slide" Target="/ppt/slides/slide3.xml" Id="R0b33cb7a644d4627" /><Relationship Type="http://schemas.openxmlformats.org/officeDocument/2006/relationships/slide" Target="/ppt/slides/slide4.xml" Id="R625dc80be6dd4fac" /><Relationship Type="http://schemas.openxmlformats.org/officeDocument/2006/relationships/slide" Target="/ppt/slides/slide5.xml" Id="R7838c92ba2524532" /><Relationship Type="http://schemas.openxmlformats.org/officeDocument/2006/relationships/slide" Target="/ppt/slides/slide6.xml" Id="R4e4c6963db894a78" /><Relationship Type="http://schemas.openxmlformats.org/officeDocument/2006/relationships/slide" Target="/ppt/slides/slide7.xml" Id="R2c230afddbb64398" /><Relationship Type="http://schemas.openxmlformats.org/officeDocument/2006/relationships/slide" Target="/ppt/slides/slide8.xml" Id="R3fe695ea139e4f30" /><Relationship Type="http://schemas.openxmlformats.org/officeDocument/2006/relationships/slide" Target="/ppt/slides/slide9.xml" Id="R0f04507192fc41fe" /><Relationship Type="http://schemas.openxmlformats.org/officeDocument/2006/relationships/slide" Target="/ppt/slides/slide10.xml" Id="R408338107167461b" /><Relationship Type="http://schemas.openxmlformats.org/officeDocument/2006/relationships/slide" Target="/ppt/slides/slide11.xml" Id="R94e3ad9f33014573" /><Relationship Type="http://schemas.openxmlformats.org/officeDocument/2006/relationships/slide" Target="/ppt/slides/slide12.xml" Id="R9cb49a77c57a4808" /><Relationship Type="http://schemas.openxmlformats.org/officeDocument/2006/relationships/slide" Target="/ppt/slides/slide13.xml" Id="R055a43aaa47a45d5" /><Relationship Type="http://schemas.openxmlformats.org/officeDocument/2006/relationships/slide" Target="/ppt/slides/slide14.xml" Id="R5d31e0179ec94c3d" /><Relationship Type="http://schemas.openxmlformats.org/officeDocument/2006/relationships/slide" Target="/ppt/slides/slide15.xml" Id="R3416ace27eb041e8" /><Relationship Type="http://schemas.openxmlformats.org/officeDocument/2006/relationships/slide" Target="/ppt/slides/slide16.xml" Id="R9f4b8ac057e44044" /><Relationship Type="http://schemas.openxmlformats.org/officeDocument/2006/relationships/slide" Target="/ppt/slides/slide17.xml" Id="Rc77713d9895649f8" /><Relationship Type="http://schemas.openxmlformats.org/officeDocument/2006/relationships/slide" Target="/ppt/slides/slide18.xml" Id="Rce61501f73934852" /><Relationship Type="http://schemas.openxmlformats.org/officeDocument/2006/relationships/slide" Target="/ppt/slides/slide19.xml" Id="R31d216161db54355" /><Relationship Type="http://schemas.openxmlformats.org/officeDocument/2006/relationships/slide" Target="/ppt/slides/slide20.xml" Id="R39c7b2e3876843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62e3736b4548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aee51ceb4c4762" /><Relationship Type="http://schemas.openxmlformats.org/officeDocument/2006/relationships/notesMaster" Target="/ppt/notesMasters/notesMaster1.xml" Id="Rfbc1eb345e4648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fb1757e5074769" /><Relationship Type="http://schemas.openxmlformats.org/officeDocument/2006/relationships/notesMaster" Target="/ppt/notesMasters/notesMaster1.xml" Id="R5b48d181395a45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2bd67df26b4dd7" /><Relationship Type="http://schemas.openxmlformats.org/officeDocument/2006/relationships/notesMaster" Target="/ppt/notesMasters/notesMaster1.xml" Id="Rac45825e636543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2dfbcc631042f9" /><Relationship Type="http://schemas.openxmlformats.org/officeDocument/2006/relationships/notesMaster" Target="/ppt/notesMasters/notesMaster1.xml" Id="R7ccf98bd732749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8a69bed8f047b1" /><Relationship Type="http://schemas.openxmlformats.org/officeDocument/2006/relationships/notesMaster" Target="/ppt/notesMasters/notesMaster1.xml" Id="R92a86daae74442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be421462084799" /><Relationship Type="http://schemas.openxmlformats.org/officeDocument/2006/relationships/notesMaster" Target="/ppt/notesMasters/notesMaster1.xml" Id="R08ec4e6ea49d46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6f1d45aa794610" /><Relationship Type="http://schemas.openxmlformats.org/officeDocument/2006/relationships/notesMaster" Target="/ppt/notesMasters/notesMaster1.xml" Id="Rca7a2ed8dede42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228e5363074201" /><Relationship Type="http://schemas.openxmlformats.org/officeDocument/2006/relationships/notesMaster" Target="/ppt/notesMasters/notesMaster1.xml" Id="R3a2102a908d74f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2052fb48644e0f" /><Relationship Type="http://schemas.openxmlformats.org/officeDocument/2006/relationships/notesMaster" Target="/ppt/notesMasters/notesMaster1.xml" Id="R224653d80d204f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5ca5fe4b5f4d58" /><Relationship Type="http://schemas.openxmlformats.org/officeDocument/2006/relationships/notesMaster" Target="/ppt/notesMasters/notesMaster1.xml" Id="R1921f26f312840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2ce2237caa447d" /><Relationship Type="http://schemas.openxmlformats.org/officeDocument/2006/relationships/notesMaster" Target="/ppt/notesMasters/notesMaster1.xml" Id="R4b1cd1b5334e44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7219d2e5fe47c5" /><Relationship Type="http://schemas.openxmlformats.org/officeDocument/2006/relationships/notesMaster" Target="/ppt/notesMasters/notesMaster1.xml" Id="R1333efed9cdf48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4af757ccff4e17" /><Relationship Type="http://schemas.openxmlformats.org/officeDocument/2006/relationships/notesMaster" Target="/ppt/notesMasters/notesMaster1.xml" Id="R75fb1f140a2a4d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352b6e1a764670" /><Relationship Type="http://schemas.openxmlformats.org/officeDocument/2006/relationships/notesMaster" Target="/ppt/notesMasters/notesMaster1.xml" Id="R6aae6bbfa0a741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b0fa8bc6c9426a" /><Relationship Type="http://schemas.openxmlformats.org/officeDocument/2006/relationships/notesMaster" Target="/ppt/notesMasters/notesMaster1.xml" Id="R7a3be84b6a214b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bc7f6647ca494f" /><Relationship Type="http://schemas.openxmlformats.org/officeDocument/2006/relationships/notesMaster" Target="/ppt/notesMasters/notesMaster1.xml" Id="Rcfca0d35dc2748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5348a348a2c4531" /><Relationship Type="http://schemas.openxmlformats.org/officeDocument/2006/relationships/notesMaster" Target="/ppt/notesMasters/notesMaster1.xml" Id="R791029bb416f4bb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e68749cbfb4a8a" /><Relationship Type="http://schemas.openxmlformats.org/officeDocument/2006/relationships/notesMaster" Target="/ppt/notesMasters/notesMaster1.xml" Id="R80f981cd2446495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d4f774899a48fd" /><Relationship Type="http://schemas.openxmlformats.org/officeDocument/2006/relationships/notesMaster" Target="/ppt/notesMasters/notesMaster1.xml" Id="R720c1c938722429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912e728ebe74f17" /><Relationship Type="http://schemas.openxmlformats.org/officeDocument/2006/relationships/notesMaster" Target="/ppt/notesMasters/notesMaster1.xml" Id="Redbc4d85ab8a49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建议用时：30秒</a:t>
            </a:r>
          </a:p>
          <a:p xmlns:a="http://schemas.openxmlformats.org/drawingml/2006/main">
            <a:r>
              <a:t>本次展示从平台正确性开始，解释原始失败、用户升级的指数目标，以及最后找到的滚动LightGBM候选。必须同时说明：这个候选经过历史结果筛选，不是独立盲测成功。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建议用时：45秒</a:t>
            </a:r>
          </a:p>
          <a:p xmlns:a="http://schemas.openxmlformats.org/drawingml/2006/main">
            <a:r>
              <a:t>老师的要求没有规定必须达到某个收益或Sharpe。因此我们把正确性和复现放在第一位。每项要求都能从代码追到输出文件：例如因子分组保留形成时人数，成交文件保留实际金额和费用。扩展选择有验证证据的几项，不靠堆页面数。收益研究是平台能力的演示，同时接受失败结果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原策略用二十日动量，每五个交易日调整前三十只股票。图里可以看到二零二二到二零二四年连续亏损。实际账本扣费亏损百分之八十三点五七，而真正将费用设为零再运行，仍亏损百分之七十五点一六。简单把累计费用加回净值，会得到另一条归因曲线。这个差异说明费用、仓位规模和后续盈亏有路径依赖。我们因此同时改进信号研究与组合构建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这里是可维护性的关键。模型只回答股票的相对分数，组合层决定多少资金投入，成交层决定订单实际完成多少。将来接入新因子或更复杂模型，不需要再写一套会计逻辑。命令行和界面调用相同函数。每次实验带上数据、参数和源码身份，避免出现界面显示一种口径、报告计算另一种口径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股票池在二零一九年末按当时成交额选取，收益研究从之后开始。我们没有拿今天还上市的股票倒推历史。完整网格有三万三千多条缺失，缺失会影响因子、成交和估值，所以分别处理并计数。补充每日估值、公告和历史行业后，整体本地存储约一点六三GB。最重要的边界是固定池的选择偏差和厂商事后修订，它们不会因为数据量大而自动消失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建议用时：70秒</a:t>
            </a:r>
          </a:p>
          <a:p xmlns:a="http://schemas.openxmlformats.org/drawingml/2006/main">
            <a:r>
              <a:t>形成日是每年第一次交易前一个交易日。标签退出日必须严格早于形成日，因此不能把还没实现的20日收益放进训练。每年滚动最近三年训练，随后一年使用新模型。此次最终区间已被V2观察，滚动训练不能改变这个事实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这十二个因子并不是十二个独立的信息源。低波动和低振幅就可能高度相关。它们覆盖中期趋势、短期反转、风险、量价、价值和盈利质量。我们提前固定符号，在最终期IC为负时也不直接翻转。参考了Qlib的量价表达，但没有声称完整实现Alpha158。后续需要以独立验证证明新增因子提供额外信息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建议用时：70秒</a:t>
            </a:r>
          </a:p>
          <a:p xmlns:a="http://schemas.openxmlformats.org/drawingml/2006/main">
            <a:r>
              <a:t>保留两套表示让模型区分原始风格和剔除行业市值后的相对位置。全部横截面处理只使用当天数据。基本面严格晚于公告日才可见，但仍披露厂商历史修订。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候选和容量在本轮开始前写进协议。每种信号配稳定股票仓位和波动预算组合，避免只展示胜出的模型。神经网络仍在V2版本对照中，本轮不要求复杂模型必须胜出。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建议用时：70秒</a:t>
            </a:r>
          </a:p>
          <a:p xmlns:a="http://schemas.openxmlformats.org/drawingml/2006/main">
            <a:r>
              <a:t>上一版平均一半现金更适合防御。新方案提高股票参与度，同时保留波动、行业和单股限制。最新候选最终期平均现金约17.87%。权重和波动是形成时目标，无法承诺未来回撤上限。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绿色账本提示曾容易让用户误以为策略合格。现在会分别显示资金核对与收益风险判断。回测页直接提供V1、V2、V3版本，不再只给旧动量入口。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建议用时：75秒</a:t>
            </a:r>
          </a:p>
          <a:p xmlns:a="http://schemas.openxmlformats.org/drawingml/2006/main">
            <a:r>
              <a:t>先看2023到2024，规则要求净收益、超额收益为正且回撤不超过25%，按最差年度超额优先。价值主题稳定仓位被预选。LightGBM稳定仓位回撤25.73%，没有通过风险门槛。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预选价值主题最后只赚4.30%，没有超过指数。用户要求继续研究后，我们在通过验证门槛的候选中根据这张历史结果表选择LightGBM波动预算。这是开发后的候选选择，不能说事前选中了赢家。稳定版树模型收益更高，但验证回撤超门槛，未作为默认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建议用时：75秒</a:t>
            </a:r>
          </a:p>
          <a:p xmlns:a="http://schemas.openxmlformats.org/drawingml/2006/main">
            <a:r>
              <a:t>该结果覆盖固定417日，费用已扣。全收益指数包含红利再投资，是比价格指数更严格的基准。策略收益25.13%、年化14.51%、回撤9.88%。我们也检查首次开盘基准和ETF代理，结论没有改变。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双倍费用和延迟一天都重新运行完整账本，并超过同区间全收益指数。延迟一天更高不能据此改默认参数。另从2023起连续运行，避免每年重新起步；2024落后指数7.28个百分点，仍原样呈现。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</a:t>
            </a:r>
          </a:p>
          <a:p xmlns:a="http://schemas.openxmlformats.org/drawingml/2006/main">
            <a:r>
              <a:t>这里展示中性化因子的平均Rank IC。低波动、低振幅和低换手较好，流动性和均线趋势为负。每一天先跨股票计算相关，再沿时间汇总；这与把全部股票日混在一起算一次相关不同。分组也先依据当日分数固定，再统计未来收益和缺失人数。因为标签重叠，相邻二十日收益并不独立，因此这些平均值属于诊断，不能直接称为可交易收益或显著alpha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建议用时：120秒</a:t>
            </a:r>
          </a:p>
          <a:p xmlns:a="http://schemas.openxmlformats.org/drawingml/2006/main">
            <a:r>
              <a:t>先打开策略研究说明25.13与两个指数。然后进入回测实验，确认默认滚动LightGBM；切换V2，收益应变为6.12并显示未超过指数；再切V1展示失败警示。最后返回V3，说明改参数会生成新的实验，旧结果不会混入。现场可用预热缓存演示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</a:t>
            </a:r>
          </a:p>
          <a:p xmlns:a="http://schemas.openxmlformats.org/drawingml/2006/main">
            <a:r>
              <a:t>最终交付包括可维护平台、完整策略版本、报告和演示。结果达到这段历史的目标，但不能保证未来赚钱或满分。最重要的研究边界是当前候选在看过最终历史结果后被选中，需要新的前向数据来验证。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</a:t>
            </a:r>
          </a:p>
          <a:p xmlns:a="http://schemas.openxmlformats.org/drawingml/2006/main">
            <a:r>
              <a:t>回答口径问题时使用。无风险年利率默认零，日标准差ddof为一；零波动Sharpe记缺失。回撤高水位包含初始资金。CPI同比没有参与连乘。价差分组没有冒充可执行多空策略，费用加回也没有冒充无费用独立重跑。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</a:t>
            </a:r>
          </a:p>
          <a:p xmlns:a="http://schemas.openxmlformats.org/drawingml/2006/main">
            <a:r>
              <a:t>应如实回答：价值主题预选失败，滚动LightGBM是在本轮历史候选中进一步筛选的。价格和全收益指数分别给结论，ETF只是代理。我们保留52项测试、源码身份和独立复算，不能用工程验证来替代市场泛化证明。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7b224bdda4c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35889f161c4350" /><Relationship Type="http://schemas.openxmlformats.org/officeDocument/2006/relationships/slideLayout" Target="/ppt/slideLayouts/slideLayout1.xml" Id="Rbd9fccf4952946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9fccf4952946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7aa45d9d548d1" /><Relationship Type="http://schemas.openxmlformats.org/officeDocument/2006/relationships/notesSlide" Target="/ppt/notesSlides/notesSlide1.xml" Id="R0774ae8142a14e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8663c10604a91" /><Relationship Type="http://schemas.openxmlformats.org/officeDocument/2006/relationships/notesSlide" Target="/ppt/notesSlides/notesSlide2.xml" Id="R2947e8abe70048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4b6a63408415a" /><Relationship Type="http://schemas.openxmlformats.org/officeDocument/2006/relationships/chart" Target="/ppt/slides/charts/chart1.xml" Id="Reb0f3a79739e4031" /><Relationship Type="http://schemas.openxmlformats.org/officeDocument/2006/relationships/notesSlide" Target="/ppt/notesSlides/notesSlide3.xml" Id="Raa935f69f6994c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f39e318834d10" /><Relationship Type="http://schemas.openxmlformats.org/officeDocument/2006/relationships/notesSlide" Target="/ppt/notesSlides/notesSlide4.xml" Id="Rb99527ef399549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848da58724b76" /><Relationship Type="http://schemas.openxmlformats.org/officeDocument/2006/relationships/notesSlide" Target="/ppt/notesSlides/notesSlide5.xml" Id="R431561a77c7641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ce71eff004d08" /><Relationship Type="http://schemas.openxmlformats.org/officeDocument/2006/relationships/notesSlide" Target="/ppt/notesSlides/notesSlide6.xml" Id="Ra15e025edebe4d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0d3e348ae47fe" /><Relationship Type="http://schemas.openxmlformats.org/officeDocument/2006/relationships/notesSlide" Target="/ppt/notesSlides/notesSlide7.xml" Id="R1a06a80fad5f4c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bfd58efc8447a" /><Relationship Type="http://schemas.openxmlformats.org/officeDocument/2006/relationships/notesSlide" Target="/ppt/notesSlides/notesSlide8.xml" Id="Re666d7ff34d64f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a5e63d1564b3d" /><Relationship Type="http://schemas.openxmlformats.org/officeDocument/2006/relationships/notesSlide" Target="/ppt/notesSlides/notesSlide9.xml" Id="R4366553112ce40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fee69063d4206" /><Relationship Type="http://schemas.openxmlformats.org/officeDocument/2006/relationships/notesSlide" Target="/ppt/notesSlides/notesSlide10.xml" Id="R13316eb87ad341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753d624ee48f5" /><Relationship Type="http://schemas.openxmlformats.org/officeDocument/2006/relationships/notesSlide" Target="/ppt/notesSlides/notesSlide11.xml" Id="Rfdbc867e221a45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6da5a530844ce" /><Relationship Type="http://schemas.openxmlformats.org/officeDocument/2006/relationships/chart" Target="/ppt/slides/charts/chart2.xml" Id="R39946722d30a42c2" /><Relationship Type="http://schemas.openxmlformats.org/officeDocument/2006/relationships/notesSlide" Target="/ppt/notesSlides/notesSlide12.xml" Id="Re64622d5191742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d229d571b432e" /><Relationship Type="http://schemas.openxmlformats.org/officeDocument/2006/relationships/chart" Target="/ppt/slides/charts/chart3.xml" Id="R20be70a61d6e4256" /><Relationship Type="http://schemas.openxmlformats.org/officeDocument/2006/relationships/notesSlide" Target="/ppt/notesSlides/notesSlide13.xml" Id="Rf441dc52e7a748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baa2e67384f01" /><Relationship Type="http://schemas.openxmlformats.org/officeDocument/2006/relationships/chart" Target="/ppt/slides/charts/chart4.xml" Id="R0be21e256eb348b2" /><Relationship Type="http://schemas.openxmlformats.org/officeDocument/2006/relationships/notesSlide" Target="/ppt/notesSlides/notesSlide14.xml" Id="R74a8ce547ed143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d8d9dbb7e4b3b" /><Relationship Type="http://schemas.openxmlformats.org/officeDocument/2006/relationships/chart" Target="/ppt/slides/charts/chart5.xml" Id="Rc3e8397b4c674164" /><Relationship Type="http://schemas.openxmlformats.org/officeDocument/2006/relationships/notesSlide" Target="/ppt/notesSlides/notesSlide15.xml" Id="Rf140a9ae4c9743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2701b6abc49f3" /><Relationship Type="http://schemas.openxmlformats.org/officeDocument/2006/relationships/chart" Target="/ppt/slides/charts/chart6.xml" Id="Rdd01b921aade40d2" /><Relationship Type="http://schemas.openxmlformats.org/officeDocument/2006/relationships/notesSlide" Target="/ppt/notesSlides/notesSlide16.xml" Id="R03a77ee5dfac4a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d2f7886824dda" /><Relationship Type="http://schemas.openxmlformats.org/officeDocument/2006/relationships/notesSlide" Target="/ppt/notesSlides/notesSlide17.xml" Id="Rb81c4b86470f4f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ccbce6e9a4035" /><Relationship Type="http://schemas.openxmlformats.org/officeDocument/2006/relationships/notesSlide" Target="/ppt/notesSlides/notesSlide18.xml" Id="R382c548dee6844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98c59a72d4693" /><Relationship Type="http://schemas.openxmlformats.org/officeDocument/2006/relationships/notesSlide" Target="/ppt/notesSlides/notesSlide19.xml" Id="R6df97cef51c84f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b460bd58d4dc0" /><Relationship Type="http://schemas.openxmlformats.org/officeDocument/2006/relationships/notesSlide" Target="/ppt/notesSlides/notesSlide20.xml" Id="Re09aff2b66a7429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年度净收益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1908">
              <a:solidFill>
                <a:srgbClr val="168579"/>
              </a:solidFill>
            </a:ln>
          </c:spPr>
          <c:invertIfNegative val="0"/>
          <c:cat>
            <c:strRef>
              <c:f>'Chart Data'!$A$2:$A$8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2026至9月</c:v>
                </c:pt>
              </c:strCache>
            </c:strRef>
          </c:cat>
          <c:val>
            <c:numRef>
              <c:f>'Chart Data'!$B$2:$B$8</c:f>
              <c:numCache>
                <c:formatCode>0.00</c:formatCode>
                <c:ptCount val="7"/>
                <c:pt idx="0">
                  <c:v>0.43587109</c:v>
                </c:pt>
                <c:pt idx="1">
                  <c:v>34.74042025</c:v>
                </c:pt>
                <c:pt idx="2">
                  <c:v>-57.12440743</c:v>
                </c:pt>
                <c:pt idx="3">
                  <c:v>-33.93809736</c:v>
                </c:pt>
                <c:pt idx="4">
                  <c:v>-39.73761719</c:v>
                </c:pt>
                <c:pt idx="5">
                  <c:v>-15.65065758</c:v>
                </c:pt>
                <c:pt idx="6">
                  <c:v>-15.67312827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CC9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C"/>
              </a:solidFill>
            </a:ln>
          </c:spPr>
        </c:majorGridlines>
        <c:numFmt formatCode="0.0&quot;%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超价格指数（百分点）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1908">
              <a:solidFill>
                <a:srgbClr val="168579"/>
              </a:solidFill>
            </a:ln>
          </c:spPr>
          <c:cat>
            <c:strRef>
              <c:f>'Chart Data'!$A$2:$A$9</c:f>
              <c:strCache>
                <c:ptCount val="8"/>
                <c:pt idx="0">
                  <c:v>Theme S</c:v>
                </c:pt>
                <c:pt idx="1">
                  <c:v>Theme M</c:v>
                </c:pt>
                <c:pt idx="2">
                  <c:v>Ridge S</c:v>
                </c:pt>
                <c:pt idx="3">
                  <c:v>Ridge M</c:v>
                </c:pt>
                <c:pt idx="4">
                  <c:v>LGBM S</c:v>
                </c:pt>
                <c:pt idx="5">
                  <c:v>LGBM M</c:v>
                </c:pt>
                <c:pt idx="6">
                  <c:v>Blend S</c:v>
                </c:pt>
                <c:pt idx="7">
                  <c:v>Blend M</c:v>
                </c:pt>
              </c:strCache>
            </c:str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22.63602628</c:v>
                </c:pt>
                <c:pt idx="1">
                  <c:v>18.6258934</c:v>
                </c:pt>
                <c:pt idx="2">
                  <c:v>23.21526796</c:v>
                </c:pt>
                <c:pt idx="3">
                  <c:v>14.4113713</c:v>
                </c:pt>
                <c:pt idx="4">
                  <c:v>20.1467615</c:v>
                </c:pt>
                <c:pt idx="5">
                  <c:v>13.41503094</c:v>
                </c:pt>
                <c:pt idx="6">
                  <c:v>22.35291092</c:v>
                </c:pt>
                <c:pt idx="7">
                  <c:v>12.41548677</c:v>
                </c:pt>
              </c:numCache>
            </c:numRef>
          </c:val>
        </c:ser>
        <c:ser>
          <c:idx val="1"/>
          <c:order val="1"/>
          <c:tx>
            <c:v>最大回撤（%）</c:v>
          </c:tx>
          <c:spPr>
            <a:solidFill xmlns:a="http://schemas.openxmlformats.org/drawingml/2006/main">
              <a:srgbClr val="4265A6"/>
            </a:solidFill>
            <a:ln xmlns:a="http://schemas.openxmlformats.org/drawingml/2006/main" w="21908">
              <a:solidFill>
                <a:srgbClr val="4265A6"/>
              </a:solidFill>
            </a:ln>
          </c:spPr>
          <c:cat>
            <c:strRef>
              <c:f>'Chart Data'!$C$2:$C$9</c:f>
              <c:strCache>
                <c:ptCount val="8"/>
                <c:pt idx="0">
                  <c:v>Theme S</c:v>
                </c:pt>
                <c:pt idx="1">
                  <c:v>Theme M</c:v>
                </c:pt>
                <c:pt idx="2">
                  <c:v>Ridge S</c:v>
                </c:pt>
                <c:pt idx="3">
                  <c:v>Ridge M</c:v>
                </c:pt>
                <c:pt idx="4">
                  <c:v>LGBM S</c:v>
                </c:pt>
                <c:pt idx="5">
                  <c:v>LGBM M</c:v>
                </c:pt>
                <c:pt idx="6">
                  <c:v>Blend S</c:v>
                </c:pt>
                <c:pt idx="7">
                  <c:v>Blend M</c:v>
                </c:pt>
              </c:strCache>
            </c:str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9.16492163</c:v>
                </c:pt>
                <c:pt idx="1">
                  <c:v>7.93345896</c:v>
                </c:pt>
                <c:pt idx="2">
                  <c:v>28.46569133</c:v>
                </c:pt>
                <c:pt idx="3">
                  <c:v>23.47888669</c:v>
                </c:pt>
                <c:pt idx="4">
                  <c:v>25.72775826</c:v>
                </c:pt>
                <c:pt idx="5">
                  <c:v>19.69963787</c:v>
                </c:pt>
                <c:pt idx="6">
                  <c:v>22.18662098</c:v>
                </c:pt>
                <c:pt idx="7">
                  <c:v>18.60714044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CC9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C"/>
              </a:solidFill>
            </a:ln>
          </c:spPr>
        </c:majorGridlines>
        <c:numFmt formatCode="0.0&quot;%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超价格指数（百分点）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1908">
              <a:solidFill>
                <a:srgbClr val="168579"/>
              </a:solidFill>
            </a:ln>
          </c:spPr>
          <c:invertIfNegative val="0"/>
          <c:cat>
            <c:strRef>
              <c:f>'Chart Data'!$A$2:$A$9</c:f>
              <c:strCache>
                <c:ptCount val="8"/>
                <c:pt idx="0">
                  <c:v>Theme S</c:v>
                </c:pt>
                <c:pt idx="1">
                  <c:v>Theme M</c:v>
                </c:pt>
                <c:pt idx="2">
                  <c:v>Ridge S</c:v>
                </c:pt>
                <c:pt idx="3">
                  <c:v>Ridge M</c:v>
                </c:pt>
                <c:pt idx="4">
                  <c:v>LGBM S</c:v>
                </c:pt>
                <c:pt idx="5">
                  <c:v>LGBM M</c:v>
                </c:pt>
                <c:pt idx="6">
                  <c:v>Blend S</c:v>
                </c:pt>
                <c:pt idx="7">
                  <c:v>Blend M</c:v>
                </c:pt>
              </c:strCache>
            </c:str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-10.24952012</c:v>
                </c:pt>
                <c:pt idx="1">
                  <c:v>-8.86750553</c:v>
                </c:pt>
                <c:pt idx="2">
                  <c:v>4.23334275</c:v>
                </c:pt>
                <c:pt idx="3">
                  <c:v>2.02266654</c:v>
                </c:pt>
                <c:pt idx="4">
                  <c:v>12.84276896</c:v>
                </c:pt>
                <c:pt idx="5">
                  <c:v>10.5800096</c:v>
                </c:pt>
                <c:pt idx="6">
                  <c:v>-6.63882786</c:v>
                </c:pt>
                <c:pt idx="7">
                  <c:v>-6.41876958</c:v>
                </c:pt>
              </c:numCache>
            </c:numRef>
          </c:val>
        </c:ser>
        <c:ser>
          <c:idx val="1"/>
          <c:order val="1"/>
          <c:tx>
            <c:v>最大回撤（%）</c:v>
          </c:tx>
          <c:spPr>
            <a:solidFill xmlns:a="http://schemas.openxmlformats.org/drawingml/2006/main">
              <a:srgbClr val="4265A6"/>
            </a:solidFill>
            <a:ln xmlns:a="http://schemas.openxmlformats.org/drawingml/2006/main" w="21908">
              <a:solidFill>
                <a:srgbClr val="4265A6"/>
              </a:solidFill>
            </a:ln>
          </c:spPr>
          <c:cat>
            <c:strRef>
              <c:f>'Chart Data'!$C$2:$C$9</c:f>
              <c:strCache>
                <c:ptCount val="8"/>
                <c:pt idx="0">
                  <c:v>Theme S</c:v>
                </c:pt>
                <c:pt idx="1">
                  <c:v>Theme M</c:v>
                </c:pt>
                <c:pt idx="2">
                  <c:v>Ridge S</c:v>
                </c:pt>
                <c:pt idx="3">
                  <c:v>Ridge M</c:v>
                </c:pt>
                <c:pt idx="4">
                  <c:v>LGBM S</c:v>
                </c:pt>
                <c:pt idx="5">
                  <c:v>LGBM M</c:v>
                </c:pt>
                <c:pt idx="6">
                  <c:v>Blend S</c:v>
                </c:pt>
                <c:pt idx="7">
                  <c:v>Blend M</c:v>
                </c:pt>
              </c:strCache>
            </c:str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9.12780576</c:v>
                </c:pt>
                <c:pt idx="1">
                  <c:v>8.76214572</c:v>
                </c:pt>
                <c:pt idx="2">
                  <c:v>16.32674304</c:v>
                </c:pt>
                <c:pt idx="3">
                  <c:v>16.03131591</c:v>
                </c:pt>
                <c:pt idx="4">
                  <c:v>9.74647055</c:v>
                </c:pt>
                <c:pt idx="5">
                  <c:v>9.8846842</c:v>
                </c:pt>
                <c:pt idx="6">
                  <c:v>12.38764553</c:v>
                </c:pt>
                <c:pt idx="7">
                  <c:v>12.2806426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CC9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C"/>
              </a:solidFill>
            </a:ln>
          </c:spPr>
        </c:majorGridlines>
        <c:numFmt formatCode="0.0&quot;%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V3最新候选 · 扣费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1908">
              <a:solidFill>
                <a:srgbClr val="168579"/>
              </a:solidFill>
            </a:ln>
          </c:spPr>
          <c:marker>
            <c:symbol val="none"/>
          </c:marker>
          <c:cat>
            <c:strRef>
              <c:f>'Chart Data'!$A$2:$A$86</c:f>
              <c:strCache>
                <c:ptCount val="85"/>
                <c:pt idx="0">
                  <c:v>2025-01-02</c:v>
                </c:pt>
                <c:pt idx="1">
                  <c:v>2025-01-09</c:v>
                </c:pt>
                <c:pt idx="2">
                  <c:v>2025-01-16</c:v>
                </c:pt>
                <c:pt idx="3">
                  <c:v>2025-01-23</c:v>
                </c:pt>
                <c:pt idx="4">
                  <c:v>2025-02-07</c:v>
                </c:pt>
                <c:pt idx="5">
                  <c:v>2025-02-14</c:v>
                </c:pt>
                <c:pt idx="6">
                  <c:v>2025-02-21</c:v>
                </c:pt>
                <c:pt idx="7">
                  <c:v>2025-02-28</c:v>
                </c:pt>
                <c:pt idx="8">
                  <c:v>2025-03-07</c:v>
                </c:pt>
                <c:pt idx="9">
                  <c:v>2025-03-14</c:v>
                </c:pt>
                <c:pt idx="10">
                  <c:v>2025-03-21</c:v>
                </c:pt>
                <c:pt idx="11">
                  <c:v>2025-03-28</c:v>
                </c:pt>
                <c:pt idx="12">
                  <c:v>2025-04-07</c:v>
                </c:pt>
                <c:pt idx="13">
                  <c:v>2025-04-14</c:v>
                </c:pt>
                <c:pt idx="14">
                  <c:v>2025-04-21</c:v>
                </c:pt>
                <c:pt idx="15">
                  <c:v>2025-04-28</c:v>
                </c:pt>
                <c:pt idx="16">
                  <c:v>2025-05-08</c:v>
                </c:pt>
                <c:pt idx="17">
                  <c:v>2025-05-15</c:v>
                </c:pt>
                <c:pt idx="18">
                  <c:v>2025-05-22</c:v>
                </c:pt>
                <c:pt idx="19">
                  <c:v>2025-05-29</c:v>
                </c:pt>
                <c:pt idx="20">
                  <c:v>2025-06-06</c:v>
                </c:pt>
                <c:pt idx="21">
                  <c:v>2025-06-13</c:v>
                </c:pt>
                <c:pt idx="22">
                  <c:v>2025-06-20</c:v>
                </c:pt>
                <c:pt idx="23">
                  <c:v>2025-06-27</c:v>
                </c:pt>
                <c:pt idx="24">
                  <c:v>2025-07-04</c:v>
                </c:pt>
                <c:pt idx="25">
                  <c:v>2025-07-11</c:v>
                </c:pt>
                <c:pt idx="26">
                  <c:v>2025-07-18</c:v>
                </c:pt>
                <c:pt idx="27">
                  <c:v>2025-07-25</c:v>
                </c:pt>
                <c:pt idx="28">
                  <c:v>2025-08-01</c:v>
                </c:pt>
                <c:pt idx="29">
                  <c:v>2025-08-08</c:v>
                </c:pt>
                <c:pt idx="30">
                  <c:v>2025-08-15</c:v>
                </c:pt>
                <c:pt idx="31">
                  <c:v>2025-08-22</c:v>
                </c:pt>
                <c:pt idx="32">
                  <c:v>2025-08-29</c:v>
                </c:pt>
                <c:pt idx="33">
                  <c:v>2025-09-05</c:v>
                </c:pt>
                <c:pt idx="34">
                  <c:v>2025-09-12</c:v>
                </c:pt>
                <c:pt idx="35">
                  <c:v>2025-09-19</c:v>
                </c:pt>
                <c:pt idx="36">
                  <c:v>2025-09-26</c:v>
                </c:pt>
                <c:pt idx="37">
                  <c:v>2025-10-13</c:v>
                </c:pt>
                <c:pt idx="38">
                  <c:v>2025-10-20</c:v>
                </c:pt>
                <c:pt idx="39">
                  <c:v>2025-10-27</c:v>
                </c:pt>
                <c:pt idx="40">
                  <c:v>2025-11-03</c:v>
                </c:pt>
                <c:pt idx="41">
                  <c:v>2025-11-10</c:v>
                </c:pt>
                <c:pt idx="42">
                  <c:v>2025-11-17</c:v>
                </c:pt>
                <c:pt idx="43">
                  <c:v>2025-11-24</c:v>
                </c:pt>
                <c:pt idx="44">
                  <c:v>2025-12-01</c:v>
                </c:pt>
                <c:pt idx="45">
                  <c:v>2025-12-08</c:v>
                </c:pt>
                <c:pt idx="46">
                  <c:v>2025-12-15</c:v>
                </c:pt>
                <c:pt idx="47">
                  <c:v>2025-12-22</c:v>
                </c:pt>
                <c:pt idx="48">
                  <c:v>2025-12-29</c:v>
                </c:pt>
                <c:pt idx="49">
                  <c:v>2026-01-07</c:v>
                </c:pt>
                <c:pt idx="50">
                  <c:v>2026-01-14</c:v>
                </c:pt>
                <c:pt idx="51">
                  <c:v>2026-01-21</c:v>
                </c:pt>
                <c:pt idx="52">
                  <c:v>2026-01-28</c:v>
                </c:pt>
                <c:pt idx="53">
                  <c:v>2026-02-04</c:v>
                </c:pt>
                <c:pt idx="54">
                  <c:v>2026-02-11</c:v>
                </c:pt>
                <c:pt idx="55">
                  <c:v>2026-02-26</c:v>
                </c:pt>
                <c:pt idx="56">
                  <c:v>2026-03-05</c:v>
                </c:pt>
                <c:pt idx="57">
                  <c:v>2026-03-12</c:v>
                </c:pt>
                <c:pt idx="58">
                  <c:v>2026-03-19</c:v>
                </c:pt>
                <c:pt idx="59">
                  <c:v>2026-03-26</c:v>
                </c:pt>
                <c:pt idx="60">
                  <c:v>2026-04-02</c:v>
                </c:pt>
                <c:pt idx="61">
                  <c:v>2026-04-10</c:v>
                </c:pt>
                <c:pt idx="62">
                  <c:v>2026-04-17</c:v>
                </c:pt>
                <c:pt idx="63">
                  <c:v>2026-04-24</c:v>
                </c:pt>
                <c:pt idx="64">
                  <c:v>2026-05-06</c:v>
                </c:pt>
                <c:pt idx="65">
                  <c:v>2026-05-13</c:v>
                </c:pt>
                <c:pt idx="66">
                  <c:v>2026-05-20</c:v>
                </c:pt>
                <c:pt idx="67">
                  <c:v>2026-05-27</c:v>
                </c:pt>
                <c:pt idx="68">
                  <c:v>2026-06-03</c:v>
                </c:pt>
                <c:pt idx="69">
                  <c:v>2026-06-10</c:v>
                </c:pt>
                <c:pt idx="70">
                  <c:v>2026-06-17</c:v>
                </c:pt>
                <c:pt idx="71">
                  <c:v>2026-06-25</c:v>
                </c:pt>
                <c:pt idx="72">
                  <c:v>2026-07-02</c:v>
                </c:pt>
                <c:pt idx="73">
                  <c:v>2026-07-09</c:v>
                </c:pt>
                <c:pt idx="74">
                  <c:v>2026-07-16</c:v>
                </c:pt>
                <c:pt idx="75">
                  <c:v>2026-07-23</c:v>
                </c:pt>
                <c:pt idx="76">
                  <c:v>2026-07-30</c:v>
                </c:pt>
                <c:pt idx="77">
                  <c:v>2026-08-06</c:v>
                </c:pt>
                <c:pt idx="78">
                  <c:v>2026-08-13</c:v>
                </c:pt>
                <c:pt idx="79">
                  <c:v>2026-08-20</c:v>
                </c:pt>
                <c:pt idx="80">
                  <c:v>2026-08-27</c:v>
                </c:pt>
                <c:pt idx="81">
                  <c:v>2026-09-03</c:v>
                </c:pt>
                <c:pt idx="82">
                  <c:v>2026-09-10</c:v>
                </c:pt>
                <c:pt idx="83">
                  <c:v>2026-09-17</c:v>
                </c:pt>
                <c:pt idx="84">
                  <c:v>2026-09-18</c:v>
                </c:pt>
              </c:strCache>
            </c:strRef>
          </c:cat>
          <c:val>
            <c:numRef>
              <c:f>'Chart Data'!$B$2:$B$86</c:f>
              <c:numCache>
                <c:formatCode>0.0000</c:formatCode>
                <c:ptCount val="85"/>
                <c:pt idx="0">
                  <c:v>0.98532674</c:v>
                </c:pt>
                <c:pt idx="1">
                  <c:v>0.97330441</c:v>
                </c:pt>
                <c:pt idx="2">
                  <c:v>0.98020265</c:v>
                </c:pt>
                <c:pt idx="3">
                  <c:v>0.97518409</c:v>
                </c:pt>
                <c:pt idx="4">
                  <c:v>0.99276481</c:v>
                </c:pt>
                <c:pt idx="5">
                  <c:v>0.99760328</c:v>
                </c:pt>
                <c:pt idx="6">
                  <c:v>0.99981594</c:v>
                </c:pt>
                <c:pt idx="7">
                  <c:v>0.99803008</c:v>
                </c:pt>
                <c:pt idx="8">
                  <c:v>1.00723001</c:v>
                </c:pt>
                <c:pt idx="9">
                  <c:v>1.02334943</c:v>
                </c:pt>
                <c:pt idx="10">
                  <c:v>1.02720781</c:v>
                </c:pt>
                <c:pt idx="11">
                  <c:v>1.02205694</c:v>
                </c:pt>
                <c:pt idx="12">
                  <c:v>0.98596316</c:v>
                </c:pt>
                <c:pt idx="13">
                  <c:v>1.01091845</c:v>
                </c:pt>
                <c:pt idx="14">
                  <c:v>1.02534758</c:v>
                </c:pt>
                <c:pt idx="15">
                  <c:v>1.03425685</c:v>
                </c:pt>
                <c:pt idx="16">
                  <c:v>1.0444768</c:v>
                </c:pt>
                <c:pt idx="17">
                  <c:v>1.05209353</c:v>
                </c:pt>
                <c:pt idx="18">
                  <c:v>1.05338034</c:v>
                </c:pt>
                <c:pt idx="19">
                  <c:v>1.05438228</c:v>
                </c:pt>
                <c:pt idx="20">
                  <c:v>1.06588753</c:v>
                </c:pt>
                <c:pt idx="21">
                  <c:v>1.06355673</c:v>
                </c:pt>
                <c:pt idx="22">
                  <c:v>1.06579566</c:v>
                </c:pt>
                <c:pt idx="23">
                  <c:v>1.08574781</c:v>
                </c:pt>
                <c:pt idx="24">
                  <c:v>1.10535267</c:v>
                </c:pt>
                <c:pt idx="25">
                  <c:v>1.12126503</c:v>
                </c:pt>
                <c:pt idx="26">
                  <c:v>1.12841937</c:v>
                </c:pt>
                <c:pt idx="27">
                  <c:v>1.15972658</c:v>
                </c:pt>
                <c:pt idx="28">
                  <c:v>1.14433346</c:v>
                </c:pt>
                <c:pt idx="29">
                  <c:v>1.16691964</c:v>
                </c:pt>
                <c:pt idx="30">
                  <c:v>1.16083549</c:v>
                </c:pt>
                <c:pt idx="31">
                  <c:v>1.18925012</c:v>
                </c:pt>
                <c:pt idx="32">
                  <c:v>1.17245847</c:v>
                </c:pt>
                <c:pt idx="33">
                  <c:v>1.1693518</c:v>
                </c:pt>
                <c:pt idx="34">
                  <c:v>1.18737855</c:v>
                </c:pt>
                <c:pt idx="35">
                  <c:v>1.16619626</c:v>
                </c:pt>
                <c:pt idx="36">
                  <c:v>1.16489491</c:v>
                </c:pt>
                <c:pt idx="37">
                  <c:v>1.17897701</c:v>
                </c:pt>
                <c:pt idx="38">
                  <c:v>1.20708726</c:v>
                </c:pt>
                <c:pt idx="39">
                  <c:v>1.22334408</c:v>
                </c:pt>
                <c:pt idx="40">
                  <c:v>1.2333428</c:v>
                </c:pt>
                <c:pt idx="41">
                  <c:v>1.26041902</c:v>
                </c:pt>
                <c:pt idx="42">
                  <c:v>1.26405703</c:v>
                </c:pt>
                <c:pt idx="43">
                  <c:v>1.21438449</c:v>
                </c:pt>
                <c:pt idx="44">
                  <c:v>1.24041381</c:v>
                </c:pt>
                <c:pt idx="45">
                  <c:v>1.24074335</c:v>
                </c:pt>
                <c:pt idx="46">
                  <c:v>1.21705076</c:v>
                </c:pt>
                <c:pt idx="47">
                  <c:v>1.22757456</c:v>
                </c:pt>
                <c:pt idx="48">
                  <c:v>1.2244653</c:v>
                </c:pt>
                <c:pt idx="49">
                  <c:v>1.22968865</c:v>
                </c:pt>
                <c:pt idx="50">
                  <c:v>1.24159761</c:v>
                </c:pt>
                <c:pt idx="51">
                  <c:v>1.24503474</c:v>
                </c:pt>
                <c:pt idx="52">
                  <c:v>1.2571575</c:v>
                </c:pt>
                <c:pt idx="53">
                  <c:v>1.26802637</c:v>
                </c:pt>
                <c:pt idx="54">
                  <c:v>1.28217049</c:v>
                </c:pt>
                <c:pt idx="55">
                  <c:v>1.26966761</c:v>
                </c:pt>
                <c:pt idx="56">
                  <c:v>1.25231195</c:v>
                </c:pt>
                <c:pt idx="57">
                  <c:v>1.2696152</c:v>
                </c:pt>
                <c:pt idx="58">
                  <c:v>1.26069954</c:v>
                </c:pt>
                <c:pt idx="59">
                  <c:v>1.23828234</c:v>
                </c:pt>
                <c:pt idx="60">
                  <c:v>1.24931063</c:v>
                </c:pt>
                <c:pt idx="61">
                  <c:v>1.25070414</c:v>
                </c:pt>
                <c:pt idx="62">
                  <c:v>1.25739419</c:v>
                </c:pt>
                <c:pt idx="63">
                  <c:v>1.2590223</c:v>
                </c:pt>
                <c:pt idx="64">
                  <c:v>1.26694234</c:v>
                </c:pt>
                <c:pt idx="65">
                  <c:v>1.26441397</c:v>
                </c:pt>
                <c:pt idx="66">
                  <c:v>1.24518334</c:v>
                </c:pt>
                <c:pt idx="67">
                  <c:v>1.22432968</c:v>
                </c:pt>
                <c:pt idx="68">
                  <c:v>1.21932435</c:v>
                </c:pt>
                <c:pt idx="69">
                  <c:v>1.21187945</c:v>
                </c:pt>
                <c:pt idx="70">
                  <c:v>1.20110079</c:v>
                </c:pt>
                <c:pt idx="71">
                  <c:v>1.18119338</c:v>
                </c:pt>
                <c:pt idx="72">
                  <c:v>1.17903766</c:v>
                </c:pt>
                <c:pt idx="73">
                  <c:v>1.18014287</c:v>
                </c:pt>
                <c:pt idx="74">
                  <c:v>1.22139191</c:v>
                </c:pt>
                <c:pt idx="75">
                  <c:v>1.21007367</c:v>
                </c:pt>
                <c:pt idx="76">
                  <c:v>1.24360844</c:v>
                </c:pt>
                <c:pt idx="77">
                  <c:v>1.23540885</c:v>
                </c:pt>
                <c:pt idx="78">
                  <c:v>1.23405915</c:v>
                </c:pt>
                <c:pt idx="79">
                  <c:v>1.24181998</c:v>
                </c:pt>
                <c:pt idx="80">
                  <c:v>1.25057951</c:v>
                </c:pt>
                <c:pt idx="81">
                  <c:v>1.26622042</c:v>
                </c:pt>
                <c:pt idx="82">
                  <c:v>1.27395301</c:v>
                </c:pt>
                <c:pt idx="83">
                  <c:v>1.24875977</c:v>
                </c:pt>
                <c:pt idx="84">
                  <c:v>1.25128794</c:v>
                </c:pt>
              </c:numCache>
            </c:numRef>
          </c:val>
          <c:smooth val="0"/>
        </c:ser>
        <c:ser>
          <c:idx val="1"/>
          <c:order val="1"/>
          <c:tx>
            <c:v>沪深300 · 价格指数</c:v>
          </c:tx>
          <c:spPr>
            <a:solidFill xmlns:a="http://schemas.openxmlformats.org/drawingml/2006/main">
              <a:srgbClr val="4265A6"/>
            </a:solidFill>
            <a:ln xmlns:a="http://schemas.openxmlformats.org/drawingml/2006/main" w="21908">
              <a:solidFill>
                <a:srgbClr val="4265A6"/>
              </a:solidFill>
            </a:ln>
          </c:spPr>
          <c:marker>
            <c:symbol val="none"/>
          </c:marker>
          <c:cat>
            <c:strRef>
              <c:f>'Chart Data'!$C$2:$C$86</c:f>
              <c:strCache>
                <c:ptCount val="85"/>
                <c:pt idx="0">
                  <c:v>2025-01-02</c:v>
                </c:pt>
                <c:pt idx="1">
                  <c:v>2025-01-09</c:v>
                </c:pt>
                <c:pt idx="2">
                  <c:v>2025-01-16</c:v>
                </c:pt>
                <c:pt idx="3">
                  <c:v>2025-01-23</c:v>
                </c:pt>
                <c:pt idx="4">
                  <c:v>2025-02-07</c:v>
                </c:pt>
                <c:pt idx="5">
                  <c:v>2025-02-14</c:v>
                </c:pt>
                <c:pt idx="6">
                  <c:v>2025-02-21</c:v>
                </c:pt>
                <c:pt idx="7">
                  <c:v>2025-02-28</c:v>
                </c:pt>
                <c:pt idx="8">
                  <c:v>2025-03-07</c:v>
                </c:pt>
                <c:pt idx="9">
                  <c:v>2025-03-14</c:v>
                </c:pt>
                <c:pt idx="10">
                  <c:v>2025-03-21</c:v>
                </c:pt>
                <c:pt idx="11">
                  <c:v>2025-03-28</c:v>
                </c:pt>
                <c:pt idx="12">
                  <c:v>2025-04-07</c:v>
                </c:pt>
                <c:pt idx="13">
                  <c:v>2025-04-14</c:v>
                </c:pt>
                <c:pt idx="14">
                  <c:v>2025-04-21</c:v>
                </c:pt>
                <c:pt idx="15">
                  <c:v>2025-04-28</c:v>
                </c:pt>
                <c:pt idx="16">
                  <c:v>2025-05-08</c:v>
                </c:pt>
                <c:pt idx="17">
                  <c:v>2025-05-15</c:v>
                </c:pt>
                <c:pt idx="18">
                  <c:v>2025-05-22</c:v>
                </c:pt>
                <c:pt idx="19">
                  <c:v>2025-05-29</c:v>
                </c:pt>
                <c:pt idx="20">
                  <c:v>2025-06-06</c:v>
                </c:pt>
                <c:pt idx="21">
                  <c:v>2025-06-13</c:v>
                </c:pt>
                <c:pt idx="22">
                  <c:v>2025-06-20</c:v>
                </c:pt>
                <c:pt idx="23">
                  <c:v>2025-06-27</c:v>
                </c:pt>
                <c:pt idx="24">
                  <c:v>2025-07-04</c:v>
                </c:pt>
                <c:pt idx="25">
                  <c:v>2025-07-11</c:v>
                </c:pt>
                <c:pt idx="26">
                  <c:v>2025-07-18</c:v>
                </c:pt>
                <c:pt idx="27">
                  <c:v>2025-07-25</c:v>
                </c:pt>
                <c:pt idx="28">
                  <c:v>2025-08-01</c:v>
                </c:pt>
                <c:pt idx="29">
                  <c:v>2025-08-08</c:v>
                </c:pt>
                <c:pt idx="30">
                  <c:v>2025-08-15</c:v>
                </c:pt>
                <c:pt idx="31">
                  <c:v>2025-08-22</c:v>
                </c:pt>
                <c:pt idx="32">
                  <c:v>2025-08-29</c:v>
                </c:pt>
                <c:pt idx="33">
                  <c:v>2025-09-05</c:v>
                </c:pt>
                <c:pt idx="34">
                  <c:v>2025-09-12</c:v>
                </c:pt>
                <c:pt idx="35">
                  <c:v>2025-09-19</c:v>
                </c:pt>
                <c:pt idx="36">
                  <c:v>2025-09-26</c:v>
                </c:pt>
                <c:pt idx="37">
                  <c:v>2025-10-13</c:v>
                </c:pt>
                <c:pt idx="38">
                  <c:v>2025-10-20</c:v>
                </c:pt>
                <c:pt idx="39">
                  <c:v>2025-10-27</c:v>
                </c:pt>
                <c:pt idx="40">
                  <c:v>2025-11-03</c:v>
                </c:pt>
                <c:pt idx="41">
                  <c:v>2025-11-10</c:v>
                </c:pt>
                <c:pt idx="42">
                  <c:v>2025-11-17</c:v>
                </c:pt>
                <c:pt idx="43">
                  <c:v>2025-11-24</c:v>
                </c:pt>
                <c:pt idx="44">
                  <c:v>2025-12-01</c:v>
                </c:pt>
                <c:pt idx="45">
                  <c:v>2025-12-08</c:v>
                </c:pt>
                <c:pt idx="46">
                  <c:v>2025-12-15</c:v>
                </c:pt>
                <c:pt idx="47">
                  <c:v>2025-12-22</c:v>
                </c:pt>
                <c:pt idx="48">
                  <c:v>2025-12-29</c:v>
                </c:pt>
                <c:pt idx="49">
                  <c:v>2026-01-07</c:v>
                </c:pt>
                <c:pt idx="50">
                  <c:v>2026-01-14</c:v>
                </c:pt>
                <c:pt idx="51">
                  <c:v>2026-01-21</c:v>
                </c:pt>
                <c:pt idx="52">
                  <c:v>2026-01-28</c:v>
                </c:pt>
                <c:pt idx="53">
                  <c:v>2026-02-04</c:v>
                </c:pt>
                <c:pt idx="54">
                  <c:v>2026-02-11</c:v>
                </c:pt>
                <c:pt idx="55">
                  <c:v>2026-02-26</c:v>
                </c:pt>
                <c:pt idx="56">
                  <c:v>2026-03-05</c:v>
                </c:pt>
                <c:pt idx="57">
                  <c:v>2026-03-12</c:v>
                </c:pt>
                <c:pt idx="58">
                  <c:v>2026-03-19</c:v>
                </c:pt>
                <c:pt idx="59">
                  <c:v>2026-03-26</c:v>
                </c:pt>
                <c:pt idx="60">
                  <c:v>2026-04-02</c:v>
                </c:pt>
                <c:pt idx="61">
                  <c:v>2026-04-10</c:v>
                </c:pt>
                <c:pt idx="62">
                  <c:v>2026-04-17</c:v>
                </c:pt>
                <c:pt idx="63">
                  <c:v>2026-04-24</c:v>
                </c:pt>
                <c:pt idx="64">
                  <c:v>2026-05-06</c:v>
                </c:pt>
                <c:pt idx="65">
                  <c:v>2026-05-13</c:v>
                </c:pt>
                <c:pt idx="66">
                  <c:v>2026-05-20</c:v>
                </c:pt>
                <c:pt idx="67">
                  <c:v>2026-05-27</c:v>
                </c:pt>
                <c:pt idx="68">
                  <c:v>2026-06-03</c:v>
                </c:pt>
                <c:pt idx="69">
                  <c:v>2026-06-10</c:v>
                </c:pt>
                <c:pt idx="70">
                  <c:v>2026-06-17</c:v>
                </c:pt>
                <c:pt idx="71">
                  <c:v>2026-06-25</c:v>
                </c:pt>
                <c:pt idx="72">
                  <c:v>2026-07-02</c:v>
                </c:pt>
                <c:pt idx="73">
                  <c:v>2026-07-09</c:v>
                </c:pt>
                <c:pt idx="74">
                  <c:v>2026-07-16</c:v>
                </c:pt>
                <c:pt idx="75">
                  <c:v>2026-07-23</c:v>
                </c:pt>
                <c:pt idx="76">
                  <c:v>2026-07-30</c:v>
                </c:pt>
                <c:pt idx="77">
                  <c:v>2026-08-06</c:v>
                </c:pt>
                <c:pt idx="78">
                  <c:v>2026-08-13</c:v>
                </c:pt>
                <c:pt idx="79">
                  <c:v>2026-08-20</c:v>
                </c:pt>
                <c:pt idx="80">
                  <c:v>2026-08-27</c:v>
                </c:pt>
                <c:pt idx="81">
                  <c:v>2026-09-03</c:v>
                </c:pt>
                <c:pt idx="82">
                  <c:v>2026-09-10</c:v>
                </c:pt>
                <c:pt idx="83">
                  <c:v>2026-09-17</c:v>
                </c:pt>
                <c:pt idx="84">
                  <c:v>2026-09-18</c:v>
                </c:pt>
              </c:strCache>
            </c:strRef>
          </c:cat>
          <c:val>
            <c:numRef>
              <c:f>'Chart Data'!$D$2:$D$86</c:f>
              <c:numCache>
                <c:formatCode>0.0000</c:formatCode>
                <c:ptCount val="85"/>
                <c:pt idx="0">
                  <c:v>0.97089751</c:v>
                </c:pt>
                <c:pt idx="1">
                  <c:v>0.96060048</c:v>
                </c:pt>
                <c:pt idx="2">
                  <c:v>0.96581186</c:v>
                </c:pt>
                <c:pt idx="3">
                  <c:v>0.96666583</c:v>
                </c:pt>
                <c:pt idx="4">
                  <c:v>0.98927343</c:v>
                </c:pt>
                <c:pt idx="5">
                  <c:v>1.00104135</c:v>
                </c:pt>
                <c:pt idx="6">
                  <c:v>1.0110633</c:v>
                </c:pt>
                <c:pt idx="7">
                  <c:v>0.98859893</c:v>
                </c:pt>
                <c:pt idx="8">
                  <c:v>1.0023135</c:v>
                </c:pt>
                <c:pt idx="9">
                  <c:v>1.01820773</c:v>
                </c:pt>
                <c:pt idx="10">
                  <c:v>0.99486258</c:v>
                </c:pt>
                <c:pt idx="11">
                  <c:v>0.99498217</c:v>
                </c:pt>
                <c:pt idx="12">
                  <c:v>0.91220378</c:v>
                </c:pt>
                <c:pt idx="13">
                  <c:v>0.95533096</c:v>
                </c:pt>
                <c:pt idx="14">
                  <c:v>0.961872</c:v>
                </c:pt>
                <c:pt idx="15">
                  <c:v>0.96104306</c:v>
                </c:pt>
                <c:pt idx="16">
                  <c:v>0.97915719</c:v>
                </c:pt>
                <c:pt idx="17">
                  <c:v>0.99295748</c:v>
                </c:pt>
                <c:pt idx="18">
                  <c:v>0.99465152</c:v>
                </c:pt>
                <c:pt idx="19">
                  <c:v>0.98063206</c:v>
                </c:pt>
                <c:pt idx="20">
                  <c:v>0.98451635</c:v>
                </c:pt>
                <c:pt idx="21">
                  <c:v>0.98202534</c:v>
                </c:pt>
                <c:pt idx="22">
                  <c:v>0.97756834</c:v>
                </c:pt>
                <c:pt idx="23">
                  <c:v>0.99665733</c:v>
                </c:pt>
                <c:pt idx="24">
                  <c:v>1.0120187</c:v>
                </c:pt>
                <c:pt idx="25">
                  <c:v>1.02030442</c:v>
                </c:pt>
                <c:pt idx="26">
                  <c:v>1.03142071</c:v>
                </c:pt>
                <c:pt idx="27">
                  <c:v>1.04885816</c:v>
                </c:pt>
                <c:pt idx="28">
                  <c:v>1.03050074</c:v>
                </c:pt>
                <c:pt idx="29">
                  <c:v>1.04321724</c:v>
                </c:pt>
                <c:pt idx="30">
                  <c:v>1.06796657</c:v>
                </c:pt>
                <c:pt idx="31">
                  <c:v>1.11260402</c:v>
                </c:pt>
                <c:pt idx="32">
                  <c:v>1.14278549</c:v>
                </c:pt>
                <c:pt idx="33">
                  <c:v>1.13352628</c:v>
                </c:pt>
                <c:pt idx="34">
                  <c:v>1.14919959</c:v>
                </c:pt>
                <c:pt idx="35">
                  <c:v>1.14409693</c:v>
                </c:pt>
                <c:pt idx="36">
                  <c:v>1.15632827</c:v>
                </c:pt>
                <c:pt idx="37">
                  <c:v>1.16749238</c:v>
                </c:pt>
                <c:pt idx="38">
                  <c:v>1.1533222</c:v>
                </c:pt>
                <c:pt idx="39">
                  <c:v>1.19850709</c:v>
                </c:pt>
                <c:pt idx="40">
                  <c:v>1.1825942</c:v>
                </c:pt>
                <c:pt idx="41">
                  <c:v>1.1931784</c:v>
                </c:pt>
                <c:pt idx="42">
                  <c:v>1.16852773</c:v>
                </c:pt>
                <c:pt idx="43">
                  <c:v>1.13040623</c:v>
                </c:pt>
                <c:pt idx="44">
                  <c:v>1.16304682</c:v>
                </c:pt>
                <c:pt idx="45">
                  <c:v>1.17455125</c:v>
                </c:pt>
                <c:pt idx="46">
                  <c:v>1.15683931</c:v>
                </c:pt>
                <c:pt idx="47">
                  <c:v>1.1719766</c:v>
                </c:pt>
                <c:pt idx="48">
                  <c:v>1.1790285</c:v>
                </c:pt>
                <c:pt idx="49">
                  <c:v>1.21391968</c:v>
                </c:pt>
                <c:pt idx="50">
                  <c:v>1.20509224</c:v>
                </c:pt>
                <c:pt idx="51">
                  <c:v>1.20029889</c:v>
                </c:pt>
                <c:pt idx="52">
                  <c:v>1.19900845</c:v>
                </c:pt>
                <c:pt idx="53">
                  <c:v>1.19410155</c:v>
                </c:pt>
                <c:pt idx="54">
                  <c:v>1.19794796</c:v>
                </c:pt>
                <c:pt idx="55">
                  <c:v>1.2012658</c:v>
                </c:pt>
                <c:pt idx="56">
                  <c:v>1.18114291</c:v>
                </c:pt>
                <c:pt idx="57">
                  <c:v>1.19127478</c:v>
                </c:pt>
                <c:pt idx="58">
                  <c:v>1.16476617</c:v>
                </c:pt>
                <c:pt idx="59">
                  <c:v>1.13789979</c:v>
                </c:pt>
                <c:pt idx="60">
                  <c:v>1.13825045</c:v>
                </c:pt>
                <c:pt idx="61">
                  <c:v>1.17831524</c:v>
                </c:pt>
                <c:pt idx="62">
                  <c:v>1.20172266</c:v>
                </c:pt>
                <c:pt idx="63">
                  <c:v>1.21206526</c:v>
                </c:pt>
                <c:pt idx="64">
                  <c:v>1.23944184</c:v>
                </c:pt>
                <c:pt idx="65">
                  <c:v>1.27025537</c:v>
                </c:pt>
                <c:pt idx="66">
                  <c:v>1.23273439</c:v>
                </c:pt>
                <c:pt idx="67">
                  <c:v>1.24733991</c:v>
                </c:pt>
                <c:pt idx="68">
                  <c:v>1.25512603</c:v>
                </c:pt>
                <c:pt idx="69">
                  <c:v>1.20678544</c:v>
                </c:pt>
                <c:pt idx="70">
                  <c:v>1.25323958</c:v>
                </c:pt>
                <c:pt idx="71">
                  <c:v>1.27578589</c:v>
                </c:pt>
                <c:pt idx="72">
                  <c:v>1.2229745</c:v>
                </c:pt>
                <c:pt idx="73">
                  <c:v>1.23924343</c:v>
                </c:pt>
                <c:pt idx="74">
                  <c:v>1.19403832</c:v>
                </c:pt>
                <c:pt idx="75">
                  <c:v>1.20155244</c:v>
                </c:pt>
                <c:pt idx="76">
                  <c:v>1.15624476</c:v>
                </c:pt>
                <c:pt idx="77">
                  <c:v>1.18206229</c:v>
                </c:pt>
                <c:pt idx="78">
                  <c:v>1.18527494</c:v>
                </c:pt>
                <c:pt idx="79">
                  <c:v>1.16718028</c:v>
                </c:pt>
                <c:pt idx="80">
                  <c:v>1.17671711</c:v>
                </c:pt>
                <c:pt idx="81">
                  <c:v>1.15697115</c:v>
                </c:pt>
                <c:pt idx="82">
                  <c:v>1.15590668</c:v>
                </c:pt>
                <c:pt idx="83">
                  <c:v>1.13348328</c:v>
                </c:pt>
                <c:pt idx="84">
                  <c:v>1.14548784</c:v>
                </c:pt>
              </c:numCache>
            </c:numRef>
          </c:val>
          <c:smooth val="0"/>
        </c:ser>
        <c:ser>
          <c:idx val="2"/>
          <c:order val="2"/>
          <c:tx>
            <c:v>沪深300 · 全收益指数</c:v>
          </c:tx>
          <c:spPr>
            <a:solidFill xmlns:a="http://schemas.openxmlformats.org/drawingml/2006/main">
              <a:srgbClr val="8C99A6"/>
            </a:solidFill>
            <a:ln xmlns:a="http://schemas.openxmlformats.org/drawingml/2006/main" w="21908">
              <a:solidFill>
                <a:srgbClr val="8C99A6"/>
              </a:solidFill>
            </a:ln>
          </c:spPr>
          <c:marker>
            <c:symbol val="none"/>
          </c:marker>
          <c:cat>
            <c:strRef>
              <c:f>'Chart Data'!$E$2:$E$86</c:f>
              <c:strCache>
                <c:ptCount val="85"/>
                <c:pt idx="0">
                  <c:v>2025-01-02</c:v>
                </c:pt>
                <c:pt idx="1">
                  <c:v>2025-01-09</c:v>
                </c:pt>
                <c:pt idx="2">
                  <c:v>2025-01-16</c:v>
                </c:pt>
                <c:pt idx="3">
                  <c:v>2025-01-23</c:v>
                </c:pt>
                <c:pt idx="4">
                  <c:v>2025-02-07</c:v>
                </c:pt>
                <c:pt idx="5">
                  <c:v>2025-02-14</c:v>
                </c:pt>
                <c:pt idx="6">
                  <c:v>2025-02-21</c:v>
                </c:pt>
                <c:pt idx="7">
                  <c:v>2025-02-28</c:v>
                </c:pt>
                <c:pt idx="8">
                  <c:v>2025-03-07</c:v>
                </c:pt>
                <c:pt idx="9">
                  <c:v>2025-03-14</c:v>
                </c:pt>
                <c:pt idx="10">
                  <c:v>2025-03-21</c:v>
                </c:pt>
                <c:pt idx="11">
                  <c:v>2025-03-28</c:v>
                </c:pt>
                <c:pt idx="12">
                  <c:v>2025-04-07</c:v>
                </c:pt>
                <c:pt idx="13">
                  <c:v>2025-04-14</c:v>
                </c:pt>
                <c:pt idx="14">
                  <c:v>2025-04-21</c:v>
                </c:pt>
                <c:pt idx="15">
                  <c:v>2025-04-28</c:v>
                </c:pt>
                <c:pt idx="16">
                  <c:v>2025-05-08</c:v>
                </c:pt>
                <c:pt idx="17">
                  <c:v>2025-05-15</c:v>
                </c:pt>
                <c:pt idx="18">
                  <c:v>2025-05-22</c:v>
                </c:pt>
                <c:pt idx="19">
                  <c:v>2025-05-29</c:v>
                </c:pt>
                <c:pt idx="20">
                  <c:v>2025-06-06</c:v>
                </c:pt>
                <c:pt idx="21">
                  <c:v>2025-06-13</c:v>
                </c:pt>
                <c:pt idx="22">
                  <c:v>2025-06-20</c:v>
                </c:pt>
                <c:pt idx="23">
                  <c:v>2025-06-27</c:v>
                </c:pt>
                <c:pt idx="24">
                  <c:v>2025-07-04</c:v>
                </c:pt>
                <c:pt idx="25">
                  <c:v>2025-07-11</c:v>
                </c:pt>
                <c:pt idx="26">
                  <c:v>2025-07-18</c:v>
                </c:pt>
                <c:pt idx="27">
                  <c:v>2025-07-25</c:v>
                </c:pt>
                <c:pt idx="28">
                  <c:v>2025-08-01</c:v>
                </c:pt>
                <c:pt idx="29">
                  <c:v>2025-08-08</c:v>
                </c:pt>
                <c:pt idx="30">
                  <c:v>2025-08-15</c:v>
                </c:pt>
                <c:pt idx="31">
                  <c:v>2025-08-22</c:v>
                </c:pt>
                <c:pt idx="32">
                  <c:v>2025-08-29</c:v>
                </c:pt>
                <c:pt idx="33">
                  <c:v>2025-09-05</c:v>
                </c:pt>
                <c:pt idx="34">
                  <c:v>2025-09-12</c:v>
                </c:pt>
                <c:pt idx="35">
                  <c:v>2025-09-19</c:v>
                </c:pt>
                <c:pt idx="36">
                  <c:v>2025-09-26</c:v>
                </c:pt>
                <c:pt idx="37">
                  <c:v>2025-10-13</c:v>
                </c:pt>
                <c:pt idx="38">
                  <c:v>2025-10-20</c:v>
                </c:pt>
                <c:pt idx="39">
                  <c:v>2025-10-27</c:v>
                </c:pt>
                <c:pt idx="40">
                  <c:v>2025-11-03</c:v>
                </c:pt>
                <c:pt idx="41">
                  <c:v>2025-11-10</c:v>
                </c:pt>
                <c:pt idx="42">
                  <c:v>2025-11-17</c:v>
                </c:pt>
                <c:pt idx="43">
                  <c:v>2025-11-24</c:v>
                </c:pt>
                <c:pt idx="44">
                  <c:v>2025-12-01</c:v>
                </c:pt>
                <c:pt idx="45">
                  <c:v>2025-12-08</c:v>
                </c:pt>
                <c:pt idx="46">
                  <c:v>2025-12-15</c:v>
                </c:pt>
                <c:pt idx="47">
                  <c:v>2025-12-22</c:v>
                </c:pt>
                <c:pt idx="48">
                  <c:v>2025-12-29</c:v>
                </c:pt>
                <c:pt idx="49">
                  <c:v>2026-01-07</c:v>
                </c:pt>
                <c:pt idx="50">
                  <c:v>2026-01-14</c:v>
                </c:pt>
                <c:pt idx="51">
                  <c:v>2026-01-21</c:v>
                </c:pt>
                <c:pt idx="52">
                  <c:v>2026-01-28</c:v>
                </c:pt>
                <c:pt idx="53">
                  <c:v>2026-02-04</c:v>
                </c:pt>
                <c:pt idx="54">
                  <c:v>2026-02-11</c:v>
                </c:pt>
                <c:pt idx="55">
                  <c:v>2026-02-26</c:v>
                </c:pt>
                <c:pt idx="56">
                  <c:v>2026-03-05</c:v>
                </c:pt>
                <c:pt idx="57">
                  <c:v>2026-03-12</c:v>
                </c:pt>
                <c:pt idx="58">
                  <c:v>2026-03-19</c:v>
                </c:pt>
                <c:pt idx="59">
                  <c:v>2026-03-26</c:v>
                </c:pt>
                <c:pt idx="60">
                  <c:v>2026-04-02</c:v>
                </c:pt>
                <c:pt idx="61">
                  <c:v>2026-04-10</c:v>
                </c:pt>
                <c:pt idx="62">
                  <c:v>2026-04-17</c:v>
                </c:pt>
                <c:pt idx="63">
                  <c:v>2026-04-24</c:v>
                </c:pt>
                <c:pt idx="64">
                  <c:v>2026-05-06</c:v>
                </c:pt>
                <c:pt idx="65">
                  <c:v>2026-05-13</c:v>
                </c:pt>
                <c:pt idx="66">
                  <c:v>2026-05-20</c:v>
                </c:pt>
                <c:pt idx="67">
                  <c:v>2026-05-27</c:v>
                </c:pt>
                <c:pt idx="68">
                  <c:v>2026-06-03</c:v>
                </c:pt>
                <c:pt idx="69">
                  <c:v>2026-06-10</c:v>
                </c:pt>
                <c:pt idx="70">
                  <c:v>2026-06-17</c:v>
                </c:pt>
                <c:pt idx="71">
                  <c:v>2026-06-25</c:v>
                </c:pt>
                <c:pt idx="72">
                  <c:v>2026-07-02</c:v>
                </c:pt>
                <c:pt idx="73">
                  <c:v>2026-07-09</c:v>
                </c:pt>
                <c:pt idx="74">
                  <c:v>2026-07-16</c:v>
                </c:pt>
                <c:pt idx="75">
                  <c:v>2026-07-23</c:v>
                </c:pt>
                <c:pt idx="76">
                  <c:v>2026-07-30</c:v>
                </c:pt>
                <c:pt idx="77">
                  <c:v>2026-08-06</c:v>
                </c:pt>
                <c:pt idx="78">
                  <c:v>2026-08-13</c:v>
                </c:pt>
                <c:pt idx="79">
                  <c:v>2026-08-20</c:v>
                </c:pt>
                <c:pt idx="80">
                  <c:v>2026-08-27</c:v>
                </c:pt>
                <c:pt idx="81">
                  <c:v>2026-09-03</c:v>
                </c:pt>
                <c:pt idx="82">
                  <c:v>2026-09-10</c:v>
                </c:pt>
                <c:pt idx="83">
                  <c:v>2026-09-17</c:v>
                </c:pt>
                <c:pt idx="84">
                  <c:v>2026-09-18</c:v>
                </c:pt>
              </c:strCache>
            </c:strRef>
          </c:cat>
          <c:val>
            <c:numRef>
              <c:f>'Chart Data'!$F$2:$F$86</c:f>
              <c:numCache>
                <c:formatCode>0.0000</c:formatCode>
                <c:ptCount val="85"/>
                <c:pt idx="0">
                  <c:v>0.97089751</c:v>
                </c:pt>
                <c:pt idx="1">
                  <c:v>0.96111221</c:v>
                </c:pt>
                <c:pt idx="2">
                  <c:v>0.96662344</c:v>
                </c:pt>
                <c:pt idx="3">
                  <c:v>0.96813161</c:v>
                </c:pt>
                <c:pt idx="4">
                  <c:v>0.99146122</c:v>
                </c:pt>
                <c:pt idx="5">
                  <c:v>1.00325517</c:v>
                </c:pt>
                <c:pt idx="6">
                  <c:v>1.01329928</c:v>
                </c:pt>
                <c:pt idx="7">
                  <c:v>0.99078524</c:v>
                </c:pt>
                <c:pt idx="8">
                  <c:v>1.00453013</c:v>
                </c:pt>
                <c:pt idx="9">
                  <c:v>1.02045952</c:v>
                </c:pt>
                <c:pt idx="10">
                  <c:v>0.99706272</c:v>
                </c:pt>
                <c:pt idx="11">
                  <c:v>0.99721377</c:v>
                </c:pt>
                <c:pt idx="12">
                  <c:v>0.91433003</c:v>
                </c:pt>
                <c:pt idx="13">
                  <c:v>0.95755775</c:v>
                </c:pt>
                <c:pt idx="14">
                  <c:v>0.96451933</c:v>
                </c:pt>
                <c:pt idx="15">
                  <c:v>0.96439262</c:v>
                </c:pt>
                <c:pt idx="16">
                  <c:v>0.98279978</c:v>
                </c:pt>
                <c:pt idx="17">
                  <c:v>0.99732737</c:v>
                </c:pt>
                <c:pt idx="18">
                  <c:v>0.99952678</c:v>
                </c:pt>
                <c:pt idx="19">
                  <c:v>0.9857741</c:v>
                </c:pt>
                <c:pt idx="20">
                  <c:v>0.99059818</c:v>
                </c:pt>
                <c:pt idx="21">
                  <c:v>0.99015746</c:v>
                </c:pt>
                <c:pt idx="22">
                  <c:v>0.98707903</c:v>
                </c:pt>
                <c:pt idx="23">
                  <c:v>1.00908871</c:v>
                </c:pt>
                <c:pt idx="24">
                  <c:v>1.02582116</c:v>
                </c:pt>
                <c:pt idx="25">
                  <c:v>1.03680708</c:v>
                </c:pt>
                <c:pt idx="26">
                  <c:v>1.0510994</c:v>
                </c:pt>
                <c:pt idx="27">
                  <c:v>1.06973468</c:v>
                </c:pt>
                <c:pt idx="28">
                  <c:v>1.05167628</c:v>
                </c:pt>
                <c:pt idx="29">
                  <c:v>1.06507376</c:v>
                </c:pt>
                <c:pt idx="30">
                  <c:v>1.09064987</c:v>
                </c:pt>
                <c:pt idx="31">
                  <c:v>1.1367311</c:v>
                </c:pt>
                <c:pt idx="32">
                  <c:v>1.1681938</c:v>
                </c:pt>
                <c:pt idx="33">
                  <c:v>1.15905405</c:v>
                </c:pt>
                <c:pt idx="34">
                  <c:v>1.17525916</c:v>
                </c:pt>
                <c:pt idx="35">
                  <c:v>1.17046991</c:v>
                </c:pt>
                <c:pt idx="36">
                  <c:v>1.18330535</c:v>
                </c:pt>
                <c:pt idx="37">
                  <c:v>1.19517155</c:v>
                </c:pt>
                <c:pt idx="38">
                  <c:v>1.18150465</c:v>
                </c:pt>
                <c:pt idx="39">
                  <c:v>1.22886887</c:v>
                </c:pt>
                <c:pt idx="40">
                  <c:v>1.21284629</c:v>
                </c:pt>
                <c:pt idx="41">
                  <c:v>1.22395082</c:v>
                </c:pt>
                <c:pt idx="42">
                  <c:v>1.19876077</c:v>
                </c:pt>
                <c:pt idx="43">
                  <c:v>1.16011484</c:v>
                </c:pt>
                <c:pt idx="44">
                  <c:v>1.1936869</c:v>
                </c:pt>
                <c:pt idx="45">
                  <c:v>1.20549683</c:v>
                </c:pt>
                <c:pt idx="46">
                  <c:v>1.18803386</c:v>
                </c:pt>
                <c:pt idx="47">
                  <c:v>1.20478484</c:v>
                </c:pt>
                <c:pt idx="48">
                  <c:v>1.21230125</c:v>
                </c:pt>
                <c:pt idx="49">
                  <c:v>1.24818975</c:v>
                </c:pt>
                <c:pt idx="50">
                  <c:v>1.23950313</c:v>
                </c:pt>
                <c:pt idx="51">
                  <c:v>1.23526148</c:v>
                </c:pt>
                <c:pt idx="52">
                  <c:v>1.2342293</c:v>
                </c:pt>
                <c:pt idx="53">
                  <c:v>1.22926793</c:v>
                </c:pt>
                <c:pt idx="54">
                  <c:v>1.23398535</c:v>
                </c:pt>
                <c:pt idx="55">
                  <c:v>1.23756584</c:v>
                </c:pt>
                <c:pt idx="56">
                  <c:v>1.21683488</c:v>
                </c:pt>
                <c:pt idx="57">
                  <c:v>1.22727429</c:v>
                </c:pt>
                <c:pt idx="58">
                  <c:v>1.19996461</c:v>
                </c:pt>
                <c:pt idx="59">
                  <c:v>1.17228636</c:v>
                </c:pt>
                <c:pt idx="60">
                  <c:v>1.1726476</c:v>
                </c:pt>
                <c:pt idx="61">
                  <c:v>1.21399516</c:v>
                </c:pt>
                <c:pt idx="62">
                  <c:v>1.23822621</c:v>
                </c:pt>
                <c:pt idx="63">
                  <c:v>1.24985928</c:v>
                </c:pt>
                <c:pt idx="64">
                  <c:v>1.27833294</c:v>
                </c:pt>
                <c:pt idx="65">
                  <c:v>1.31081166</c:v>
                </c:pt>
                <c:pt idx="66">
                  <c:v>1.27253597</c:v>
                </c:pt>
                <c:pt idx="67">
                  <c:v>1.28824893</c:v>
                </c:pt>
                <c:pt idx="68">
                  <c:v>1.29682414</c:v>
                </c:pt>
                <c:pt idx="69">
                  <c:v>1.2488812</c:v>
                </c:pt>
                <c:pt idx="70">
                  <c:v>1.29826054</c:v>
                </c:pt>
                <c:pt idx="71">
                  <c:v>1.32199537</c:v>
                </c:pt>
                <c:pt idx="72">
                  <c:v>1.2703118</c:v>
                </c:pt>
                <c:pt idx="73">
                  <c:v>1.287772</c:v>
                </c:pt>
                <c:pt idx="74">
                  <c:v>1.24384375</c:v>
                </c:pt>
                <c:pt idx="75">
                  <c:v>1.25283518</c:v>
                </c:pt>
                <c:pt idx="76">
                  <c:v>1.20618937</c:v>
                </c:pt>
                <c:pt idx="77">
                  <c:v>1.23368729</c:v>
                </c:pt>
                <c:pt idx="78">
                  <c:v>1.23787801</c:v>
                </c:pt>
                <c:pt idx="79">
                  <c:v>1.21923485</c:v>
                </c:pt>
                <c:pt idx="80">
                  <c:v>1.2302703</c:v>
                </c:pt>
                <c:pt idx="81">
                  <c:v>1.20986819</c:v>
                </c:pt>
                <c:pt idx="82">
                  <c:v>1.20955697</c:v>
                </c:pt>
                <c:pt idx="83">
                  <c:v>1.18673962</c:v>
                </c:pt>
                <c:pt idx="84">
                  <c:v>1.19938702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BCC9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.35"/>
          <c:min val="0.8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C"/>
              </a:solidFill>
            </a:ln>
          </c:spPr>
        </c:majorGridlines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净收益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1908">
              <a:solidFill>
                <a:srgbClr val="168579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标准费用</c:v>
                </c:pt>
                <c:pt idx="1">
                  <c:v>双倍费用</c:v>
                </c:pt>
                <c:pt idx="2">
                  <c:v>延迟一天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25.12879392</c:v>
                </c:pt>
                <c:pt idx="1">
                  <c:v>22.47754377</c:v>
                </c:pt>
                <c:pt idx="2">
                  <c:v>27.31222567</c:v>
                </c:pt>
              </c:numCache>
            </c:numRef>
          </c:val>
        </c:ser>
        <c:ser>
          <c:idx val="1"/>
          <c:order val="1"/>
          <c:tx>
            <c:v>最大回撤</c:v>
          </c:tx>
          <c:spPr>
            <a:solidFill xmlns:a="http://schemas.openxmlformats.org/drawingml/2006/main">
              <a:srgbClr val="4265A6"/>
            </a:solidFill>
            <a:ln xmlns:a="http://schemas.openxmlformats.org/drawingml/2006/main" w="21908">
              <a:solidFill>
                <a:srgbClr val="4265A6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标准费用</c:v>
                </c:pt>
                <c:pt idx="1">
                  <c:v>双倍费用</c:v>
                </c:pt>
                <c:pt idx="2">
                  <c:v>延迟一天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9.8846842</c:v>
                </c:pt>
                <c:pt idx="1">
                  <c:v>10.19467121</c:v>
                </c:pt>
                <c:pt idx="2">
                  <c:v>10.66579855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CC9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C"/>
              </a:solidFill>
            </a:ln>
          </c:spPr>
        </c:majorGridlines>
        <c:numFmt formatCode="0.0&quot;%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平均Rank IC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1908">
              <a:solidFill>
                <a:srgbClr val="168579"/>
              </a:solidFill>
            </a:ln>
          </c:spPr>
          <c:invertIfNegative val="0"/>
          <c:cat>
            <c:strRef>
              <c:f>'Chart Data'!$A$2:$A$13</c:f>
              <c:strCache>
                <c:ptCount val="12"/>
                <c:pt idx="0">
                  <c:v>Mom</c:v>
                </c:pt>
                <c:pt idx="1">
                  <c:v>Rev</c:v>
                </c:pt>
                <c:pt idx="2">
                  <c:v>Low vol</c:v>
                </c:pt>
                <c:pt idx="3">
                  <c:v>Range</c:v>
                </c:pt>
                <c:pt idx="4">
                  <c:v>Trend</c:v>
                </c:pt>
                <c:pt idx="5">
                  <c:v>Volume</c:v>
                </c:pt>
                <c:pt idx="6">
                  <c:v>Illiq</c:v>
                </c:pt>
                <c:pt idx="7">
                  <c:v>Turnover</c:v>
                </c:pt>
                <c:pt idx="8">
                  <c:v>E/P</c:v>
                </c:pt>
                <c:pt idx="9">
                  <c:v>B/P</c:v>
                </c:pt>
                <c:pt idx="10">
                  <c:v>Div</c:v>
                </c:pt>
                <c:pt idx="11">
                  <c:v>ROE</c:v>
                </c:pt>
              </c:strCache>
            </c:strRef>
          </c:cat>
          <c:val>
            <c:numRef>
              <c:f>'Chart Data'!$B$2:$B$13</c:f>
              <c:numCache>
                <c:formatCode>0.0000</c:formatCode>
                <c:ptCount val="12"/>
                <c:pt idx="0">
                  <c:v>-0.01611671</c:v>
                </c:pt>
                <c:pt idx="1">
                  <c:v>0.01866363</c:v>
                </c:pt>
                <c:pt idx="2">
                  <c:v>0.07221084</c:v>
                </c:pt>
                <c:pt idx="3">
                  <c:v>0.07888433</c:v>
                </c:pt>
                <c:pt idx="4">
                  <c:v>-0.03208568</c:v>
                </c:pt>
                <c:pt idx="5">
                  <c:v>-0.01706104</c:v>
                </c:pt>
                <c:pt idx="6">
                  <c:v>-0.05136053</c:v>
                </c:pt>
                <c:pt idx="7">
                  <c:v>0.06554771</c:v>
                </c:pt>
                <c:pt idx="8">
                  <c:v>0.04283968</c:v>
                </c:pt>
                <c:pt idx="9">
                  <c:v>0.05150858</c:v>
                </c:pt>
                <c:pt idx="10">
                  <c:v>0.03741325</c:v>
                </c:pt>
                <c:pt idx="11">
                  <c:v>0.00683135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CC9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C"/>
              </a:solidFill>
            </a:ln>
          </c:spPr>
        </c:majorGridlines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8317D-F6BF-488E-A079-D54EA5B1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FE668-6DB8-4589-A364-1B794F4B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2A37E-6730-4C6E-9DB6-E3342410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98006-7B73-4133-838B-FB75B612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45994-60AF-4897-9A4B-43F1FD5F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DA437-73EA-4223-81A5-348AFD4D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28053-4AE5-4676-A947-990CD4E6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7EA22-FBCB-4EF0-A2D3-CB374AE8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从失败账本到超过指数的历史候选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8A099-BD26-4339-A936-E9797A50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5267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可复现的多因子研究</a:t>
            </a:r>
          </a:p>
          <a:p xmlns:a="http://schemas.openxmlformats.org/drawingml/2006/main">
            <a:pPr>
              <a:defRPr sz="43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与风险控制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FF059-3878-4073-945F-157F2C1B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Computational Finance · Project 1</a:t>
            </a:r>
          </a:p>
          <a:p xmlns:a="http://schemas.openxmlformats.org/drawingml/2006/main">
            <a: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1,000只股票，12因子，8个V3候选</a:t>
            </a:r>
          </a:p>
          <a:p xmlns:a="http://schemas.openxmlformats.org/drawingml/2006/main">
            <a: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固定复核：2025-01-02 至 2026-09-18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E33DF-18B5-4495-AFC2-EB637F36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2026年9月22日   /   20分钟课程展示</a:t>
            </a:r>
          </a:p>
        </p:txBody>
      </p:sp>
    </p:spTree>
    <p:extLst>
      <p:ext uri="{BB962C8B-B14F-4D97-AF65-F5344CB8AC3E}">
        <p14:creationId xmlns:p14="http://schemas.microsoft.com/office/powerpoint/2010/main" val="15136157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78406-D2E0-406D-B4E6-9A655CE6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6AD5C-32EF-4605-9263-2979F3D9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Project 1 的核心是研究闭环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76F25-290F-4412-A82A-4687A3B4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AEE3B-59CD-47E9-82C9-0A4FE311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3DCBD-9793-47EA-9378-E5349939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5E6ED-B4EF-4065-B972-B49630A7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1B932-3DC3-4981-85B1-BF9E8208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3070E-1EEB-410B-86FB-F4514A05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基础80分与扩展20分，落实为可检查的证据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1C9BE-FBD4-4A00-9414-AB08413C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8147A-EBD3-4BBC-88FD-BD0FEF03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数据：字段、复权、缺失、下载身份与哈希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BC99F-C0F0-4E0F-8D58-B9F79E86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62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BB621-CE9F-47F0-8E56-6380A321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研究：因子、IC、分组、含费用回测、固定对照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B1BEF-DA25-4F2F-96BE-8F546A1F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74BD5-B0E7-4E5B-A3B5-8F4FFC5A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工程：同一核心供CLI和界面调用，保留测试与运行记录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DB422-0BCA-44C8-A5C0-79B88A9C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840D0-C439-469F-BEED-BA7ADF41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6725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扩展：历史中性化、风险权重、部分成交、增量审计</a:t>
            </a:r>
          </a:p>
        </p:txBody>
      </p:sp>
    </p:spTree>
    <p:extLst>
      <p:ext uri="{BB962C8B-B14F-4D97-AF65-F5344CB8AC3E}">
        <p14:creationId xmlns:p14="http://schemas.microsoft.com/office/powerpoint/2010/main" val="1795744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C2D4A-1C80-4052-9690-3AB7ECF1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CBA46-13EA-49D1-9515-2C51802B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原始动量的亏损超过费用拖累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9B5FA-CE7E-48C8-BDE8-D2D908DF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97242-C53E-42F4-900B-952E54CC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A2322-E5BA-47D4-ADEA-30D1DDCF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AD41E-C9A2-4581-9F06-36DDFD41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A0AFF-7C74-429A-9F46-F3EA41BA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B4E87-C5AD-4CA7-9AB3-FC432B09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零费用独立重跑仍累计亏损75.16%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537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0f3a79739e4031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6D889-A08F-4857-AA80-0F36182C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原始扣费累计：−83.57%，最大回撤89.83%；加回费用的同路径归因：−58.12%；零费用重跑会改变再投资路径，不能混为一谈</a:t>
            </a:r>
          </a:p>
        </p:txBody>
      </p:sp>
    </p:spTree>
    <p:extLst>
      <p:ext uri="{BB962C8B-B14F-4D97-AF65-F5344CB8AC3E}">
        <p14:creationId xmlns:p14="http://schemas.microsoft.com/office/powerpoint/2010/main" val="7972647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BD8A2-3CA6-4527-889F-FD8A46AB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E7F4A-7EAD-432B-A3DD-69658554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分数与成交账本解耦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8B563-7BB6-46B6-BA73-C3D589B2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9C67C-2D96-4E4B-8459-D36109B5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C1CB5-66A3-41E1-9F17-E3413249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C47D4-B498-44B7-999C-5A88DA6B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93538-7E66-4163-8A22-19682293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70FEB-DF86-41D3-BE43-C6A026AF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新增模型输出同样的分数接口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B528B-469B-48AB-ABCF-FDB46AD4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25527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F9B5E-6FAF-43BD-9D60-0ADEF647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FFDD2-7C85-4873-81C7-AAEF0494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原始快照与质量检查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CE900-7CA7-4FC5-BA08-2BDFBE98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05150"/>
            <a:ext cx="24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D8A32-C84D-4655-A042-482BC9F3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47950"/>
            <a:ext cx="25527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68044-28AC-4801-B3E6-E735223C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289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5616D-1F52-4102-B632-B727B29E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8137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因子/模型：日期×资产分数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1AAA8-BDE0-4F9F-83E6-E2AC1282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05150"/>
            <a:ext cx="24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3F7B6-9EAF-4D7D-9A91-1E73057F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5527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A7ACD-5D8C-4C57-84B4-72CE366A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05102-15F9-4145-8276-1E66C12A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组合模块：目标权重与现金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DB097-AFF0-4978-BB60-3F28459E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05150"/>
            <a:ext cx="24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8F3FF-4A14-4461-937C-5D5CC05D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47950"/>
            <a:ext cx="25527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9CE059-11B8-43EE-B66D-BFB94E32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289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01276-1144-4B41-A0D8-8DB1103E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8137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成交模块：订单、成交、持仓、净值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15B54-4F7C-409A-B231-E02ADA94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同一核心服务命令行、交互页面与提交报告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74B91B-EC1E-45EA-8868-DF787A32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每个实验记录数据、配置与源码身份，失败结果保留</a:t>
            </a:r>
          </a:p>
        </p:txBody>
      </p:sp>
    </p:spTree>
    <p:extLst>
      <p:ext uri="{BB962C8B-B14F-4D97-AF65-F5344CB8AC3E}">
        <p14:creationId xmlns:p14="http://schemas.microsoft.com/office/powerpoint/2010/main" val="13508518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65518-381E-4E46-AE8E-9AA1C47B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380EF-6E63-4E9B-B529-184E5412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1,656,599条日线具有明确来源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1C2ED-C5CD-416B-8CA5-7DD317AC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046C4-EF87-45BD-B6B2-EC9D536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E9D06-2543-4A80-8230-01B03EB4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457EB-F0CA-4EBD-A885-4DDBE12A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F15FC-898E-40E0-8933-D5975E24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602F4-A37D-43CD-BE0B-CAA2120D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固定2019年末股票池，保留后来缺失的成员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47700" y="2085975"/>
          <a:ext xmlns:a="http://schemas.openxmlformats.org/drawingml/2006/main" cx="108966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515225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 / 交易日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 / 1,690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日线重复键 / 异常剔除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缺失网格 / 缺限制价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33,401 / 48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每日估值记录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1,656,599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4E662-8423-43EB-854E-E2941792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48250"/>
            <a:ext cx="10877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价格区间：2019-10-08 至 2026-09-18</a:t>
            </a:r>
          </a:p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57,389条财务指标，1,432条历史行业区间</a:t>
            </a:r>
          </a:p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原行情3,006个文件、新研究2,073个文件哈希核验</a:t>
            </a:r>
          </a:p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固定池不含后续IPO，也不代表全A股</a:t>
            </a:r>
          </a:p>
        </p:txBody>
      </p:sp>
    </p:spTree>
    <p:extLst>
      <p:ext uri="{BB962C8B-B14F-4D97-AF65-F5344CB8AC3E}">
        <p14:creationId xmlns:p14="http://schemas.microsoft.com/office/powerpoint/2010/main" val="340989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7451BA-06B9-430A-83CB-94C1F86E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7FCDA-AC3E-4545-8F62-9D11E8C4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年度更新模型，标签先实现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881B0-036F-4EC2-B974-1685F885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12B86-5CF2-4CDD-97CF-5361C1EA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9FF3A-56A5-4794-8176-DB074775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E05D8-A90B-4DB3-A313-C39C8F33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4ABF9-F56A-4D97-A6C5-074D7E47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675E0-C772-4DA0-8141-BBC758F8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每年只训练形成日前三年的可见观测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858CF-3DB1-4401-BB90-17BA9BDB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3457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B8810-10E2-4914-80F5-EAF6EC0A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此前三年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D4DBC-2E14-481F-B32E-96068978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52725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标签实现后训练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5D3C4-E0E0-498A-BBDE-38848B81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09800"/>
            <a:ext cx="3457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34984-0C25-4008-A3C3-415B6045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62200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2023–2024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9FBCD-6A39-4D4A-B4CE-B04ED610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52725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验证并保留选择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C57DC-A201-4EA7-858B-54FDFCCF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3457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6D956-78E8-48A3-A751-6C29C450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2025–2026/9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67D8C-3526-4DB7-AF46-D68587EC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52725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开发后历史复核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AAAFF-B4A5-4462-8770-5990F977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43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AB2DF7-235F-4B81-8BFF-DA9403AD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29025"/>
            <a:ext cx="1055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2023/2024先验证，清除跨形成日标签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81055-CD25-4066-9D8D-E3E37B07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24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2D0E3-6314-4210-9F7B-C69E6F9E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10050"/>
            <a:ext cx="1055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2025/2026逐年重训，同一年度固定模型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C7C18-7DCB-42C1-8F26-65112DFA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05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D29F3C-F3FF-47AE-8521-2B402034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91075"/>
            <a:ext cx="1055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原V2已看过最终区间，不能恢复盲测资格</a:t>
            </a:r>
          </a:p>
        </p:txBody>
      </p:sp>
    </p:spTree>
    <p:extLst>
      <p:ext uri="{BB962C8B-B14F-4D97-AF65-F5344CB8AC3E}">
        <p14:creationId xmlns:p14="http://schemas.microsoft.com/office/powerpoint/2010/main" val="10479549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F0B9D-5DF3-40ED-B9A1-5C0D8F70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20DD8-9839-4283-9025-F78240EC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12个因子构成可解释的基线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A8EE5-F28C-4B6B-8C44-8C7A452D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46B80-DC79-4281-8DF7-8F93BAAA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287D0-3E78-4742-A265-DD189A42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5A750-3B59-4E25-AE71-13AC5FE1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F06A5-E106-4DFF-A151-6DCE72CB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8745D-3638-4A0B-AC0D-A39C4E06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既保留防御与价值，也保留表现不佳的方向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47700" y="2085975"/>
          <a:ext xmlns:a="http://schemas.openxmlformats.org/drawingml/2006/main" cx="108966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515225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趋势 / 反转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跳月动量、5日反转、20日均线趋势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 / 量价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低波动、低振幅、量能变化、流动性、低换手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 / 分红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盈利收益率、账面市值比、股息率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最新已公告年度ROE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6DFFD-AF09-4EF5-8612-1438321D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48250"/>
            <a:ext cx="10877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同日横截面统一方向与尺度</a:t>
            </a:r>
          </a:p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至少10个因子有效，其余标准化缺值取中性值0</a:t>
            </a:r>
          </a:p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完整因子卡列出字段、窗口与失败情形</a:t>
            </a:r>
          </a:p>
        </p:txBody>
      </p:sp>
    </p:spTree>
    <p:extLst>
      <p:ext uri="{BB962C8B-B14F-4D97-AF65-F5344CB8AC3E}">
        <p14:creationId xmlns:p14="http://schemas.microsoft.com/office/powerpoint/2010/main" val="6081351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8689F-BBB8-45B3-B0BA-BB41EEF7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6BFB7-5BEA-47CB-B5D4-2D3D3EBB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中性化与标准化同时输入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D99C1-C016-43C1-A8AD-4470F5A9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305B0-FD7A-4B78-AF67-72BFF6DA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26029-B18F-4696-B610-E47756F5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B0134-E51B-4439-AC62-B85541B5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02D9C-6BAB-41E9-B53B-B99C9C11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678C0-23DD-494F-B025-63A1B8FE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LightGBM使用12个标准化值与12个残差值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B13EC-65CE-4A37-A772-4272E4F1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C14AD-24AA-4673-A0E4-86F53D84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每日1%/99%截尾、样本标准差缩放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F6155-4274-4437-BD7C-7F040828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62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8A987-8B0F-4D92-B046-EDFD9B45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当日行业与对数市值回归残差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4E7A3-56D4-4BB4-BC44-F6B81DEA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E6CAD-4F66-4853-9486-B9679C20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缺财报不补未来值；个别标准化缺值取0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F12DD-F606-4656-980F-535CC4A5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78A56-0DD7-4D37-83DA-60758B8C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6725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中性化减少暴露，但不保证提高收益</a:t>
            </a:r>
          </a:p>
        </p:txBody>
      </p:sp>
    </p:spTree>
    <p:extLst>
      <p:ext uri="{BB962C8B-B14F-4D97-AF65-F5344CB8AC3E}">
        <p14:creationId xmlns:p14="http://schemas.microsoft.com/office/powerpoint/2010/main" val="12597080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D0B42-3BD8-49BD-9B79-C444E65D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69D11-C1C0-4780-B7F2-FC2892DF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候选有明确边界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C5718-B0C2-47C6-8654-CE7285BE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124A4-EE74-41EE-800B-052EF339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6BEE9-F39F-49A3-9334-35E37BE1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D97A2-931A-48C4-B77F-0256155E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4BF7D-A2A0-44F2-B4D0-3FDB07C9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B51A9-E68B-4EC1-A1A5-9893BFC2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四种信号 × 两种组合，共8个候选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8AA0E-0FBA-46AC-85A0-8B2AEEB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99D75-E843-44D0-8B16-CCCCFBDB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经济主题：价值50%、质量25%、低风险25%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FC823-E471-4509-80FB-80E6F75F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62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A9078-C6BC-4B93-8C3C-D4903990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Ridge：12个中性化输入，alpha=100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5968A-373B-49B3-AD6D-12BDD9BA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50454-A0B2-4E51-B337-9912D81D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LightGBM：24输入、250树、15叶、深度5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E9C73-76BE-41CC-8863-8C3417C4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82BE7-E4D1-42AD-AA79-EA74EAE4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6725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融合：树模型50%、线性25%、主题25%</a:t>
            </a:r>
          </a:p>
        </p:txBody>
      </p:sp>
    </p:spTree>
    <p:extLst>
      <p:ext uri="{BB962C8B-B14F-4D97-AF65-F5344CB8AC3E}">
        <p14:creationId xmlns:p14="http://schemas.microsoft.com/office/powerpoint/2010/main" val="516984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2FE5D9-FC39-4C62-A48A-5114F1F6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29359-438C-4EA3-825E-0A6904DD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仓位目标与指数目标相适应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94499-506D-43B5-B9CA-DE52684F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AF141-C3B0-43BA-9560-4EC8D9A4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9C4EF-87D8-4948-BF85-AB78E1D6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0D95A-36D1-4FD5-A978-69F04E77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BF094-89C4-47FB-AEBA-AEE609D1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0CF42-0480-4031-9380-D842FC8D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最高95%股票敞口；趋势偏弱时预算乘0.75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B9881-E9D7-4D89-A407-AD6CCD00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83044-3B13-4F67-AD77-D307D0E9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20日调仓、50股、20名缓冲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85D2F-E278-495E-8D1A-695C4AFA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62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AD4EE-A1E6-47A1-82DD-A067E9D6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波动目标20%，单股4%、行业25%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5BCEC-22BA-4D7D-A927-0AFCCB67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BFE3D-E385-4943-A41E-106A9712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其余持现金，禁止杠杆与卖空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5F9E4-B742-46D1-B14E-EFD2D644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B2003-F52C-449C-A6CB-EC37E0F5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6725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实际权重会漂移，回撤目标不是保证</a:t>
            </a:r>
          </a:p>
        </p:txBody>
      </p:sp>
    </p:spTree>
    <p:extLst>
      <p:ext uri="{BB962C8B-B14F-4D97-AF65-F5344CB8AC3E}">
        <p14:creationId xmlns:p14="http://schemas.microsoft.com/office/powerpoint/2010/main" val="9917040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9AF1C-B266-4E25-A9A3-7684F3A0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037C4-9E59-4EA4-9B25-AFB5CD66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账本正确与策略达标分开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BA195-997B-4DD3-A599-7F7D4098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B1E1E-F61D-457F-831A-D17AE1B5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832C7-C0B3-4750-AB9D-FD6047C1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5B3E7-075B-4A95-9C84-BB411583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D7686-5EA2-4825-9C0A-311CFFA4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92530-BF62-49B5-9F2F-0F598C80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版本切换后清除旧结果，亏损显示未达标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382D9-7F15-4D83-8D52-D5D2452A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B2DBD-2381-475A-8FE4-DBD96524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新旧策略共用成交与独立核对核心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C9C10-5F70-4EE2-A4B7-17861181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71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1A19E-AE5D-4D42-99B5-EB9DCFBE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57525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下一开盘，实际成交收费，限制价/缺价阻断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AD242-C9BD-42D5-BADF-BEFF5374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90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E4B68-4AC7-40A2-BF58-5033BF4C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76675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最新默认V3，V1失败与V2对照仍可选择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723C3-A027-4097-BB9D-553B6039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10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9B4B0-D074-4450-867B-759ADE66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95825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固定结果可查看；本机可改参数重跑</a:t>
            </a:r>
          </a:p>
        </p:txBody>
      </p:sp>
    </p:spTree>
    <p:extLst>
      <p:ext uri="{BB962C8B-B14F-4D97-AF65-F5344CB8AC3E}">
        <p14:creationId xmlns:p14="http://schemas.microsoft.com/office/powerpoint/2010/main" val="20166970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8C249-2969-4D2A-8C47-E2C21F24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A23F1-1C14-45F8-A537-59D60BF7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验证选择没有被事后改写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39D05-FFEF-4672-A767-F0497D75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E6881-8546-45DD-9138-A0B6F746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20260-28D9-4298-88D2-3D4BD379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C9DB1-AEDA-40C9-9A23-F4EB7C0E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45FB4-7F2F-441B-A284-6F8F8AD4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0A072-F505-4FB3-89C0-F6B2F104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价值主题稳定仓位排名第一，但随后失败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537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946722d30a42c2"/>
          </a:graphicData>
        </a:graphic>
      </p:graphicFrame>
    </p:spTree>
    <p:extLst>
      <p:ext uri="{BB962C8B-B14F-4D97-AF65-F5344CB8AC3E}">
        <p14:creationId xmlns:p14="http://schemas.microsoft.com/office/powerpoint/2010/main" val="4284264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9D7BC-FF22-4C37-A446-673E5DA9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71F9C-3750-4D14-BB02-183CDBA4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历史复核保留全部8个候选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43493-F65F-450B-92EA-A77EAA52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65702-4FF9-4468-B104-4C5CB2F4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29120-A83B-4C25-9EBA-F144A9C3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C2DDF-87EF-4CCA-9E26-F255F3B8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BAC8F-5F87-4C18-9291-400AEC6E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BC459-B6C8-4916-B01C-CD0E9E13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当前候选为滚动LightGBM波动预算版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537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be70a61d6e4256"/>
          </a:graphicData>
        </a:graphic>
      </p:graphicFrame>
    </p:spTree>
    <p:extLst>
      <p:ext uri="{BB962C8B-B14F-4D97-AF65-F5344CB8AC3E}">
        <p14:creationId xmlns:p14="http://schemas.microsoft.com/office/powerpoint/2010/main" val="3201379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AB28E-16ED-4C69-A231-78CA2BB7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C84C6-BB45-4975-9695-6D9F1F87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策略超过价格与全收益指数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6BC1A-6559-4AFE-BBD7-0D82EF9E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359CE-A061-4023-938D-0EDC6C07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E5088-EB8C-42F4-884A-14C6076C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E0B0D-4B44-4E6A-947A-4E8B2565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B253E-6A53-4333-A257-85C3865D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0D903-9942-446D-AE66-AF4B00D9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净收益25.13%，最大回撤9.88%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53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e21e256eb348b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99B26-2BC2-4DEA-A644-19A29FE6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673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2025-01-02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CE103-FD63-4E05-AF06-FB753094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673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2025年末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016B8-9B8E-4884-99F3-EF72847D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67300"/>
            <a:ext cx="1476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2026-09-18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87501-E459-4B8B-AFB4-6C13D714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价格指数14.55%，全收益指数19.94%；分别超过10.58和5.19个百分点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28C85-CE03-4BFA-9543-43BE93E9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PPT曲线每5日取点；完整417日见Beamer、平台与报告。</a:t>
            </a:r>
          </a:p>
        </p:txBody>
      </p:sp>
    </p:spTree>
    <p:extLst>
      <p:ext uri="{BB962C8B-B14F-4D97-AF65-F5344CB8AC3E}">
        <p14:creationId xmlns:p14="http://schemas.microsoft.com/office/powerpoint/2010/main" val="15593699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7F379-1EC4-45A3-A50F-791F9038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DEFD6-0F0A-40F0-8F07-10D47024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加倍费用与延迟信号仍胜出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1B5B8-8923-49C1-B5A8-58049D58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E87F9-6D53-4181-BE52-F46E5B1C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D0101-6AAD-4056-96BB-9B2954CB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D6368-AA36-4498-8649-59289188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ED768-55DD-4F9E-819D-2C16FF0C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54971-616F-4FCF-99E3-6CAF72B5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压力检查不再用于选择更好参数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537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e8397b4c674164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63B6F-697C-4A1F-A06B-0EC93854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双倍费用：22.48%；延后一日：27.31%；2023起连续收益44.09%，最大回撤19.70%</a:t>
            </a:r>
          </a:p>
        </p:txBody>
      </p:sp>
    </p:spTree>
    <p:extLst>
      <p:ext uri="{BB962C8B-B14F-4D97-AF65-F5344CB8AC3E}">
        <p14:creationId xmlns:p14="http://schemas.microsoft.com/office/powerpoint/2010/main" val="17859897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27CEE-03AA-4C7D-9ECA-371FC041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B9406-9097-4C42-8957-81F56E10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因子诊断同时保留负结果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75FE9-FF0B-4A3D-A7ED-4C78CDF1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944CE-2F69-4D0A-8851-B5F1BC81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BB0F5-4623-4C02-8F8A-77C6AC3A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0EBA6-DF2A-4AB6-91D4-9CDAB1D7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B92D4-90E4-46DB-A10B-50FDD769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0CA31-5B04-4571-8F64-5B6BC2E8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878个形成日，逐日横截面IC与20日标签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537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01b921aade40d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964B1-45A1-42C9-900B-DF54CD72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低波动与低振幅较强，仍需检查信息冗余；先形成五组，再匹配未来标签；不重新分组；重叠20日收益均值不连乘成净值，不声称显著性</a:t>
            </a:r>
          </a:p>
        </p:txBody>
      </p:sp>
    </p:spTree>
    <p:extLst>
      <p:ext uri="{BB962C8B-B14F-4D97-AF65-F5344CB8AC3E}">
        <p14:creationId xmlns:p14="http://schemas.microsoft.com/office/powerpoint/2010/main" val="18636512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9B8CB-04A4-43A3-BEA3-24273D09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61C99-E446-4622-8E9F-A366C523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现场演示：版本、目标与账本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80F5F-0889-413E-B390-20E38667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83E8C-A6C3-4DCF-99E4-39EA6AA3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C7FC7-91C6-41FC-A7B0-A2F28D60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B2901-CA3E-4F7F-8383-6D26365B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C1D38-842B-46C2-92E6-4C2CAA0C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95A8E-61FC-4753-9BC7-98A4526E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两分钟切换最新、旧版与失败案例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562B9-109C-41EC-B5E1-9FB79BCD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A49C6-3366-43E4-BFE6-37831F65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策略研究：查看价格/全收益指数和选择边界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66381-C7C5-4AB7-B231-A083E553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71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4127C-9B53-4EFD-8D5C-B2F890EC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57525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回测实验：默认最新V3，切换V2原预选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FD091-6623-4028-AF00-A344EECB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90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FEE00-1732-426D-B746-3306E1E7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76675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V1自由实验：查看明确的历史失败标记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A1B3A-15A0-49B3-AD87-67FF0231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10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283ED-1D27-491E-BC60-88813953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95825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展开参数重跑：看版本、日期、费用及明细</a:t>
            </a:r>
          </a:p>
        </p:txBody>
      </p:sp>
    </p:spTree>
    <p:extLst>
      <p:ext uri="{BB962C8B-B14F-4D97-AF65-F5344CB8AC3E}">
        <p14:creationId xmlns:p14="http://schemas.microsoft.com/office/powerpoint/2010/main" val="12031913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7B223-9545-4AFD-8EA3-FA546C10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95C33-8A95-453E-A991-3F25A824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平台满足研究与演示目标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7E980-7054-444A-A24A-A7376ED1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A6245-95DF-4D33-9D40-FD09C78F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FF0BF-87C6-42F0-910A-D0B80ADC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6DB77-9DA6-4E67-9D54-6BDA7C84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534FC-B616-4B8D-84D4-9825578E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30FEA-6F88-4E44-8930-8ECF7F85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历史上跑赢指数；未来仍须前向验证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01F1B-9403-47B7-9250-6F2FA8A8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78597-F72A-4D92-8483-5A7411EF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达成：扣费后超过价格及全收益指数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5B1B0-0DCA-4410-8C1E-8BE8C247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62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A7BFD-7781-4A59-9B46-560A81A0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验证：52项测试、21个账本、独立复算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348B9-4752-4AF6-92EE-B4F4F8C9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437F3-19AE-4D9C-965C-19AB8A73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保留：失败预选、8个候选、落后年份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D48B8-BF42-4F3E-B0BC-3CCDCCDF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66091-C793-4DF4-86F3-BE79594E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6725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下一步：冻结V3，使用未来新数据检验</a:t>
            </a:r>
          </a:p>
        </p:txBody>
      </p:sp>
    </p:spTree>
    <p:extLst>
      <p:ext uri="{BB962C8B-B14F-4D97-AF65-F5344CB8AC3E}">
        <p14:creationId xmlns:p14="http://schemas.microsoft.com/office/powerpoint/2010/main" val="16149569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6A694-2E61-44F7-9F5D-7C68135F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95EAE-71C1-4DB8-BB38-92F1A31C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备份：绩效与购买力口径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E1941-44E3-422E-8819-B9DAA1FD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15C6D-F536-481B-8685-9D8C83CD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25214-0F43-41BC-AD90-A9E038E6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6FFE9-DA01-4C09-A9DA-987FF88C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8520B-9122-4C2E-94A4-2FD748C0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3453D-33B3-4B7E-93E1-5DD1D0A4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期初净值参与第一日收益与最大回撤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F5178-5EEA-43CC-A795-58000AA7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71700"/>
            <a:ext cx="10915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6ECB6-5596-4359-B8ED-2CCD13BD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19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实际收益 = (1 + 策略累计收益) / (1 + 累计通胀) − 1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E5E5B-D38B-4F39-B876-40AFB821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14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D4A51-49C9-4B67-935E-42C84B99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00425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年化： (NAV末 / NAV初)^(252 / 交易日数) − 1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9E395-B371-47A2-A98D-B796E1BA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71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CBD5E-2C77-47BC-9F68-50AB7838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57650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Sharpe：√252 × 日超额均值 / 日超额样本标准差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E4FE0-FFBD-445B-90D1-C2A6ACD3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29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C3072-2F0D-4EC0-A5D2-429D80D0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14875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CPI累计：逐月(1 + 月环比)相乘 − 1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88B7D-2A16-4111-B003-F958750D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86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218CF-D913-47FE-8230-7C6F4248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72100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实际收益：(1 + 策略收益) / (1 + CPI累计) − 1</a:t>
            </a:r>
          </a:p>
        </p:txBody>
      </p:sp>
    </p:spTree>
    <p:extLst>
      <p:ext uri="{BB962C8B-B14F-4D97-AF65-F5344CB8AC3E}">
        <p14:creationId xmlns:p14="http://schemas.microsoft.com/office/powerpoint/2010/main" val="13333416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61D1D-D33B-4C40-87CA-013760AF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6EE0F-BBFF-4B4E-8BEF-DEBF15B6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备份：老师可能追问什么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69C9E-29DC-4BCE-A716-15AEF697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A3921-D104-4DF9-896A-53AA46C8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08C56-FE50-4E40-9EBF-CCD9F881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17FF6-D5A5-453E-A504-19CB5697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EEF51-4E6A-4A61-B380-4C4DB83A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59A3C-D440-415B-AA49-FD2F365D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把选型、基准和失败讲清楚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426E1-2AEB-4451-8DC6-2398F1EE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6B0F9-F4B5-4AEE-9B1B-9D1182F0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为什么不选最高收益？稳定树模型验证回撤超25%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2F4AF-9F72-45B5-87A5-334E613E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62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ADE58-3556-407F-B363-190CE02D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为何不用CNN？因子列没有天然局部邻接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EABCF-3422-4D91-AC2A-3FD11D45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AD650-18CB-4172-BA4B-87FDE596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是不是独立盲测？不是，明确披露事后选择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B59A8-3F2A-46AA-AA19-359A6DAB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F338D-C9EB-4132-B03D-F03F355D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6725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来源：中证、Tushare、Qlib、sklearn、CogAlpha</a:t>
            </a:r>
          </a:p>
        </p:txBody>
      </p:sp>
    </p:spTree>
    <p:extLst>
      <p:ext uri="{BB962C8B-B14F-4D97-AF65-F5344CB8AC3E}">
        <p14:creationId xmlns:p14="http://schemas.microsoft.com/office/powerpoint/2010/main" val="625025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2026-09-22T02:26:40.7690000Z</dcterms:created>
  <dcterms:modified xsi:type="dcterms:W3CDTF">2026-09-22T02:26:40.7690000Z</dcterms:modified>
</coreProperties>
</file>