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79843643e554ff2" /><Relationship Type="http://schemas.openxmlformats.org/officeDocument/2006/relationships/extended-properties" Target="/docProps/app.xml" Id="R44779454b4c3418a" /><Relationship Type="http://schemas.openxmlformats.org/officeDocument/2006/relationships/officeDocument" Target="/ppt/presentation.xml" Id="R5dfb619c970b4ad8" /></Relationships>
</file>

<file path=ppt/presentation.xml><?xml version="1.0" encoding="utf-8"?>
<p:presentation xmlns:p="http://schemas.openxmlformats.org/presentationml/2006/main">
  <p:sldMasterIdLst>
    <p:sldMasterId xmlns:r="http://schemas.openxmlformats.org/officeDocument/2006/relationships" id="2147483648" r:id="R2c865710350946ad"/>
  </p:sldMasterIdLst>
  <p:notesMasterIdLst>
    <p:notesMasterId xmlns:r="http://schemas.openxmlformats.org/officeDocument/2006/relationships" r:id="Rdc357ce2fbd54e73"/>
  </p:notesMasterIdLst>
  <p:sldIdLst>
    <p:sldId xmlns:r="http://schemas.openxmlformats.org/officeDocument/2006/relationships" id="256" r:id="R68c8c20ede544de0"/>
    <p:sldId xmlns:r="http://schemas.openxmlformats.org/officeDocument/2006/relationships" id="257" r:id="R5bd5fc43917d4a54"/>
    <p:sldId xmlns:r="http://schemas.openxmlformats.org/officeDocument/2006/relationships" id="258" r:id="R19494f22eb024fcc"/>
    <p:sldId xmlns:r="http://schemas.openxmlformats.org/officeDocument/2006/relationships" id="259" r:id="Rd85dce4ab761417b"/>
    <p:sldId xmlns:r="http://schemas.openxmlformats.org/officeDocument/2006/relationships" id="260" r:id="R4d5884d348024471"/>
    <p:sldId xmlns:r="http://schemas.openxmlformats.org/officeDocument/2006/relationships" id="261" r:id="Rd87fbbe6211d431f"/>
    <p:sldId xmlns:r="http://schemas.openxmlformats.org/officeDocument/2006/relationships" id="262" r:id="R9a8a240453fc4e02"/>
    <p:sldId xmlns:r="http://schemas.openxmlformats.org/officeDocument/2006/relationships" id="263" r:id="R8a480a3b8e7644a2"/>
    <p:sldId xmlns:r="http://schemas.openxmlformats.org/officeDocument/2006/relationships" id="264" r:id="Rd21a8af3c43441ac"/>
    <p:sldId xmlns:r="http://schemas.openxmlformats.org/officeDocument/2006/relationships" id="265" r:id="R02be53378a494497"/>
    <p:sldId xmlns:r="http://schemas.openxmlformats.org/officeDocument/2006/relationships" id="266" r:id="Ra5a9f863bff3417e"/>
    <p:sldId xmlns:r="http://schemas.openxmlformats.org/officeDocument/2006/relationships" id="267" r:id="R5a87713654644886"/>
    <p:sldId xmlns:r="http://schemas.openxmlformats.org/officeDocument/2006/relationships" id="268" r:id="R5eb6a1e8368e4622"/>
    <p:sldId xmlns:r="http://schemas.openxmlformats.org/officeDocument/2006/relationships" id="269" r:id="R5dbc981714b544cd"/>
    <p:sldId xmlns:r="http://schemas.openxmlformats.org/officeDocument/2006/relationships" id="270" r:id="R5ed02fded67048eb"/>
    <p:sldId xmlns:r="http://schemas.openxmlformats.org/officeDocument/2006/relationships" id="271" r:id="R132d8cf489ce413f"/>
    <p:sldId xmlns:r="http://schemas.openxmlformats.org/officeDocument/2006/relationships" id="272" r:id="Rb349c7a349674052"/>
    <p:sldId xmlns:r="http://schemas.openxmlformats.org/officeDocument/2006/relationships" id="273" r:id="R735a757a6ccf40e3"/>
    <p:sldId xmlns:r="http://schemas.openxmlformats.org/officeDocument/2006/relationships" id="274" r:id="Re60b406d9bda4b0a"/>
    <p:sldId xmlns:r="http://schemas.openxmlformats.org/officeDocument/2006/relationships" id="275" r:id="R9022357c78ec4a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2e80648c6c4623" /><Relationship Type="http://schemas.openxmlformats.org/officeDocument/2006/relationships/slideMaster" Target="/ppt/slideMasters/slideMaster1.xml" Id="R2c865710350946ad" /><Relationship Type="http://schemas.openxmlformats.org/officeDocument/2006/relationships/notesMaster" Target="/ppt/notesMasters/notesMaster1.xml" Id="Rdc357ce2fbd54e73" /><Relationship Type="http://schemas.openxmlformats.org/officeDocument/2006/relationships/presProps" Target="/ppt/presProps.xml" Id="R9c9db384310c4299" /><Relationship Type="http://schemas.openxmlformats.org/officeDocument/2006/relationships/tableStyles" Target="/ppt/tableStyles.xml" Id="R23365d2f6f194554" /><Relationship Type="http://schemas.openxmlformats.org/officeDocument/2006/relationships/slide" Target="/ppt/slides/slide1.xml" Id="R68c8c20ede544de0" /><Relationship Type="http://schemas.openxmlformats.org/officeDocument/2006/relationships/slide" Target="/ppt/slides/slide2.xml" Id="R5bd5fc43917d4a54" /><Relationship Type="http://schemas.openxmlformats.org/officeDocument/2006/relationships/slide" Target="/ppt/slides/slide3.xml" Id="R19494f22eb024fcc" /><Relationship Type="http://schemas.openxmlformats.org/officeDocument/2006/relationships/slide" Target="/ppt/slides/slide4.xml" Id="Rd85dce4ab761417b" /><Relationship Type="http://schemas.openxmlformats.org/officeDocument/2006/relationships/slide" Target="/ppt/slides/slide5.xml" Id="R4d5884d348024471" /><Relationship Type="http://schemas.openxmlformats.org/officeDocument/2006/relationships/slide" Target="/ppt/slides/slide6.xml" Id="Rd87fbbe6211d431f" /><Relationship Type="http://schemas.openxmlformats.org/officeDocument/2006/relationships/slide" Target="/ppt/slides/slide7.xml" Id="R9a8a240453fc4e02" /><Relationship Type="http://schemas.openxmlformats.org/officeDocument/2006/relationships/slide" Target="/ppt/slides/slide8.xml" Id="R8a480a3b8e7644a2" /><Relationship Type="http://schemas.openxmlformats.org/officeDocument/2006/relationships/slide" Target="/ppt/slides/slide9.xml" Id="Rd21a8af3c43441ac" /><Relationship Type="http://schemas.openxmlformats.org/officeDocument/2006/relationships/slide" Target="/ppt/slides/slide10.xml" Id="R02be53378a494497" /><Relationship Type="http://schemas.openxmlformats.org/officeDocument/2006/relationships/slide" Target="/ppt/slides/slide11.xml" Id="Ra5a9f863bff3417e" /><Relationship Type="http://schemas.openxmlformats.org/officeDocument/2006/relationships/slide" Target="/ppt/slides/slide12.xml" Id="R5a87713654644886" /><Relationship Type="http://schemas.openxmlformats.org/officeDocument/2006/relationships/slide" Target="/ppt/slides/slide13.xml" Id="R5eb6a1e8368e4622" /><Relationship Type="http://schemas.openxmlformats.org/officeDocument/2006/relationships/slide" Target="/ppt/slides/slide14.xml" Id="R5dbc981714b544cd" /><Relationship Type="http://schemas.openxmlformats.org/officeDocument/2006/relationships/slide" Target="/ppt/slides/slide15.xml" Id="R5ed02fded67048eb" /><Relationship Type="http://schemas.openxmlformats.org/officeDocument/2006/relationships/slide" Target="/ppt/slides/slide16.xml" Id="R132d8cf489ce413f" /><Relationship Type="http://schemas.openxmlformats.org/officeDocument/2006/relationships/slide" Target="/ppt/slides/slide17.xml" Id="Rb349c7a349674052" /><Relationship Type="http://schemas.openxmlformats.org/officeDocument/2006/relationships/slide" Target="/ppt/slides/slide18.xml" Id="R735a757a6ccf40e3" /><Relationship Type="http://schemas.openxmlformats.org/officeDocument/2006/relationships/slide" Target="/ppt/slides/slide19.xml" Id="Re60b406d9bda4b0a" /><Relationship Type="http://schemas.openxmlformats.org/officeDocument/2006/relationships/slide" Target="/ppt/slides/slide20.xml" Id="R9022357c78ec4a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e75f9bde8e45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c71f3daa3c409c" /><Relationship Type="http://schemas.openxmlformats.org/officeDocument/2006/relationships/notesMaster" Target="/ppt/notesMasters/notesMaster1.xml" Id="R5efb594650654d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6f088e36474f69" /><Relationship Type="http://schemas.openxmlformats.org/officeDocument/2006/relationships/notesMaster" Target="/ppt/notesMasters/notesMaster1.xml" Id="R7cfe8800d07a44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1bb2416894437c" /><Relationship Type="http://schemas.openxmlformats.org/officeDocument/2006/relationships/notesMaster" Target="/ppt/notesMasters/notesMaster1.xml" Id="R4485e27e068b42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e11d65c85f4936" /><Relationship Type="http://schemas.openxmlformats.org/officeDocument/2006/relationships/notesMaster" Target="/ppt/notesMasters/notesMaster1.xml" Id="R4347d3b85e8b4c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2add0d42444c24" /><Relationship Type="http://schemas.openxmlformats.org/officeDocument/2006/relationships/notesMaster" Target="/ppt/notesMasters/notesMaster1.xml" Id="R431877799a9f41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067f31a6ca44dd" /><Relationship Type="http://schemas.openxmlformats.org/officeDocument/2006/relationships/notesMaster" Target="/ppt/notesMasters/notesMaster1.xml" Id="R3b1bed8556de4f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0a6adf75e94b7b" /><Relationship Type="http://schemas.openxmlformats.org/officeDocument/2006/relationships/notesMaster" Target="/ppt/notesMasters/notesMaster1.xml" Id="R60af8c6f5ead4e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ba50026b704c8a" /><Relationship Type="http://schemas.openxmlformats.org/officeDocument/2006/relationships/notesMaster" Target="/ppt/notesMasters/notesMaster1.xml" Id="Rdf78dd2fca344d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1d21fd62cc466d" /><Relationship Type="http://schemas.openxmlformats.org/officeDocument/2006/relationships/notesMaster" Target="/ppt/notesMasters/notesMaster1.xml" Id="R6ccf3c54f61743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dd926c61fa4bab" /><Relationship Type="http://schemas.openxmlformats.org/officeDocument/2006/relationships/notesMaster" Target="/ppt/notesMasters/notesMaster1.xml" Id="Re07bb38f648d40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a910dc73d9451f" /><Relationship Type="http://schemas.openxmlformats.org/officeDocument/2006/relationships/notesMaster" Target="/ppt/notesMasters/notesMaster1.xml" Id="R81057cdea5104a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9dd0f5cca34a81" /><Relationship Type="http://schemas.openxmlformats.org/officeDocument/2006/relationships/notesMaster" Target="/ppt/notesMasters/notesMaster1.xml" Id="Rb81a957c60934a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a59edc010545b3" /><Relationship Type="http://schemas.openxmlformats.org/officeDocument/2006/relationships/notesMaster" Target="/ppt/notesMasters/notesMaster1.xml" Id="Re933a2fc1c1641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7ade6a2b294b1b" /><Relationship Type="http://schemas.openxmlformats.org/officeDocument/2006/relationships/notesMaster" Target="/ppt/notesMasters/notesMaster1.xml" Id="R2d41e1d8de8b45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ee31e9cec34a54" /><Relationship Type="http://schemas.openxmlformats.org/officeDocument/2006/relationships/notesMaster" Target="/ppt/notesMasters/notesMaster1.xml" Id="Re85b9143118a45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6a58d91eed48c4" /><Relationship Type="http://schemas.openxmlformats.org/officeDocument/2006/relationships/notesMaster" Target="/ppt/notesMasters/notesMaster1.xml" Id="R3fce49b3402540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61ad92282e4a08" /><Relationship Type="http://schemas.openxmlformats.org/officeDocument/2006/relationships/notesMaster" Target="/ppt/notesMasters/notesMaster1.xml" Id="Rb3f824ac56b94b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b0a18d88244500" /><Relationship Type="http://schemas.openxmlformats.org/officeDocument/2006/relationships/notesMaster" Target="/ppt/notesMasters/notesMaster1.xml" Id="Re3af32cea2d341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342fc75559a447c" /><Relationship Type="http://schemas.openxmlformats.org/officeDocument/2006/relationships/notesMaster" Target="/ppt/notesMasters/notesMaster1.xml" Id="R9c01aa87d2b349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679a073827441c" /><Relationship Type="http://schemas.openxmlformats.org/officeDocument/2006/relationships/notesMaster" Target="/ppt/notesMasters/notesMaster1.xml" Id="Re7d5c21bc9f840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建议用时：40秒</a:t>
            </a:r>
          </a:p>
          <a:p xmlns:a="http://schemas.openxmlformats.org/drawingml/2006/main">
            <a:r>
              <a:t>各位老师、同学好。我们展示的是青序量化研究平台。这次项目有两个相互联系的成果：一是可以实际使用的研究工作台，二是通过这个工作台得到并保留完整证据的策略。大家等会儿会看到如何比较策略、解释回撤、检查一笔订单，以及保存一个实验。当前策略在固定历史区间内扣费后超过沪深三百，但它经过了历史结果筛选，所以我们会把结果和局限一起讲清楚。今天的顺序是先介绍数据和研究方法，再解释策略结果，最后直接操作平台。演示结束后，报告、源码和每页讲稿都能对应到同一份证据。</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建议用时：50秒</a:t>
            </a:r>
          </a:p>
          <a:p xmlns:a="http://schemas.openxmlformats.org/drawingml/2006/main">
            <a:r>
              <a:t>我们先把作业要求理解为一条完整研究流程。数据要知道从哪里来，因子要有定义和信息时点，回测要把费用与成交约束落实到每一笔交易，最后还要解释因子是否有效。课程要求至少三个因子，我们保留原来的基础因子，又加入十二个有经济含义的研究因子。扩展部分选择中性化、风险控制和外部研究工具接入。界面增强也围绕具体动作展开，例如比较一个新假设，或者追踪一次没有成交的订单。评分应当根据这些实际实现与证据判断，不能因为净值图上涨，就忽略数据泄漏和工程正确性。接下来先看这些功能共用的架构。</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建议用时：60秒</a:t>
            </a:r>
          </a:p>
          <a:p xmlns:a="http://schemas.openxmlformats.org/drawingml/2006/main">
            <a:r>
              <a:t>平台在架构上把四件事分开。数据层处理行情、财报与交易日，因子和模型层输出股票分数，组合层把分数转成目标权重，成交层才决定实际买卖了多少。这种分离让我们可以把动量换成树模型，却不必重新实现一套现金会计。命令行、回测界面和报告都使用同一个核心。新增的策略对比与风险透镜直接读取公开日账本，因此没有原始数据的同学，也能离线复核结果。需要重新训练或按股票检查行情时，才使用本机私有快照。这样既减少了维护成本，也能明确哪些按钮是在查看证据，哪些按钮真的产生了新的实验。</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建议用时：55秒</a:t>
            </a:r>
          </a:p>
          <a:p xmlns:a="http://schemas.openxmlformats.org/drawingml/2006/main">
            <a:r>
              <a:t>目前行情快照包含一千只股票，一百六十五万多条日线，覆盖一千六百九十个交易日。股票池在二零一九年末固定，因此不是把今天还上市的股票直接套回过去；但它也没有包括后来的新股，仍有明确的选择偏差。财报只有在公告之后才进入特征，历史行业也按有效区间匹配。我们记录缺失网格，不凭空补出可以交易的价格。原始快照和研究缓存总量约一点六三GB，新增小规模接入证据单独保存。公开仓库提供来源、哈希、聚合账本与复现方法，账号凭据和厂商原始数据不随源码发布。数据量只是基础，时点正确才决定研究能否成立。</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建议用时：65秒</a:t>
            </a:r>
          </a:p>
          <a:p xmlns:a="http://schemas.openxmlformats.org/drawingml/2006/main">
            <a:r>
              <a:t>这十二个因子覆盖趋势、短期反转、低风险、量价、价值、分红和盈利质量。例如盈利收益率把估值转成收益尺度，低波动因子描述过去价格风险，跳月动量避开最近一个月的短期反转。这些因子不是彼此独立的十二条信息，低波动和低振幅就可能高度相关。我们用每日横截面IC和分组结果检查它们，而不是只看最后哪条曲线最好。界面里可以选一个因子，查看定义、指定区间的覆盖率和有效样本，也能对照十二个因子的Rank IC。因子诊断所用的远期标签不能回流成当天的交易依据，这条时间边界在后面的模型训练中同样适用。</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建议用时：75秒</a:t>
            </a:r>
          </a:p>
          <a:p xmlns:a="http://schemas.openxmlformats.org/drawingml/2006/main">
            <a:r>
              <a:t>模型每年更新一次，只使用形成日前三年的可见数据。训练目标不是简单预测涨跌，而是预测股票未来二十个交易日收益在当日横截面中的相对排名。最容易出错的地方是标签边界：即使特征日期早于新年，二十日收益也可能还没有实现，所以必须要求标签退出日严格早于模型形成日。特征处理也按日进行，先截尾和标准化，再回归当时的行业与对数市值得到中性化残差。树模型同时看到原始风格和相对风格。我们选择受限深度的LightGBM，并保留Ridge和小型神经网络对照，因为更复杂的模型不自动代表更好的策略，更不自动解决信息泄漏。</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建议用时：70秒</a:t>
            </a:r>
          </a:p>
          <a:p xmlns:a="http://schemas.openxmlformats.org/drawingml/2006/main">
            <a:r>
              <a:t>有了分数以后，我们选择五十只股票，并通过排名缓冲降低不必要的换手。组合允许现金，最高股票预算是百分之九十五；单股和行业目标分别不超过百分之四和百分之二十五。目标年化波动为百分之二十，风险估计较高时缩减仓位，沪深三百低于一百二十日均线时，再把预算乘零点七五。交易采用收盘形成信号、最早下一开盘执行，买卖费用分别为十和十五个基点。涨跌停、缺价、现金不足与过去成交额决定能否完成交易，未成交的部分不收费。这些约束都是形成时和模拟执行时的规则，之后价格会变化，所以目标权重和回撤门槛都不是未来风险的硬保证。</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建议用时：80秒</a:t>
            </a:r>
          </a:p>
          <a:p xmlns:a="http://schemas.openxmlformats.org/drawingml/2006/main">
            <a:r>
              <a:t>这页是策略研究最需要如实说明的部分。原始动量累计亏损百分之八十三点五七，真正把费用设成零重新运行，仍然亏损百分之七十五点一六，因此不能把失败全部归因于手续费。第二版改善了回撤，但收益没有超过指数。第三版限定八个候选，先按二零二三到二零二四年的验证结果预选价值主题，随后发现它在最终区间只赚百分之四点三。当前滚动树模型是在进一步查看历史结果后选出的。稳定仓位树模型收益更高，但验证回撤超过百分之二十五，所以没有作为默认。我们保留这些选择过程，承认最终历史区间已经参与开发，需要未来新数据验证泛化。</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建议用时：65秒</a:t>
            </a:r>
          </a:p>
          <a:p xmlns:a="http://schemas.openxmlformats.org/drawingml/2006/main">
            <a:r>
              <a:t>这张图使用二零二五年一月二日至二零二六年九月十八日相同的四百一十七个交易日。策略已经扣除实际费用，累计收益百分之二十五点一三，最大回撤百分之九点八八。沪深三百价格指数同期收益百分之十四点五五，计入红利再投资的全收益指数是百分之十九点九四。因此，策略分别超过十点五八和五点一九个百分点。这里不能把ETF代理改称全收益指数，也不能混淆百分点差和相对财富增长。为了避免首日亏损被抹掉，策略从期初资金起算，指数从前一交易日收盘起算。平台中的日期切片和策略比较采用完全相同的边界定义。</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建议用时：55秒</a:t>
            </a:r>
          </a:p>
          <a:p xmlns:a="http://schemas.openxmlformats.org/drawingml/2006/main">
            <a:r>
              <a:t>收益结果还需要承受一些简单但实际的扰动。我们把买卖费用同时加倍，完整重跑账本，收益仍为百分之二十二点四八；把信号延迟一日，收益为百分之二十七点三一。延迟结果更好，不代表可以再把它挑成默认参数，否则压力测试又变成一次找冠军。另一个检查从二零二三年开始连续运行，不在每年年初重置资金，累计收益百分之四十四点零九，最大回撤百分之十九点七。但二零二四年仍然落后价格指数七点二八个百分点。这个年份提醒我们，长期累计领先不能被解释为每年都赢。接下来我们用平台工具把这种差异具体拆开。</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建议用时：70秒</a:t>
            </a:r>
          </a:p>
          <a:p xmlns:a="http://schemas.openxmlformats.org/drawingml/2006/main">
            <a:r>
              <a:t>策略对比页解决的是公平比较问题。我们可以同时选择最多五个版本，限定相同日期，再选择价格指数或全收益指数。图表既可以看普通净值，也可以看策略净值除以基准净值后的相对表现。下面的表把收益、回撤、费用和现金比例放在一起，避免只比较一个收益数字。日期改变以后，系统使用所选首日前的净值作为起点，因此不会把首日损失归一掉。需要注意，这里是在切片一条已经运行的持仓路径，并不是从现金重新开仓；如果要改变实际交易参数，应该回到回测实验重新执行。所有图表、统计和计算假设可以一次下载为比较包，方便写报告或与组员核对。</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建议用时：70秒</a:t>
            </a:r>
          </a:p>
          <a:p xmlns:a="http://schemas.openxmlformats.org/drawingml/2006/main">
            <a:r>
              <a:t>风险透镜把一个最大回撤数字拆成可以解释的过程。月收益日历能看出收益集中在哪些月份，回撤表则列出峰值、谷底、恢复日期和持续交易日。尚未恢复的回撤保留为空，不伪装成已经恢复。滚动曲线用最近六十个交易日计算收益与风险，不足窗口时不补值。现金和换手图让我们看到防御仓位以及费用发生在哪些时段。最后还有一个可以动手操作的现金配置实验：把部分初始资金投入策略，其余保持零利息现金，并输入通胀假设查看购买力。它是一种静态资金分配的算术情景，没有重新模拟资金规模对成交容量的影响，也不是新增的交易策略。</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建议用时：60秒</a:t>
            </a:r>
          </a:p>
          <a:p xmlns:a="http://schemas.openxmlformats.org/drawingml/2006/main">
            <a:r>
              <a:t>因子与行情入口可以把抽象模型拉回具体数据。我们可以先选择一个研究因子，阅读它的窗口、字段和方向，再查看形成日的样本覆盖、IC和分组结果。如果一个因子突然没有有效值，就能沿着日期检查价格、成交量或财报缺失，而不是直接把空值当成模型信号。行情页提供K线和成交量查询，方便检查异常价格和某次信号对应的市场背景。公开离线模式下，界面只展示已有的聚合证据；没有本机原始行情时不会伪造K线。这个入口也适合课堂提问，例如老师指定一只股票或一个日期，我们可以现场说明它的数据是否可见、因子是否有效，再讨论预测是否合理。</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建议用时：60秒</a:t>
            </a:r>
          </a:p>
          <a:p xmlns:a="http://schemas.openxmlformats.org/drawingml/2006/main">
            <a:r>
              <a:t>实验档案让每次尝试都有可追溯的上下文。参数重跑会生成新的运行目录，档案页可以打开这次实验，检查实际使用的策略、日期、资金与费用。进一步按股票或订单状态筛选，就能解释一次涨停买不到、缺价估值或者部分成交对账本产生了什么影响。我们还加入本地研究笔记，用来记录这次改变了哪个假设、观察到什么现象、下一步需要验证什么。笔记与实验关联，但不改变历史账本。这样的设计比只保留最终冠军更有用，因为小组后续项目可以沿着旧实验继续工作。课堂演示时，我们会打开一个已完成实验并查看一笔订单，不让大家等待重新训练。</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建议用时：80秒</a:t>
            </a:r>
          </a:p>
          <a:p xmlns:a="http://schemas.openxmlformats.org/drawingml/2006/main">
            <a:r>
              <a:t>老师推荐Qlib，因此我们把它作为可复用的研究组件，而不是只在报告中放一个名字。Qlib 0.9.7在独立环境读取本地转换的数据；20股共33,754条日线，8个基础表达式与独立pandas计算逐项核对。共核对269,554个数值，有限值与缺失位置一致。另实际运行官方Alpha158的158项配置，158项至少有一个有限值，VWAP输入覆盖率100.0%。这属于因子计算和数据接口验证，未训练Qlib交易策略，也未替换现有成交账本。一个外部因子接进来以后，仍然要经过我们自己的信息时点检查、诊断和同区间比较，不能因为来自知名库就直接上线。另一个连接是同花顺。同花顺/SuperMind文件桥已完成：可导出历史权重与代码、导入模拟成交CSV并校验金额、保存本地回执。账号/API未连接，未收到真实账户文件，未提交任何订单；现金流核对不等于盈利。课堂上应当清楚区分三种状态：能导出文件，能调用已授权的数据接口，以及能向交易系统提交订单。这三者不是同一件事。本项目的实证结果仍由本地研究账本产生。</a:t>
            </a:r>
          </a:p>
          <a:p xmlns:a="http://schemas.openxmlformats.org/drawingml/2006/main">
            <a:r>
              <a:t>https://github.com/microsoft/qlib ; 本项目Qlib与连接状态证据；不声称交易接通。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建议用时：100秒</a:t>
            </a:r>
          </a:p>
          <a:p xmlns:a="http://schemas.openxmlformats.org/drawingml/2006/main">
            <a:r>
              <a:t>下面用约两分钟实际操作一次。先看研究总览，确认当前默认版本、数据区间和历史选择边界。进入策略对比，保留V3，再加入V2原预选，并将基准设为全收益指数，大家可以看到两版策略的差异。接着进入风险透镜，修改分析日期，指向月收益和最深回撤，说明这是一段持仓路径的切片。然后打开因子或行情页面，展示一个具体日期的样本。最后进入实验档案，筛选一笔订单，查看成交状态和费用，保存一条带有实验背景的笔记。如果教室网络或现场页面不稳定，我们切换到预先保存的真实截图继续说明；演示不现场下载数据，也不现场等待模型重训。</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建议用时：50秒</a:t>
            </a:r>
          </a:p>
          <a:p xmlns:a="http://schemas.openxmlformats.org/drawingml/2006/main">
            <a:r>
              <a:t>我们用两类检查支持这些功能。第一类验证研究核心，包括订单、费用、现金、持仓和净值的独立重建，第三版共有二十一组研究与压力账本，并在独立环境中复算。第二类验证新增工具容易出错的边界，例如首日损失是否保留，不同策略是否比较相同日期，缺失日是否被偷偷插值，以及未恢复回撤是否被误记成恢复。公开仓库提供真实聚合日账本，所以没有账号也能打开对比与风险页。真正重新训练或者查看逐股行情，则需要本机合法取得的数据。我们提供源码、固定依赖、操作说明和版本号，让下一位同学能够判断自己是在复现哪一个结果。</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建议用时：40秒</a:t>
            </a:r>
          </a:p>
          <a:p xmlns:a="http://schemas.openxmlformats.org/drawingml/2006/main">
            <a:r>
              <a:t>最后回到本项目的目标。我们交付的不只是一个收益数字，而是能够继续研究的平台：可以输入新信号，按统一规则回测，公平比较版本，解释风险，再把证据留给下一次实验。当前策略在这段历史上超过价格指数和全收益指数，但我们没有删除原始亏损、预选失败和落后年份。它仍然存在固定股票池、厂商历史修订以及成交近似的限制，历史重选也意味着还不能宣称独立盲测成功。下一步最有价值的工作是冻结当前规则，持续积累未见过的新数据，然后按相同标准检查。以上就是我们的展示，谢谢各位老师和同学，欢迎针对因子、账本和平台操作提问。</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建议用时：0秒</a:t>
            </a:r>
          </a:p>
          <a:p xmlns:a="http://schemas.openxmlformats.org/drawingml/2006/main">
            <a:r>
              <a:t>如果老师追问统计公式，可以用这一页说明。区间第一天收益不是零，而是第一天收盘净值与前一日净值或初始资金的比值。最大回撤的高水位也包含初始资金，因此一开始就亏损不会被遗漏。年化波动采用样本标准差乘根号二百五十二，下行偏差把正收益日记为零，但分母仍然是全部观察日。月度收益由日收益复利得到，首尾不足一个月会明确显示。因子二十日远期标签存在重叠，它适合诊断排序关系，不能直接连乘当作真实投资净值。</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建议用时：0秒</a:t>
            </a:r>
          </a:p>
          <a:p xmlns:a="http://schemas.openxmlformats.org/drawingml/2006/main">
            <a:r>
              <a:t>如果问为什么没有按最初建议使用CNN，我们的回答是，表格因子列没有天然空间邻接，先用线性模型、受限树模型和小型MLP比较更合理。如果问为什么没有选收益最高的稳定树模型，是因为它的验证回撤超过了事先保留的风险门槛。如果问现金实验是否就是一个新策略，需要说明它只是资金缩放情景，改变交易规模仍然需要重新回测。最后，Qlib数据表达式接入、同花顺文件桥和真正的交易授权必须分别回答，以最终运行证据为准，不能把准备好的接口说成已经接通的交易账户。</a:t>
            </a:r>
          </a:p>
          <a:p xmlns:a="http://schemas.openxmlformats.org/drawingml/2006/main">
            <a:r>
              <a:t>来源：本项目 evidence/research_v3、platform_v4；数据与假设见最终报告。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ca799d1e5d45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e4d59c874c4ed0" /><Relationship Type="http://schemas.openxmlformats.org/officeDocument/2006/relationships/slideLayout" Target="/ppt/slideLayouts/slideLayout1.xml" Id="R90b853d7bf5547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b853d7bf5547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6ab0f203f24617" /><Relationship Type="http://schemas.openxmlformats.org/officeDocument/2006/relationships/notesSlide" Target="/ppt/notesSlides/notesSlide1.xml" Id="Rd980308d887247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d890878919454c" /><Relationship Type="http://schemas.openxmlformats.org/officeDocument/2006/relationships/notesSlide" Target="/ppt/notesSlides/notesSlide2.xml" Id="Rfc0ada89c93242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4e886573a74f4c" /><Relationship Type="http://schemas.openxmlformats.org/officeDocument/2006/relationships/notesSlide" Target="/ppt/notesSlides/notesSlide3.xml" Id="R83edf1101eca4f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a1d439e85a474b" /><Relationship Type="http://schemas.openxmlformats.org/officeDocument/2006/relationships/notesSlide" Target="/ppt/notesSlides/notesSlide4.xml" Id="R33a8b4ec80ce4a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c8a44afe904d8b" /><Relationship Type="http://schemas.openxmlformats.org/officeDocument/2006/relationships/notesSlide" Target="/ppt/notesSlides/notesSlide5.xml" Id="Rbe2815d1e67249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c9cffdd06647fd" /><Relationship Type="http://schemas.openxmlformats.org/officeDocument/2006/relationships/notesSlide" Target="/ppt/notesSlides/notesSlide6.xml" Id="R2f3bddd176174c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7ca3377f5047bc" /><Relationship Type="http://schemas.openxmlformats.org/officeDocument/2006/relationships/notesSlide" Target="/ppt/notesSlides/notesSlide7.xml" Id="R2f8dcc55868341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84307c441645a2" /><Relationship Type="http://schemas.openxmlformats.org/officeDocument/2006/relationships/notesSlide" Target="/ppt/notesSlides/notesSlide8.xml" Id="R42bc252aa1f24b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ffb53fdbc9426a" /><Relationship Type="http://schemas.openxmlformats.org/officeDocument/2006/relationships/chart" Target="/ppt/slides/charts/chart1.xml" Id="Rf008e077979e43d2" /><Relationship Type="http://schemas.openxmlformats.org/officeDocument/2006/relationships/notesSlide" Target="/ppt/notesSlides/notesSlide9.xml" Id="R3d7f99038a0e4a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7daf810279468d" /><Relationship Type="http://schemas.openxmlformats.org/officeDocument/2006/relationships/chart" Target="/ppt/slides/charts/chart2.xml" Id="Rf69430de14a646ea" /><Relationship Type="http://schemas.openxmlformats.org/officeDocument/2006/relationships/notesSlide" Target="/ppt/notesSlides/notesSlide10.xml" Id="R6e512e4e3a924b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c10a2ddbfd4ecb" /><Relationship Type="http://schemas.openxmlformats.org/officeDocument/2006/relationships/image" Target="/ppt/media/image.png" Id="Rd4cee6c7e6ef4ad8" /><Relationship Type="http://schemas.openxmlformats.org/officeDocument/2006/relationships/notesSlide" Target="/ppt/notesSlides/notesSlide11.xml" Id="R26d387666cb24a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07612100aa41cf" /><Relationship Type="http://schemas.openxmlformats.org/officeDocument/2006/relationships/image" Target="/ppt/media/image2.png" Id="R54c0c0c3d171463b" /><Relationship Type="http://schemas.openxmlformats.org/officeDocument/2006/relationships/notesSlide" Target="/ppt/notesSlides/notesSlide12.xml" Id="Rd4fe5f94436d4a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8bd005b2b643a8" /><Relationship Type="http://schemas.openxmlformats.org/officeDocument/2006/relationships/notesSlide" Target="/ppt/notesSlides/notesSlide13.xml" Id="R9a1557a4771447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376a3732c74215" /><Relationship Type="http://schemas.openxmlformats.org/officeDocument/2006/relationships/image" Target="/ppt/media/image3.png" Id="R7a382f13ab8c4176" /><Relationship Type="http://schemas.openxmlformats.org/officeDocument/2006/relationships/notesSlide" Target="/ppt/notesSlides/notesSlide14.xml" Id="R5800d937dce046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b0c37c538e4152" /><Relationship Type="http://schemas.openxmlformats.org/officeDocument/2006/relationships/notesSlide" Target="/ppt/notesSlides/notesSlide15.xml" Id="R208a9411612e40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8690daba3742c1" /><Relationship Type="http://schemas.openxmlformats.org/officeDocument/2006/relationships/notesSlide" Target="/ppt/notesSlides/notesSlide16.xml" Id="R6bee0f45090f43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a4546943a3e402c" /><Relationship Type="http://schemas.openxmlformats.org/officeDocument/2006/relationships/notesSlide" Target="/ppt/notesSlides/notesSlide17.xml" Id="Rf3f17b30bd174e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99d92c04e3b4275" /><Relationship Type="http://schemas.openxmlformats.org/officeDocument/2006/relationships/notesSlide" Target="/ppt/notesSlides/notesSlide18.xml" Id="Rc8893c36ccdf47b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bd29c0bbe8240f9" /><Relationship Type="http://schemas.openxmlformats.org/officeDocument/2006/relationships/notesSlide" Target="/ppt/notesSlides/notesSlide19.xml" Id="R84ec5f8a1965471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93e430f44704fff" /><Relationship Type="http://schemas.openxmlformats.org/officeDocument/2006/relationships/notesSlide" Target="/ppt/notesSlides/notesSlide20.xml" Id="R1af9b176c1f54d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V3最新候选 · 扣费</c:v>
          </c:tx>
          <c:spPr>
            <a:solidFill xmlns:a="http://schemas.openxmlformats.org/drawingml/2006/main">
              <a:srgbClr val="168579"/>
            </a:solidFill>
            <a:ln xmlns:a="http://schemas.openxmlformats.org/drawingml/2006/main" w="21908">
              <a:solidFill>
                <a:srgbClr val="168579"/>
              </a:solidFill>
            </a:ln>
          </c:spPr>
          <c:marker>
            <c:symbol val="none"/>
          </c:marker>
          <c:cat>
            <c:strRef>
              <c:f>'Chart Data'!$A$2:$A$86</c:f>
              <c:strCache>
                <c:ptCount val="85"/>
                <c:pt idx="0">
                  <c:v>2025-01-02</c:v>
                </c:pt>
                <c:pt idx="1">
                  <c:v>2025-01-09</c:v>
                </c:pt>
                <c:pt idx="2">
                  <c:v>2025-01-16</c:v>
                </c:pt>
                <c:pt idx="3">
                  <c:v>2025-01-23</c:v>
                </c:pt>
                <c:pt idx="4">
                  <c:v>2025-02-07</c:v>
                </c:pt>
                <c:pt idx="5">
                  <c:v>2025-02-14</c:v>
                </c:pt>
                <c:pt idx="6">
                  <c:v>2025-02-21</c:v>
                </c:pt>
                <c:pt idx="7">
                  <c:v>2025-02-28</c:v>
                </c:pt>
                <c:pt idx="8">
                  <c:v>2025-03-07</c:v>
                </c:pt>
                <c:pt idx="9">
                  <c:v>2025-03-14</c:v>
                </c:pt>
                <c:pt idx="10">
                  <c:v>2025-03-21</c:v>
                </c:pt>
                <c:pt idx="11">
                  <c:v>2025-03-28</c:v>
                </c:pt>
                <c:pt idx="12">
                  <c:v>2025-04-07</c:v>
                </c:pt>
                <c:pt idx="13">
                  <c:v>2025-04-14</c:v>
                </c:pt>
                <c:pt idx="14">
                  <c:v>2025-04-21</c:v>
                </c:pt>
                <c:pt idx="15">
                  <c:v>2025-04-28</c:v>
                </c:pt>
                <c:pt idx="16">
                  <c:v>2025-05-08</c:v>
                </c:pt>
                <c:pt idx="17">
                  <c:v>2025-05-15</c:v>
                </c:pt>
                <c:pt idx="18">
                  <c:v>2025-05-22</c:v>
                </c:pt>
                <c:pt idx="19">
                  <c:v>2025-05-29</c:v>
                </c:pt>
                <c:pt idx="20">
                  <c:v>2025-06-06</c:v>
                </c:pt>
                <c:pt idx="21">
                  <c:v>2025-06-13</c:v>
                </c:pt>
                <c:pt idx="22">
                  <c:v>2025-06-20</c:v>
                </c:pt>
                <c:pt idx="23">
                  <c:v>2025-06-27</c:v>
                </c:pt>
                <c:pt idx="24">
                  <c:v>2025-07-04</c:v>
                </c:pt>
                <c:pt idx="25">
                  <c:v>2025-07-11</c:v>
                </c:pt>
                <c:pt idx="26">
                  <c:v>2025-07-18</c:v>
                </c:pt>
                <c:pt idx="27">
                  <c:v>2025-07-25</c:v>
                </c:pt>
                <c:pt idx="28">
                  <c:v>2025-08-01</c:v>
                </c:pt>
                <c:pt idx="29">
                  <c:v>2025-08-08</c:v>
                </c:pt>
                <c:pt idx="30">
                  <c:v>2025-08-15</c:v>
                </c:pt>
                <c:pt idx="31">
                  <c:v>2025-08-22</c:v>
                </c:pt>
                <c:pt idx="32">
                  <c:v>2025-08-29</c:v>
                </c:pt>
                <c:pt idx="33">
                  <c:v>2025-09-05</c:v>
                </c:pt>
                <c:pt idx="34">
                  <c:v>2025-09-12</c:v>
                </c:pt>
                <c:pt idx="35">
                  <c:v>2025-09-19</c:v>
                </c:pt>
                <c:pt idx="36">
                  <c:v>2025-09-26</c:v>
                </c:pt>
                <c:pt idx="37">
                  <c:v>2025-10-13</c:v>
                </c:pt>
                <c:pt idx="38">
                  <c:v>2025-10-20</c:v>
                </c:pt>
                <c:pt idx="39">
                  <c:v>2025-10-27</c:v>
                </c:pt>
                <c:pt idx="40">
                  <c:v>2025-11-03</c:v>
                </c:pt>
                <c:pt idx="41">
                  <c:v>2025-11-10</c:v>
                </c:pt>
                <c:pt idx="42">
                  <c:v>2025-11-17</c:v>
                </c:pt>
                <c:pt idx="43">
                  <c:v>2025-11-24</c:v>
                </c:pt>
                <c:pt idx="44">
                  <c:v>2025-12-01</c:v>
                </c:pt>
                <c:pt idx="45">
                  <c:v>2025-12-08</c:v>
                </c:pt>
                <c:pt idx="46">
                  <c:v>2025-12-15</c:v>
                </c:pt>
                <c:pt idx="47">
                  <c:v>2025-12-22</c:v>
                </c:pt>
                <c:pt idx="48">
                  <c:v>2025-12-29</c:v>
                </c:pt>
                <c:pt idx="49">
                  <c:v>2026-01-07</c:v>
                </c:pt>
                <c:pt idx="50">
                  <c:v>2026-01-14</c:v>
                </c:pt>
                <c:pt idx="51">
                  <c:v>2026-01-21</c:v>
                </c:pt>
                <c:pt idx="52">
                  <c:v>2026-01-28</c:v>
                </c:pt>
                <c:pt idx="53">
                  <c:v>2026-02-04</c:v>
                </c:pt>
                <c:pt idx="54">
                  <c:v>2026-02-11</c:v>
                </c:pt>
                <c:pt idx="55">
                  <c:v>2026-02-26</c:v>
                </c:pt>
                <c:pt idx="56">
                  <c:v>2026-03-05</c:v>
                </c:pt>
                <c:pt idx="57">
                  <c:v>2026-03-12</c:v>
                </c:pt>
                <c:pt idx="58">
                  <c:v>2026-03-19</c:v>
                </c:pt>
                <c:pt idx="59">
                  <c:v>2026-03-26</c:v>
                </c:pt>
                <c:pt idx="60">
                  <c:v>2026-04-02</c:v>
                </c:pt>
                <c:pt idx="61">
                  <c:v>2026-04-10</c:v>
                </c:pt>
                <c:pt idx="62">
                  <c:v>2026-04-17</c:v>
                </c:pt>
                <c:pt idx="63">
                  <c:v>2026-04-24</c:v>
                </c:pt>
                <c:pt idx="64">
                  <c:v>2026-05-06</c:v>
                </c:pt>
                <c:pt idx="65">
                  <c:v>2026-05-13</c:v>
                </c:pt>
                <c:pt idx="66">
                  <c:v>2026-05-20</c:v>
                </c:pt>
                <c:pt idx="67">
                  <c:v>2026-05-27</c:v>
                </c:pt>
                <c:pt idx="68">
                  <c:v>2026-06-03</c:v>
                </c:pt>
                <c:pt idx="69">
                  <c:v>2026-06-10</c:v>
                </c:pt>
                <c:pt idx="70">
                  <c:v>2026-06-17</c:v>
                </c:pt>
                <c:pt idx="71">
                  <c:v>2026-06-25</c:v>
                </c:pt>
                <c:pt idx="72">
                  <c:v>2026-07-02</c:v>
                </c:pt>
                <c:pt idx="73">
                  <c:v>2026-07-09</c:v>
                </c:pt>
                <c:pt idx="74">
                  <c:v>2026-07-16</c:v>
                </c:pt>
                <c:pt idx="75">
                  <c:v>2026-07-23</c:v>
                </c:pt>
                <c:pt idx="76">
                  <c:v>2026-07-30</c:v>
                </c:pt>
                <c:pt idx="77">
                  <c:v>2026-08-06</c:v>
                </c:pt>
                <c:pt idx="78">
                  <c:v>2026-08-13</c:v>
                </c:pt>
                <c:pt idx="79">
                  <c:v>2026-08-20</c:v>
                </c:pt>
                <c:pt idx="80">
                  <c:v>2026-08-27</c:v>
                </c:pt>
                <c:pt idx="81">
                  <c:v>2026-09-03</c:v>
                </c:pt>
                <c:pt idx="82">
                  <c:v>2026-09-10</c:v>
                </c:pt>
                <c:pt idx="83">
                  <c:v>2026-09-17</c:v>
                </c:pt>
                <c:pt idx="84">
                  <c:v>2026-09-18</c:v>
                </c:pt>
              </c:strCache>
            </c:strRef>
          </c:cat>
          <c:val>
            <c:numRef>
              <c:f>'Chart Data'!$B$2:$B$86</c:f>
              <c:numCache>
                <c:formatCode>0.0000</c:formatCode>
                <c:ptCount val="85"/>
                <c:pt idx="0">
                  <c:v>0.98532674</c:v>
                </c:pt>
                <c:pt idx="1">
                  <c:v>0.97330441</c:v>
                </c:pt>
                <c:pt idx="2">
                  <c:v>0.98020265</c:v>
                </c:pt>
                <c:pt idx="3">
                  <c:v>0.97518409</c:v>
                </c:pt>
                <c:pt idx="4">
                  <c:v>0.99276481</c:v>
                </c:pt>
                <c:pt idx="5">
                  <c:v>0.99760328</c:v>
                </c:pt>
                <c:pt idx="6">
                  <c:v>0.99981594</c:v>
                </c:pt>
                <c:pt idx="7">
                  <c:v>0.99803008</c:v>
                </c:pt>
                <c:pt idx="8">
                  <c:v>1.00723001</c:v>
                </c:pt>
                <c:pt idx="9">
                  <c:v>1.02334943</c:v>
                </c:pt>
                <c:pt idx="10">
                  <c:v>1.02720781</c:v>
                </c:pt>
                <c:pt idx="11">
                  <c:v>1.02205694</c:v>
                </c:pt>
                <c:pt idx="12">
                  <c:v>0.98596316</c:v>
                </c:pt>
                <c:pt idx="13">
                  <c:v>1.01091845</c:v>
                </c:pt>
                <c:pt idx="14">
                  <c:v>1.02534758</c:v>
                </c:pt>
                <c:pt idx="15">
                  <c:v>1.03425685</c:v>
                </c:pt>
                <c:pt idx="16">
                  <c:v>1.0444768</c:v>
                </c:pt>
                <c:pt idx="17">
                  <c:v>1.05209353</c:v>
                </c:pt>
                <c:pt idx="18">
                  <c:v>1.05338034</c:v>
                </c:pt>
                <c:pt idx="19">
                  <c:v>1.05438228</c:v>
                </c:pt>
                <c:pt idx="20">
                  <c:v>1.06588753</c:v>
                </c:pt>
                <c:pt idx="21">
                  <c:v>1.06355673</c:v>
                </c:pt>
                <c:pt idx="22">
                  <c:v>1.06579566</c:v>
                </c:pt>
                <c:pt idx="23">
                  <c:v>1.08574781</c:v>
                </c:pt>
                <c:pt idx="24">
                  <c:v>1.10535267</c:v>
                </c:pt>
                <c:pt idx="25">
                  <c:v>1.12126503</c:v>
                </c:pt>
                <c:pt idx="26">
                  <c:v>1.12841937</c:v>
                </c:pt>
                <c:pt idx="27">
                  <c:v>1.15972658</c:v>
                </c:pt>
                <c:pt idx="28">
                  <c:v>1.14433346</c:v>
                </c:pt>
                <c:pt idx="29">
                  <c:v>1.16691964</c:v>
                </c:pt>
                <c:pt idx="30">
                  <c:v>1.16083549</c:v>
                </c:pt>
                <c:pt idx="31">
                  <c:v>1.18925012</c:v>
                </c:pt>
                <c:pt idx="32">
                  <c:v>1.17245847</c:v>
                </c:pt>
                <c:pt idx="33">
                  <c:v>1.1693518</c:v>
                </c:pt>
                <c:pt idx="34">
                  <c:v>1.18737855</c:v>
                </c:pt>
                <c:pt idx="35">
                  <c:v>1.16619626</c:v>
                </c:pt>
                <c:pt idx="36">
                  <c:v>1.16489491</c:v>
                </c:pt>
                <c:pt idx="37">
                  <c:v>1.17897701</c:v>
                </c:pt>
                <c:pt idx="38">
                  <c:v>1.20708726</c:v>
                </c:pt>
                <c:pt idx="39">
                  <c:v>1.22334408</c:v>
                </c:pt>
                <c:pt idx="40">
                  <c:v>1.2333428</c:v>
                </c:pt>
                <c:pt idx="41">
                  <c:v>1.26041902</c:v>
                </c:pt>
                <c:pt idx="42">
                  <c:v>1.26405703</c:v>
                </c:pt>
                <c:pt idx="43">
                  <c:v>1.21438449</c:v>
                </c:pt>
                <c:pt idx="44">
                  <c:v>1.24041381</c:v>
                </c:pt>
                <c:pt idx="45">
                  <c:v>1.24074335</c:v>
                </c:pt>
                <c:pt idx="46">
                  <c:v>1.21705076</c:v>
                </c:pt>
                <c:pt idx="47">
                  <c:v>1.22757456</c:v>
                </c:pt>
                <c:pt idx="48">
                  <c:v>1.2244653</c:v>
                </c:pt>
                <c:pt idx="49">
                  <c:v>1.22968865</c:v>
                </c:pt>
                <c:pt idx="50">
                  <c:v>1.24159761</c:v>
                </c:pt>
                <c:pt idx="51">
                  <c:v>1.24503474</c:v>
                </c:pt>
                <c:pt idx="52">
                  <c:v>1.2571575</c:v>
                </c:pt>
                <c:pt idx="53">
                  <c:v>1.26802637</c:v>
                </c:pt>
                <c:pt idx="54">
                  <c:v>1.28217049</c:v>
                </c:pt>
                <c:pt idx="55">
                  <c:v>1.26966761</c:v>
                </c:pt>
                <c:pt idx="56">
                  <c:v>1.25231195</c:v>
                </c:pt>
                <c:pt idx="57">
                  <c:v>1.2696152</c:v>
                </c:pt>
                <c:pt idx="58">
                  <c:v>1.26069954</c:v>
                </c:pt>
                <c:pt idx="59">
                  <c:v>1.23828234</c:v>
                </c:pt>
                <c:pt idx="60">
                  <c:v>1.24931063</c:v>
                </c:pt>
                <c:pt idx="61">
                  <c:v>1.25070414</c:v>
                </c:pt>
                <c:pt idx="62">
                  <c:v>1.25739419</c:v>
                </c:pt>
                <c:pt idx="63">
                  <c:v>1.2590223</c:v>
                </c:pt>
                <c:pt idx="64">
                  <c:v>1.26694234</c:v>
                </c:pt>
                <c:pt idx="65">
                  <c:v>1.26441397</c:v>
                </c:pt>
                <c:pt idx="66">
                  <c:v>1.24518334</c:v>
                </c:pt>
                <c:pt idx="67">
                  <c:v>1.22432968</c:v>
                </c:pt>
                <c:pt idx="68">
                  <c:v>1.21932435</c:v>
                </c:pt>
                <c:pt idx="69">
                  <c:v>1.21187945</c:v>
                </c:pt>
                <c:pt idx="70">
                  <c:v>1.20110079</c:v>
                </c:pt>
                <c:pt idx="71">
                  <c:v>1.18119338</c:v>
                </c:pt>
                <c:pt idx="72">
                  <c:v>1.17903766</c:v>
                </c:pt>
                <c:pt idx="73">
                  <c:v>1.18014287</c:v>
                </c:pt>
                <c:pt idx="74">
                  <c:v>1.22139191</c:v>
                </c:pt>
                <c:pt idx="75">
                  <c:v>1.21007367</c:v>
                </c:pt>
                <c:pt idx="76">
                  <c:v>1.24360844</c:v>
                </c:pt>
                <c:pt idx="77">
                  <c:v>1.23540885</c:v>
                </c:pt>
                <c:pt idx="78">
                  <c:v>1.23405915</c:v>
                </c:pt>
                <c:pt idx="79">
                  <c:v>1.24181998</c:v>
                </c:pt>
                <c:pt idx="80">
                  <c:v>1.25057951</c:v>
                </c:pt>
                <c:pt idx="81">
                  <c:v>1.26622042</c:v>
                </c:pt>
                <c:pt idx="82">
                  <c:v>1.27395301</c:v>
                </c:pt>
                <c:pt idx="83">
                  <c:v>1.24875977</c:v>
                </c:pt>
                <c:pt idx="84">
                  <c:v>1.25128794</c:v>
                </c:pt>
              </c:numCache>
            </c:numRef>
          </c:val>
          <c:smooth val="0"/>
        </c:ser>
        <c:ser>
          <c:idx val="1"/>
          <c:order val="1"/>
          <c:tx>
            <c:v>沪深300 · 价格指数</c:v>
          </c:tx>
          <c:spPr>
            <a:solidFill xmlns:a="http://schemas.openxmlformats.org/drawingml/2006/main">
              <a:srgbClr val="4265A6"/>
            </a:solidFill>
            <a:ln xmlns:a="http://schemas.openxmlformats.org/drawingml/2006/main" w="21908">
              <a:solidFill>
                <a:srgbClr val="4265A6"/>
              </a:solidFill>
            </a:ln>
          </c:spPr>
          <c:marker>
            <c:symbol val="none"/>
          </c:marker>
          <c:cat>
            <c:strRef>
              <c:f>'Chart Data'!$C$2:$C$86</c:f>
              <c:strCache>
                <c:ptCount val="85"/>
                <c:pt idx="0">
                  <c:v>2025-01-02</c:v>
                </c:pt>
                <c:pt idx="1">
                  <c:v>2025-01-09</c:v>
                </c:pt>
                <c:pt idx="2">
                  <c:v>2025-01-16</c:v>
                </c:pt>
                <c:pt idx="3">
                  <c:v>2025-01-23</c:v>
                </c:pt>
                <c:pt idx="4">
                  <c:v>2025-02-07</c:v>
                </c:pt>
                <c:pt idx="5">
                  <c:v>2025-02-14</c:v>
                </c:pt>
                <c:pt idx="6">
                  <c:v>2025-02-21</c:v>
                </c:pt>
                <c:pt idx="7">
                  <c:v>2025-02-28</c:v>
                </c:pt>
                <c:pt idx="8">
                  <c:v>2025-03-07</c:v>
                </c:pt>
                <c:pt idx="9">
                  <c:v>2025-03-14</c:v>
                </c:pt>
                <c:pt idx="10">
                  <c:v>2025-03-21</c:v>
                </c:pt>
                <c:pt idx="11">
                  <c:v>2025-03-28</c:v>
                </c:pt>
                <c:pt idx="12">
                  <c:v>2025-04-07</c:v>
                </c:pt>
                <c:pt idx="13">
                  <c:v>2025-04-14</c:v>
                </c:pt>
                <c:pt idx="14">
                  <c:v>2025-04-21</c:v>
                </c:pt>
                <c:pt idx="15">
                  <c:v>2025-04-28</c:v>
                </c:pt>
                <c:pt idx="16">
                  <c:v>2025-05-08</c:v>
                </c:pt>
                <c:pt idx="17">
                  <c:v>2025-05-15</c:v>
                </c:pt>
                <c:pt idx="18">
                  <c:v>2025-05-22</c:v>
                </c:pt>
                <c:pt idx="19">
                  <c:v>2025-05-29</c:v>
                </c:pt>
                <c:pt idx="20">
                  <c:v>2025-06-06</c:v>
                </c:pt>
                <c:pt idx="21">
                  <c:v>2025-06-13</c:v>
                </c:pt>
                <c:pt idx="22">
                  <c:v>2025-06-20</c:v>
                </c:pt>
                <c:pt idx="23">
                  <c:v>2025-06-27</c:v>
                </c:pt>
                <c:pt idx="24">
                  <c:v>2025-07-04</c:v>
                </c:pt>
                <c:pt idx="25">
                  <c:v>2025-07-11</c:v>
                </c:pt>
                <c:pt idx="26">
                  <c:v>2025-07-18</c:v>
                </c:pt>
                <c:pt idx="27">
                  <c:v>2025-07-25</c:v>
                </c:pt>
                <c:pt idx="28">
                  <c:v>2025-08-01</c:v>
                </c:pt>
                <c:pt idx="29">
                  <c:v>2025-08-08</c:v>
                </c:pt>
                <c:pt idx="30">
                  <c:v>2025-08-15</c:v>
                </c:pt>
                <c:pt idx="31">
                  <c:v>2025-08-22</c:v>
                </c:pt>
                <c:pt idx="32">
                  <c:v>2025-08-29</c:v>
                </c:pt>
                <c:pt idx="33">
                  <c:v>2025-09-05</c:v>
                </c:pt>
                <c:pt idx="34">
                  <c:v>2025-09-12</c:v>
                </c:pt>
                <c:pt idx="35">
                  <c:v>2025-09-19</c:v>
                </c:pt>
                <c:pt idx="36">
                  <c:v>2025-09-26</c:v>
                </c:pt>
                <c:pt idx="37">
                  <c:v>2025-10-13</c:v>
                </c:pt>
                <c:pt idx="38">
                  <c:v>2025-10-20</c:v>
                </c:pt>
                <c:pt idx="39">
                  <c:v>2025-10-27</c:v>
                </c:pt>
                <c:pt idx="40">
                  <c:v>2025-11-03</c:v>
                </c:pt>
                <c:pt idx="41">
                  <c:v>2025-11-10</c:v>
                </c:pt>
                <c:pt idx="42">
                  <c:v>2025-11-17</c:v>
                </c:pt>
                <c:pt idx="43">
                  <c:v>2025-11-24</c:v>
                </c:pt>
                <c:pt idx="44">
                  <c:v>2025-12-01</c:v>
                </c:pt>
                <c:pt idx="45">
                  <c:v>2025-12-08</c:v>
                </c:pt>
                <c:pt idx="46">
                  <c:v>2025-12-15</c:v>
                </c:pt>
                <c:pt idx="47">
                  <c:v>2025-12-22</c:v>
                </c:pt>
                <c:pt idx="48">
                  <c:v>2025-12-29</c:v>
                </c:pt>
                <c:pt idx="49">
                  <c:v>2026-01-07</c:v>
                </c:pt>
                <c:pt idx="50">
                  <c:v>2026-01-14</c:v>
                </c:pt>
                <c:pt idx="51">
                  <c:v>2026-01-21</c:v>
                </c:pt>
                <c:pt idx="52">
                  <c:v>2026-01-28</c:v>
                </c:pt>
                <c:pt idx="53">
                  <c:v>2026-02-04</c:v>
                </c:pt>
                <c:pt idx="54">
                  <c:v>2026-02-11</c:v>
                </c:pt>
                <c:pt idx="55">
                  <c:v>2026-02-26</c:v>
                </c:pt>
                <c:pt idx="56">
                  <c:v>2026-03-05</c:v>
                </c:pt>
                <c:pt idx="57">
                  <c:v>2026-03-12</c:v>
                </c:pt>
                <c:pt idx="58">
                  <c:v>2026-03-19</c:v>
                </c:pt>
                <c:pt idx="59">
                  <c:v>2026-03-26</c:v>
                </c:pt>
                <c:pt idx="60">
                  <c:v>2026-04-02</c:v>
                </c:pt>
                <c:pt idx="61">
                  <c:v>2026-04-10</c:v>
                </c:pt>
                <c:pt idx="62">
                  <c:v>2026-04-17</c:v>
                </c:pt>
                <c:pt idx="63">
                  <c:v>2026-04-24</c:v>
                </c:pt>
                <c:pt idx="64">
                  <c:v>2026-05-06</c:v>
                </c:pt>
                <c:pt idx="65">
                  <c:v>2026-05-13</c:v>
                </c:pt>
                <c:pt idx="66">
                  <c:v>2026-05-20</c:v>
                </c:pt>
                <c:pt idx="67">
                  <c:v>2026-05-27</c:v>
                </c:pt>
                <c:pt idx="68">
                  <c:v>2026-06-03</c:v>
                </c:pt>
                <c:pt idx="69">
                  <c:v>2026-06-10</c:v>
                </c:pt>
                <c:pt idx="70">
                  <c:v>2026-06-17</c:v>
                </c:pt>
                <c:pt idx="71">
                  <c:v>2026-06-25</c:v>
                </c:pt>
                <c:pt idx="72">
                  <c:v>2026-07-02</c:v>
                </c:pt>
                <c:pt idx="73">
                  <c:v>2026-07-09</c:v>
                </c:pt>
                <c:pt idx="74">
                  <c:v>2026-07-16</c:v>
                </c:pt>
                <c:pt idx="75">
                  <c:v>2026-07-23</c:v>
                </c:pt>
                <c:pt idx="76">
                  <c:v>2026-07-30</c:v>
                </c:pt>
                <c:pt idx="77">
                  <c:v>2026-08-06</c:v>
                </c:pt>
                <c:pt idx="78">
                  <c:v>2026-08-13</c:v>
                </c:pt>
                <c:pt idx="79">
                  <c:v>2026-08-20</c:v>
                </c:pt>
                <c:pt idx="80">
                  <c:v>2026-08-27</c:v>
                </c:pt>
                <c:pt idx="81">
                  <c:v>2026-09-03</c:v>
                </c:pt>
                <c:pt idx="82">
                  <c:v>2026-09-10</c:v>
                </c:pt>
                <c:pt idx="83">
                  <c:v>2026-09-17</c:v>
                </c:pt>
                <c:pt idx="84">
                  <c:v>2026-09-18</c:v>
                </c:pt>
              </c:strCache>
            </c:strRef>
          </c:cat>
          <c:val>
            <c:numRef>
              <c:f>'Chart Data'!$D$2:$D$86</c:f>
              <c:numCache>
                <c:formatCode>0.0000</c:formatCode>
                <c:ptCount val="85"/>
                <c:pt idx="0">
                  <c:v>0.97089751</c:v>
                </c:pt>
                <c:pt idx="1">
                  <c:v>0.96060048</c:v>
                </c:pt>
                <c:pt idx="2">
                  <c:v>0.96581186</c:v>
                </c:pt>
                <c:pt idx="3">
                  <c:v>0.96666583</c:v>
                </c:pt>
                <c:pt idx="4">
                  <c:v>0.98927343</c:v>
                </c:pt>
                <c:pt idx="5">
                  <c:v>1.00104135</c:v>
                </c:pt>
                <c:pt idx="6">
                  <c:v>1.0110633</c:v>
                </c:pt>
                <c:pt idx="7">
                  <c:v>0.98859893</c:v>
                </c:pt>
                <c:pt idx="8">
                  <c:v>1.0023135</c:v>
                </c:pt>
                <c:pt idx="9">
                  <c:v>1.01820773</c:v>
                </c:pt>
                <c:pt idx="10">
                  <c:v>0.99486258</c:v>
                </c:pt>
                <c:pt idx="11">
                  <c:v>0.99498217</c:v>
                </c:pt>
                <c:pt idx="12">
                  <c:v>0.91220378</c:v>
                </c:pt>
                <c:pt idx="13">
                  <c:v>0.95533096</c:v>
                </c:pt>
                <c:pt idx="14">
                  <c:v>0.961872</c:v>
                </c:pt>
                <c:pt idx="15">
                  <c:v>0.96104306</c:v>
                </c:pt>
                <c:pt idx="16">
                  <c:v>0.97915719</c:v>
                </c:pt>
                <c:pt idx="17">
                  <c:v>0.99295748</c:v>
                </c:pt>
                <c:pt idx="18">
                  <c:v>0.99465152</c:v>
                </c:pt>
                <c:pt idx="19">
                  <c:v>0.98063206</c:v>
                </c:pt>
                <c:pt idx="20">
                  <c:v>0.98451635</c:v>
                </c:pt>
                <c:pt idx="21">
                  <c:v>0.98202534</c:v>
                </c:pt>
                <c:pt idx="22">
                  <c:v>0.97756834</c:v>
                </c:pt>
                <c:pt idx="23">
                  <c:v>0.99665733</c:v>
                </c:pt>
                <c:pt idx="24">
                  <c:v>1.0120187</c:v>
                </c:pt>
                <c:pt idx="25">
                  <c:v>1.02030442</c:v>
                </c:pt>
                <c:pt idx="26">
                  <c:v>1.03142071</c:v>
                </c:pt>
                <c:pt idx="27">
                  <c:v>1.04885816</c:v>
                </c:pt>
                <c:pt idx="28">
                  <c:v>1.03050074</c:v>
                </c:pt>
                <c:pt idx="29">
                  <c:v>1.04321724</c:v>
                </c:pt>
                <c:pt idx="30">
                  <c:v>1.06796657</c:v>
                </c:pt>
                <c:pt idx="31">
                  <c:v>1.11260402</c:v>
                </c:pt>
                <c:pt idx="32">
                  <c:v>1.14278549</c:v>
                </c:pt>
                <c:pt idx="33">
                  <c:v>1.13352628</c:v>
                </c:pt>
                <c:pt idx="34">
                  <c:v>1.14919959</c:v>
                </c:pt>
                <c:pt idx="35">
                  <c:v>1.14409693</c:v>
                </c:pt>
                <c:pt idx="36">
                  <c:v>1.15632827</c:v>
                </c:pt>
                <c:pt idx="37">
                  <c:v>1.16749238</c:v>
                </c:pt>
                <c:pt idx="38">
                  <c:v>1.1533222</c:v>
                </c:pt>
                <c:pt idx="39">
                  <c:v>1.19850709</c:v>
                </c:pt>
                <c:pt idx="40">
                  <c:v>1.1825942</c:v>
                </c:pt>
                <c:pt idx="41">
                  <c:v>1.1931784</c:v>
                </c:pt>
                <c:pt idx="42">
                  <c:v>1.16852773</c:v>
                </c:pt>
                <c:pt idx="43">
                  <c:v>1.13040623</c:v>
                </c:pt>
                <c:pt idx="44">
                  <c:v>1.16304682</c:v>
                </c:pt>
                <c:pt idx="45">
                  <c:v>1.17455125</c:v>
                </c:pt>
                <c:pt idx="46">
                  <c:v>1.15683931</c:v>
                </c:pt>
                <c:pt idx="47">
                  <c:v>1.1719766</c:v>
                </c:pt>
                <c:pt idx="48">
                  <c:v>1.1790285</c:v>
                </c:pt>
                <c:pt idx="49">
                  <c:v>1.21391968</c:v>
                </c:pt>
                <c:pt idx="50">
                  <c:v>1.20509224</c:v>
                </c:pt>
                <c:pt idx="51">
                  <c:v>1.20029889</c:v>
                </c:pt>
                <c:pt idx="52">
                  <c:v>1.19900845</c:v>
                </c:pt>
                <c:pt idx="53">
                  <c:v>1.19410155</c:v>
                </c:pt>
                <c:pt idx="54">
                  <c:v>1.19794796</c:v>
                </c:pt>
                <c:pt idx="55">
                  <c:v>1.2012658</c:v>
                </c:pt>
                <c:pt idx="56">
                  <c:v>1.18114291</c:v>
                </c:pt>
                <c:pt idx="57">
                  <c:v>1.19127478</c:v>
                </c:pt>
                <c:pt idx="58">
                  <c:v>1.16476617</c:v>
                </c:pt>
                <c:pt idx="59">
                  <c:v>1.13789979</c:v>
                </c:pt>
                <c:pt idx="60">
                  <c:v>1.13825045</c:v>
                </c:pt>
                <c:pt idx="61">
                  <c:v>1.17831524</c:v>
                </c:pt>
                <c:pt idx="62">
                  <c:v>1.20172266</c:v>
                </c:pt>
                <c:pt idx="63">
                  <c:v>1.21206526</c:v>
                </c:pt>
                <c:pt idx="64">
                  <c:v>1.23944184</c:v>
                </c:pt>
                <c:pt idx="65">
                  <c:v>1.27025537</c:v>
                </c:pt>
                <c:pt idx="66">
                  <c:v>1.23273439</c:v>
                </c:pt>
                <c:pt idx="67">
                  <c:v>1.24733991</c:v>
                </c:pt>
                <c:pt idx="68">
                  <c:v>1.25512603</c:v>
                </c:pt>
                <c:pt idx="69">
                  <c:v>1.20678544</c:v>
                </c:pt>
                <c:pt idx="70">
                  <c:v>1.25323958</c:v>
                </c:pt>
                <c:pt idx="71">
                  <c:v>1.27578589</c:v>
                </c:pt>
                <c:pt idx="72">
                  <c:v>1.2229745</c:v>
                </c:pt>
                <c:pt idx="73">
                  <c:v>1.23924343</c:v>
                </c:pt>
                <c:pt idx="74">
                  <c:v>1.19403832</c:v>
                </c:pt>
                <c:pt idx="75">
                  <c:v>1.20155244</c:v>
                </c:pt>
                <c:pt idx="76">
                  <c:v>1.15624476</c:v>
                </c:pt>
                <c:pt idx="77">
                  <c:v>1.18206229</c:v>
                </c:pt>
                <c:pt idx="78">
                  <c:v>1.18527494</c:v>
                </c:pt>
                <c:pt idx="79">
                  <c:v>1.16718028</c:v>
                </c:pt>
                <c:pt idx="80">
                  <c:v>1.17671711</c:v>
                </c:pt>
                <c:pt idx="81">
                  <c:v>1.15697115</c:v>
                </c:pt>
                <c:pt idx="82">
                  <c:v>1.15590668</c:v>
                </c:pt>
                <c:pt idx="83">
                  <c:v>1.13348328</c:v>
                </c:pt>
                <c:pt idx="84">
                  <c:v>1.14548784</c:v>
                </c:pt>
              </c:numCache>
            </c:numRef>
          </c:val>
          <c:smooth val="0"/>
        </c:ser>
        <c:ser>
          <c:idx val="2"/>
          <c:order val="2"/>
          <c:tx>
            <c:v>沪深300 · 全收益指数</c:v>
          </c:tx>
          <c:spPr>
            <a:solidFill xmlns:a="http://schemas.openxmlformats.org/drawingml/2006/main">
              <a:srgbClr val="8C99A6"/>
            </a:solidFill>
            <a:ln xmlns:a="http://schemas.openxmlformats.org/drawingml/2006/main" w="21908">
              <a:solidFill>
                <a:srgbClr val="8C99A6"/>
              </a:solidFill>
            </a:ln>
          </c:spPr>
          <c:marker>
            <c:symbol val="none"/>
          </c:marker>
          <c:cat>
            <c:strRef>
              <c:f>'Chart Data'!$E$2:$E$86</c:f>
              <c:strCache>
                <c:ptCount val="85"/>
                <c:pt idx="0">
                  <c:v>2025-01-02</c:v>
                </c:pt>
                <c:pt idx="1">
                  <c:v>2025-01-09</c:v>
                </c:pt>
                <c:pt idx="2">
                  <c:v>2025-01-16</c:v>
                </c:pt>
                <c:pt idx="3">
                  <c:v>2025-01-23</c:v>
                </c:pt>
                <c:pt idx="4">
                  <c:v>2025-02-07</c:v>
                </c:pt>
                <c:pt idx="5">
                  <c:v>2025-02-14</c:v>
                </c:pt>
                <c:pt idx="6">
                  <c:v>2025-02-21</c:v>
                </c:pt>
                <c:pt idx="7">
                  <c:v>2025-02-28</c:v>
                </c:pt>
                <c:pt idx="8">
                  <c:v>2025-03-07</c:v>
                </c:pt>
                <c:pt idx="9">
                  <c:v>2025-03-14</c:v>
                </c:pt>
                <c:pt idx="10">
                  <c:v>2025-03-21</c:v>
                </c:pt>
                <c:pt idx="11">
                  <c:v>2025-03-28</c:v>
                </c:pt>
                <c:pt idx="12">
                  <c:v>2025-04-07</c:v>
                </c:pt>
                <c:pt idx="13">
                  <c:v>2025-04-14</c:v>
                </c:pt>
                <c:pt idx="14">
                  <c:v>2025-04-21</c:v>
                </c:pt>
                <c:pt idx="15">
                  <c:v>2025-04-28</c:v>
                </c:pt>
                <c:pt idx="16">
                  <c:v>2025-05-08</c:v>
                </c:pt>
                <c:pt idx="17">
                  <c:v>2025-05-15</c:v>
                </c:pt>
                <c:pt idx="18">
                  <c:v>2025-05-22</c:v>
                </c:pt>
                <c:pt idx="19">
                  <c:v>2025-05-29</c:v>
                </c:pt>
                <c:pt idx="20">
                  <c:v>2025-06-06</c:v>
                </c:pt>
                <c:pt idx="21">
                  <c:v>2025-06-13</c:v>
                </c:pt>
                <c:pt idx="22">
                  <c:v>2025-06-20</c:v>
                </c:pt>
                <c:pt idx="23">
                  <c:v>2025-06-27</c:v>
                </c:pt>
                <c:pt idx="24">
                  <c:v>2025-07-04</c:v>
                </c:pt>
                <c:pt idx="25">
                  <c:v>2025-07-11</c:v>
                </c:pt>
                <c:pt idx="26">
                  <c:v>2025-07-18</c:v>
                </c:pt>
                <c:pt idx="27">
                  <c:v>2025-07-25</c:v>
                </c:pt>
                <c:pt idx="28">
                  <c:v>2025-08-01</c:v>
                </c:pt>
                <c:pt idx="29">
                  <c:v>2025-08-08</c:v>
                </c:pt>
                <c:pt idx="30">
                  <c:v>2025-08-15</c:v>
                </c:pt>
                <c:pt idx="31">
                  <c:v>2025-08-22</c:v>
                </c:pt>
                <c:pt idx="32">
                  <c:v>2025-08-29</c:v>
                </c:pt>
                <c:pt idx="33">
                  <c:v>2025-09-05</c:v>
                </c:pt>
                <c:pt idx="34">
                  <c:v>2025-09-12</c:v>
                </c:pt>
                <c:pt idx="35">
                  <c:v>2025-09-19</c:v>
                </c:pt>
                <c:pt idx="36">
                  <c:v>2025-09-26</c:v>
                </c:pt>
                <c:pt idx="37">
                  <c:v>2025-10-13</c:v>
                </c:pt>
                <c:pt idx="38">
                  <c:v>2025-10-20</c:v>
                </c:pt>
                <c:pt idx="39">
                  <c:v>2025-10-27</c:v>
                </c:pt>
                <c:pt idx="40">
                  <c:v>2025-11-03</c:v>
                </c:pt>
                <c:pt idx="41">
                  <c:v>2025-11-10</c:v>
                </c:pt>
                <c:pt idx="42">
                  <c:v>2025-11-17</c:v>
                </c:pt>
                <c:pt idx="43">
                  <c:v>2025-11-24</c:v>
                </c:pt>
                <c:pt idx="44">
                  <c:v>2025-12-01</c:v>
                </c:pt>
                <c:pt idx="45">
                  <c:v>2025-12-08</c:v>
                </c:pt>
                <c:pt idx="46">
                  <c:v>2025-12-15</c:v>
                </c:pt>
                <c:pt idx="47">
                  <c:v>2025-12-22</c:v>
                </c:pt>
                <c:pt idx="48">
                  <c:v>2025-12-29</c:v>
                </c:pt>
                <c:pt idx="49">
                  <c:v>2026-01-07</c:v>
                </c:pt>
                <c:pt idx="50">
                  <c:v>2026-01-14</c:v>
                </c:pt>
                <c:pt idx="51">
                  <c:v>2026-01-21</c:v>
                </c:pt>
                <c:pt idx="52">
                  <c:v>2026-01-28</c:v>
                </c:pt>
                <c:pt idx="53">
                  <c:v>2026-02-04</c:v>
                </c:pt>
                <c:pt idx="54">
                  <c:v>2026-02-11</c:v>
                </c:pt>
                <c:pt idx="55">
                  <c:v>2026-02-26</c:v>
                </c:pt>
                <c:pt idx="56">
                  <c:v>2026-03-05</c:v>
                </c:pt>
                <c:pt idx="57">
                  <c:v>2026-03-12</c:v>
                </c:pt>
                <c:pt idx="58">
                  <c:v>2026-03-19</c:v>
                </c:pt>
                <c:pt idx="59">
                  <c:v>2026-03-26</c:v>
                </c:pt>
                <c:pt idx="60">
                  <c:v>2026-04-02</c:v>
                </c:pt>
                <c:pt idx="61">
                  <c:v>2026-04-10</c:v>
                </c:pt>
                <c:pt idx="62">
                  <c:v>2026-04-17</c:v>
                </c:pt>
                <c:pt idx="63">
                  <c:v>2026-04-24</c:v>
                </c:pt>
                <c:pt idx="64">
                  <c:v>2026-05-06</c:v>
                </c:pt>
                <c:pt idx="65">
                  <c:v>2026-05-13</c:v>
                </c:pt>
                <c:pt idx="66">
                  <c:v>2026-05-20</c:v>
                </c:pt>
                <c:pt idx="67">
                  <c:v>2026-05-27</c:v>
                </c:pt>
                <c:pt idx="68">
                  <c:v>2026-06-03</c:v>
                </c:pt>
                <c:pt idx="69">
                  <c:v>2026-06-10</c:v>
                </c:pt>
                <c:pt idx="70">
                  <c:v>2026-06-17</c:v>
                </c:pt>
                <c:pt idx="71">
                  <c:v>2026-06-25</c:v>
                </c:pt>
                <c:pt idx="72">
                  <c:v>2026-07-02</c:v>
                </c:pt>
                <c:pt idx="73">
                  <c:v>2026-07-09</c:v>
                </c:pt>
                <c:pt idx="74">
                  <c:v>2026-07-16</c:v>
                </c:pt>
                <c:pt idx="75">
                  <c:v>2026-07-23</c:v>
                </c:pt>
                <c:pt idx="76">
                  <c:v>2026-07-30</c:v>
                </c:pt>
                <c:pt idx="77">
                  <c:v>2026-08-06</c:v>
                </c:pt>
                <c:pt idx="78">
                  <c:v>2026-08-13</c:v>
                </c:pt>
                <c:pt idx="79">
                  <c:v>2026-08-20</c:v>
                </c:pt>
                <c:pt idx="80">
                  <c:v>2026-08-27</c:v>
                </c:pt>
                <c:pt idx="81">
                  <c:v>2026-09-03</c:v>
                </c:pt>
                <c:pt idx="82">
                  <c:v>2026-09-10</c:v>
                </c:pt>
                <c:pt idx="83">
                  <c:v>2026-09-17</c:v>
                </c:pt>
                <c:pt idx="84">
                  <c:v>2026-09-18</c:v>
                </c:pt>
              </c:strCache>
            </c:strRef>
          </c:cat>
          <c:val>
            <c:numRef>
              <c:f>'Chart Data'!$F$2:$F$86</c:f>
              <c:numCache>
                <c:formatCode>0.0000</c:formatCode>
                <c:ptCount val="85"/>
                <c:pt idx="0">
                  <c:v>0.97089751</c:v>
                </c:pt>
                <c:pt idx="1">
                  <c:v>0.96111221</c:v>
                </c:pt>
                <c:pt idx="2">
                  <c:v>0.96662344</c:v>
                </c:pt>
                <c:pt idx="3">
                  <c:v>0.96813161</c:v>
                </c:pt>
                <c:pt idx="4">
                  <c:v>0.99146122</c:v>
                </c:pt>
                <c:pt idx="5">
                  <c:v>1.00325517</c:v>
                </c:pt>
                <c:pt idx="6">
                  <c:v>1.01329928</c:v>
                </c:pt>
                <c:pt idx="7">
                  <c:v>0.99078524</c:v>
                </c:pt>
                <c:pt idx="8">
                  <c:v>1.00453013</c:v>
                </c:pt>
                <c:pt idx="9">
                  <c:v>1.02045952</c:v>
                </c:pt>
                <c:pt idx="10">
                  <c:v>0.99706272</c:v>
                </c:pt>
                <c:pt idx="11">
                  <c:v>0.99721377</c:v>
                </c:pt>
                <c:pt idx="12">
                  <c:v>0.91433003</c:v>
                </c:pt>
                <c:pt idx="13">
                  <c:v>0.95755775</c:v>
                </c:pt>
                <c:pt idx="14">
                  <c:v>0.96451933</c:v>
                </c:pt>
                <c:pt idx="15">
                  <c:v>0.96439262</c:v>
                </c:pt>
                <c:pt idx="16">
                  <c:v>0.98279978</c:v>
                </c:pt>
                <c:pt idx="17">
                  <c:v>0.99732737</c:v>
                </c:pt>
                <c:pt idx="18">
                  <c:v>0.99952678</c:v>
                </c:pt>
                <c:pt idx="19">
                  <c:v>0.9857741</c:v>
                </c:pt>
                <c:pt idx="20">
                  <c:v>0.99059818</c:v>
                </c:pt>
                <c:pt idx="21">
                  <c:v>0.99015746</c:v>
                </c:pt>
                <c:pt idx="22">
                  <c:v>0.98707903</c:v>
                </c:pt>
                <c:pt idx="23">
                  <c:v>1.00908871</c:v>
                </c:pt>
                <c:pt idx="24">
                  <c:v>1.02582116</c:v>
                </c:pt>
                <c:pt idx="25">
                  <c:v>1.03680708</c:v>
                </c:pt>
                <c:pt idx="26">
                  <c:v>1.0510994</c:v>
                </c:pt>
                <c:pt idx="27">
                  <c:v>1.06973468</c:v>
                </c:pt>
                <c:pt idx="28">
                  <c:v>1.05167628</c:v>
                </c:pt>
                <c:pt idx="29">
                  <c:v>1.06507376</c:v>
                </c:pt>
                <c:pt idx="30">
                  <c:v>1.09064987</c:v>
                </c:pt>
                <c:pt idx="31">
                  <c:v>1.1367311</c:v>
                </c:pt>
                <c:pt idx="32">
                  <c:v>1.1681938</c:v>
                </c:pt>
                <c:pt idx="33">
                  <c:v>1.15905405</c:v>
                </c:pt>
                <c:pt idx="34">
                  <c:v>1.17525916</c:v>
                </c:pt>
                <c:pt idx="35">
                  <c:v>1.17046991</c:v>
                </c:pt>
                <c:pt idx="36">
                  <c:v>1.18330535</c:v>
                </c:pt>
                <c:pt idx="37">
                  <c:v>1.19517155</c:v>
                </c:pt>
                <c:pt idx="38">
                  <c:v>1.18150465</c:v>
                </c:pt>
                <c:pt idx="39">
                  <c:v>1.22886887</c:v>
                </c:pt>
                <c:pt idx="40">
                  <c:v>1.21284629</c:v>
                </c:pt>
                <c:pt idx="41">
                  <c:v>1.22395082</c:v>
                </c:pt>
                <c:pt idx="42">
                  <c:v>1.19876077</c:v>
                </c:pt>
                <c:pt idx="43">
                  <c:v>1.16011484</c:v>
                </c:pt>
                <c:pt idx="44">
                  <c:v>1.1936869</c:v>
                </c:pt>
                <c:pt idx="45">
                  <c:v>1.20549683</c:v>
                </c:pt>
                <c:pt idx="46">
                  <c:v>1.18803386</c:v>
                </c:pt>
                <c:pt idx="47">
                  <c:v>1.20478484</c:v>
                </c:pt>
                <c:pt idx="48">
                  <c:v>1.21230125</c:v>
                </c:pt>
                <c:pt idx="49">
                  <c:v>1.24818975</c:v>
                </c:pt>
                <c:pt idx="50">
                  <c:v>1.23950313</c:v>
                </c:pt>
                <c:pt idx="51">
                  <c:v>1.23526148</c:v>
                </c:pt>
                <c:pt idx="52">
                  <c:v>1.2342293</c:v>
                </c:pt>
                <c:pt idx="53">
                  <c:v>1.22926793</c:v>
                </c:pt>
                <c:pt idx="54">
                  <c:v>1.23398535</c:v>
                </c:pt>
                <c:pt idx="55">
                  <c:v>1.23756584</c:v>
                </c:pt>
                <c:pt idx="56">
                  <c:v>1.21683488</c:v>
                </c:pt>
                <c:pt idx="57">
                  <c:v>1.22727429</c:v>
                </c:pt>
                <c:pt idx="58">
                  <c:v>1.19996461</c:v>
                </c:pt>
                <c:pt idx="59">
                  <c:v>1.17228636</c:v>
                </c:pt>
                <c:pt idx="60">
                  <c:v>1.1726476</c:v>
                </c:pt>
                <c:pt idx="61">
                  <c:v>1.21399516</c:v>
                </c:pt>
                <c:pt idx="62">
                  <c:v>1.23822621</c:v>
                </c:pt>
                <c:pt idx="63">
                  <c:v>1.24985928</c:v>
                </c:pt>
                <c:pt idx="64">
                  <c:v>1.27833294</c:v>
                </c:pt>
                <c:pt idx="65">
                  <c:v>1.31081166</c:v>
                </c:pt>
                <c:pt idx="66">
                  <c:v>1.27253597</c:v>
                </c:pt>
                <c:pt idx="67">
                  <c:v>1.28824893</c:v>
                </c:pt>
                <c:pt idx="68">
                  <c:v>1.29682414</c:v>
                </c:pt>
                <c:pt idx="69">
                  <c:v>1.2488812</c:v>
                </c:pt>
                <c:pt idx="70">
                  <c:v>1.29826054</c:v>
                </c:pt>
                <c:pt idx="71">
                  <c:v>1.32199537</c:v>
                </c:pt>
                <c:pt idx="72">
                  <c:v>1.2703118</c:v>
                </c:pt>
                <c:pt idx="73">
                  <c:v>1.287772</c:v>
                </c:pt>
                <c:pt idx="74">
                  <c:v>1.24384375</c:v>
                </c:pt>
                <c:pt idx="75">
                  <c:v>1.25283518</c:v>
                </c:pt>
                <c:pt idx="76">
                  <c:v>1.20618937</c:v>
                </c:pt>
                <c:pt idx="77">
                  <c:v>1.23368729</c:v>
                </c:pt>
                <c:pt idx="78">
                  <c:v>1.23787801</c:v>
                </c:pt>
                <c:pt idx="79">
                  <c:v>1.21923485</c:v>
                </c:pt>
                <c:pt idx="80">
                  <c:v>1.2302703</c:v>
                </c:pt>
                <c:pt idx="81">
                  <c:v>1.20986819</c:v>
                </c:pt>
                <c:pt idx="82">
                  <c:v>1.20955697</c:v>
                </c:pt>
                <c:pt idx="83">
                  <c:v>1.18673962</c:v>
                </c:pt>
                <c:pt idx="84">
                  <c:v>1.19938702</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BCC9D3"/>
            </a:solidFill>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icrosoft YaHei"/>
                <a:ea typeface="Microsoft YaHei"/>
                <a:cs typeface="Microsoft YaHei"/>
              </a:defRPr>
            </a:pPr>
          </a:p>
        </c:txPr>
        <c:crossAx val="48672768"/>
      </c:catAx>
      <c:valAx>
        <c:axId val="48672768"/>
        <c:scaling>
          <c:orientation val="minMax"/>
          <c:max val="1.35"/>
          <c:min val="0.85"/>
        </c:scaling>
        <c:delete val="0"/>
        <c:axPos val="l"/>
        <c:majorGridlines>
          <c:spPr>
            <a:ln xmlns:a="http://schemas.openxmlformats.org/drawingml/2006/main" w="9525">
              <a:solidFill>
                <a:srgbClr val="DFE6EC"/>
              </a:solidFill>
            </a:ln>
          </c:spPr>
        </c:majorGridlines>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净收益</c:v>
          </c:tx>
          <c:spPr>
            <a:solidFill xmlns:a="http://schemas.openxmlformats.org/drawingml/2006/main">
              <a:srgbClr val="168579"/>
            </a:solidFill>
            <a:ln xmlns:a="http://schemas.openxmlformats.org/drawingml/2006/main" w="21908">
              <a:solidFill>
                <a:srgbClr val="168579"/>
              </a:solidFill>
            </a:ln>
          </c:spPr>
          <c:cat>
            <c:strRef>
              <c:f>'Chart Data'!$A$2:$A$4</c:f>
              <c:strCache>
                <c:ptCount val="3"/>
                <c:pt idx="0">
                  <c:v>标准费用</c:v>
                </c:pt>
                <c:pt idx="1">
                  <c:v>双倍费用</c:v>
                </c:pt>
                <c:pt idx="2">
                  <c:v>延迟一天</c:v>
                </c:pt>
              </c:strCache>
            </c:strRef>
          </c:cat>
          <c:val>
            <c:numRef>
              <c:f>'Chart Data'!$B$2:$B$4</c:f>
              <c:numCache>
                <c:formatCode>0.00</c:formatCode>
                <c:ptCount val="3"/>
                <c:pt idx="0">
                  <c:v>25.12879392</c:v>
                </c:pt>
                <c:pt idx="1">
                  <c:v>22.47754377</c:v>
                </c:pt>
                <c:pt idx="2">
                  <c:v>27.31222567</c:v>
                </c:pt>
              </c:numCache>
            </c:numRef>
          </c:val>
        </c:ser>
        <c:ser>
          <c:idx val="1"/>
          <c:order val="1"/>
          <c:tx>
            <c:v>最大回撤</c:v>
          </c:tx>
          <c:spPr>
            <a:solidFill xmlns:a="http://schemas.openxmlformats.org/drawingml/2006/main">
              <a:srgbClr val="4265A6"/>
            </a:solidFill>
            <a:ln xmlns:a="http://schemas.openxmlformats.org/drawingml/2006/main" w="21908">
              <a:solidFill>
                <a:srgbClr val="4265A6"/>
              </a:solidFill>
            </a:ln>
          </c:spPr>
          <c:cat>
            <c:strRef>
              <c:f>'Chart Data'!$C$2:$C$4</c:f>
              <c:strCache>
                <c:ptCount val="3"/>
                <c:pt idx="0">
                  <c:v>标准费用</c:v>
                </c:pt>
                <c:pt idx="1">
                  <c:v>双倍费用</c:v>
                </c:pt>
                <c:pt idx="2">
                  <c:v>延迟一天</c:v>
                </c:pt>
              </c:strCache>
            </c:strRef>
          </c:cat>
          <c:val>
            <c:numRef>
              <c:f>'Chart Data'!$D$2:$D$4</c:f>
              <c:numCache>
                <c:formatCode>0.00</c:formatCode>
                <c:ptCount val="3"/>
                <c:pt idx="0">
                  <c:v>9.8846842</c:v>
                </c:pt>
                <c:pt idx="1">
                  <c:v>10.19467121</c:v>
                </c:pt>
                <c:pt idx="2">
                  <c:v>10.66579855</c:v>
                </c:pt>
              </c:numCache>
            </c:numRef>
          </c:val>
        </c:ser>
        <c:dLbls>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CC9D3"/>
            </a:solidFill>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icrosoft YaHei"/>
                <a:ea typeface="Microsoft YaHei"/>
                <a:cs typeface="Microsoft YaHei"/>
              </a:defRPr>
            </a:pPr>
          </a:p>
        </c:txPr>
        <c:crossAx val="48672768"/>
      </c:catAx>
      <c:valAx>
        <c:axId val="48672768"/>
        <c:scaling>
          <c:orientation val="minMax"/>
        </c:scaling>
        <c:delete val="0"/>
        <c:axPos val="l"/>
        <c:majorGridlines>
          <c:spPr>
            <a:ln xmlns:a="http://schemas.openxmlformats.org/drawingml/2006/main" w="9525">
              <a:solidFill>
                <a:srgbClr val="DFE6EC"/>
              </a:solidFill>
            </a:ln>
          </c:spPr>
        </c:majorGridlines>
        <c:numFmt formatCode="0.0&quot;%&quot;"/>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E7975F-8C31-41D8-B548-6B8305D0BF81}"/>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3AD57A-ED3D-4468-98DB-30B661DF8044}"/>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青序量化研究平台</a:t>
            </a:r>
          </a:p>
        </p:txBody>
      </p:sp>
      <p:sp>
        <p:nvSpPr>
          <p:cNvPr id="3" name="">
            <a:extLst xmlns:a="http://schemas.openxmlformats.org/drawingml/2006/main">
              <a:ext uri="{FF2B5EF4-FFF2-40B4-BE49-F238E27FC236}">
                <a16:creationId xmlns:a16="http://schemas.microsoft.com/office/drawing/2014/main" id="{804B2E10-DC03-41F1-B4BA-C7B290A0E439}"/>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9C2A3B-F6D1-42CC-AFFE-6F262A76CC0A}"/>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BF6A7D95-8CFD-426B-8A6E-1B518BA248D3}"/>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 / 20</a:t>
            </a:r>
          </a:p>
        </p:txBody>
      </p:sp>
      <p:sp>
        <p:nvSpPr>
          <p:cNvPr id="6" name="">
            <a:extLst xmlns:a="http://schemas.openxmlformats.org/drawingml/2006/main">
              <a:ext uri="{FF2B5EF4-FFF2-40B4-BE49-F238E27FC236}">
                <a16:creationId xmlns:a16="http://schemas.microsoft.com/office/drawing/2014/main" id="{2AF9D620-4FF9-4E83-8341-A00B1835DAA0}"/>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794FADE-02F8-4093-90AA-263140C5D18B}"/>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3C58EB-F281-4CC8-8C99-80B7A6B2EE23}"/>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可操作的研究工具、完整策略版本与可核验的结果</a:t>
            </a:r>
          </a:p>
        </p:txBody>
      </p:sp>
      <p:sp>
        <p:nvSpPr>
          <p:cNvPr id="9" name="">
            <a:extLst xmlns:a="http://schemas.openxmlformats.org/drawingml/2006/main">
              <a:ext uri="{FF2B5EF4-FFF2-40B4-BE49-F238E27FC236}">
                <a16:creationId xmlns:a16="http://schemas.microsoft.com/office/drawing/2014/main" id="{4D574058-F88C-4C5C-8F1F-C52B8A51192E}"/>
              </a:ext>
            </a:extLst>
          </p:cNvPr>
          <p:cNvSpPr>
            <a:spLocks xmlns:a="http://schemas.openxmlformats.org/drawingml/2006/main" noGrp="1"/>
          </p:cNvSpPr>
          <p:nvPr/>
        </p:nvSpPr>
        <p:spPr>
          <a:xfrm xmlns:a="http://schemas.openxmlformats.org/drawingml/2006/main">
            <a:off x="695325" y="2352675"/>
            <a:ext cx="1057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42B43"/>
                </a:solidFill>
                <a:latin typeface="Microsoft YaHei"/>
                <a:ea typeface="Microsoft YaHei"/>
                <a:cs typeface="Microsoft YaHei"/>
              </a:defRPr>
            </a:pPr>
            <a:r>
              <a:rPr sz="4350" b="1">
                <a:solidFill>
                  <a:srgbClr val="142B43"/>
                </a:solidFill>
                <a:latin typeface="Microsoft YaHei"/>
                <a:ea typeface="Microsoft YaHei"/>
                <a:cs typeface="Microsoft YaHei"/>
              </a:rPr>
              <a:t>可复现的量化研究</a:t>
            </a:r>
          </a:p>
          <a:p xmlns:a="http://schemas.openxmlformats.org/drawingml/2006/main">
            <a:pPr>
              <a:defRPr sz="4350" b="1">
                <a:solidFill>
                  <a:srgbClr val="142B43"/>
                </a:solidFill>
                <a:latin typeface="Microsoft YaHei"/>
                <a:ea typeface="Microsoft YaHei"/>
                <a:cs typeface="Microsoft YaHei"/>
              </a:defRPr>
            </a:pPr>
            <a:r>
              <a:rPr sz="4350" b="1">
                <a:solidFill>
                  <a:srgbClr val="142B43"/>
                </a:solidFill>
                <a:latin typeface="Microsoft YaHei"/>
                <a:ea typeface="Microsoft YaHei"/>
                <a:cs typeface="Microsoft YaHei"/>
              </a:rPr>
              <a:t>与实用工作台</a:t>
            </a:r>
          </a:p>
        </p:txBody>
      </p:sp>
      <p:sp>
        <p:nvSpPr>
          <p:cNvPr id="10" name="">
            <a:extLst xmlns:a="http://schemas.openxmlformats.org/drawingml/2006/main">
              <a:ext uri="{FF2B5EF4-FFF2-40B4-BE49-F238E27FC236}">
                <a16:creationId xmlns:a16="http://schemas.microsoft.com/office/drawing/2014/main" id="{6935A520-1249-43FC-A3A5-ADFBD799FBBF}"/>
              </a:ext>
            </a:extLst>
          </p:cNvPr>
          <p:cNvSpPr>
            <a:spLocks xmlns:a="http://schemas.openxmlformats.org/drawingml/2006/main" noGrp="1"/>
          </p:cNvSpPr>
          <p:nvPr/>
        </p:nvSpPr>
        <p:spPr>
          <a:xfrm xmlns:a="http://schemas.openxmlformats.org/drawingml/2006/main">
            <a:off x="742950" y="4371975"/>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Computational Finance · Project 1</a:t>
            </a:r>
          </a:p>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平台增强版 V4 / release v2.2.0</a:t>
            </a:r>
          </a:p>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1,000只股票 · 12因子 · 历史策略V3</a:t>
            </a:r>
          </a:p>
        </p:txBody>
      </p:sp>
      <p:sp>
        <p:nvSpPr>
          <p:cNvPr id="11" name="">
            <a:extLst xmlns:a="http://schemas.openxmlformats.org/drawingml/2006/main">
              <a:ext uri="{FF2B5EF4-FFF2-40B4-BE49-F238E27FC236}">
                <a16:creationId xmlns:a16="http://schemas.microsoft.com/office/drawing/2014/main" id="{D0753656-95E0-454B-8DF8-522B6BB4AF6B}"/>
              </a:ext>
            </a:extLst>
          </p:cNvPr>
          <p:cNvSpPr>
            <a:spLocks xmlns:a="http://schemas.openxmlformats.org/drawingml/2006/main" noGrp="1"/>
          </p:cNvSpPr>
          <p:nvPr/>
        </p:nvSpPr>
        <p:spPr>
          <a:xfrm xmlns:a="http://schemas.openxmlformats.org/drawingml/2006/main">
            <a:off x="742950" y="59340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8579"/>
                </a:solidFill>
                <a:latin typeface="Microsoft YaHei"/>
                <a:ea typeface="Microsoft YaHei"/>
                <a:cs typeface="Microsoft YaHei"/>
              </a:defRPr>
            </a:pPr>
            <a:r>
              <a:rPr sz="1800" b="0">
                <a:solidFill>
                  <a:srgbClr val="168579"/>
                </a:solidFill>
                <a:latin typeface="Microsoft YaHei"/>
                <a:ea typeface="Microsoft YaHei"/>
                <a:cs typeface="Microsoft YaHei"/>
              </a:rPr>
              <a:t>2026年9月22日   /   20分钟课程展示</a:t>
            </a:r>
          </a:p>
        </p:txBody>
      </p:sp>
    </p:spTree>
    <p:extLst>
      <p:ext uri="{BB962C8B-B14F-4D97-AF65-F5344CB8AC3E}">
        <p14:creationId xmlns:p14="http://schemas.microsoft.com/office/powerpoint/2010/main" val="7193796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BF4A413-283A-450D-BD62-874123E5E64A}"/>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014D28-85E6-452B-96D8-D14BD44DDCD0}"/>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课程要求与交付范围</a:t>
            </a:r>
          </a:p>
        </p:txBody>
      </p:sp>
      <p:sp>
        <p:nvSpPr>
          <p:cNvPr id="3" name="">
            <a:extLst xmlns:a="http://schemas.openxmlformats.org/drawingml/2006/main">
              <a:ext uri="{FF2B5EF4-FFF2-40B4-BE49-F238E27FC236}">
                <a16:creationId xmlns:a16="http://schemas.microsoft.com/office/drawing/2014/main" id="{D20217ED-E747-4CD7-8135-3C0E001174C1}"/>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73DEAD-65CD-4863-A4D8-BA1537CE79D7}"/>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88991D7E-63C9-4FBE-860B-95A8D2EB484B}"/>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2 / 20</a:t>
            </a:r>
          </a:p>
        </p:txBody>
      </p:sp>
      <p:sp>
        <p:nvSpPr>
          <p:cNvPr id="6" name="">
            <a:extLst xmlns:a="http://schemas.openxmlformats.org/drawingml/2006/main">
              <a:ext uri="{FF2B5EF4-FFF2-40B4-BE49-F238E27FC236}">
                <a16:creationId xmlns:a16="http://schemas.microsoft.com/office/drawing/2014/main" id="{9F3F377C-AEEE-4CF4-9CF7-79C7328D9895}"/>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83BF82-066A-4C07-9B13-D06181136800}"/>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047A1C9-1083-4C06-92DE-8EB80AD41A4C}"/>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数据、因子、回测、诊断与复现形成完整工作流程</a:t>
            </a:r>
          </a:p>
        </p:txBody>
      </p:sp>
      <p:sp>
        <p:nvSpPr>
          <p:cNvPr id="9" name="">
            <a:extLst xmlns:a="http://schemas.openxmlformats.org/drawingml/2006/main">
              <a:ext uri="{FF2B5EF4-FFF2-40B4-BE49-F238E27FC236}">
                <a16:creationId xmlns:a16="http://schemas.microsoft.com/office/drawing/2014/main" id="{DF8D4567-EC88-4769-BFCD-765D7461D14C}"/>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C31A75B-6702-449C-BB91-2CB3B3171644}"/>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至少三因子 → 原三因子 + 12因子研究集</a:t>
            </a:r>
          </a:p>
        </p:txBody>
      </p:sp>
      <p:sp>
        <p:nvSpPr>
          <p:cNvPr id="11" name="">
            <a:extLst xmlns:a="http://schemas.openxmlformats.org/drawingml/2006/main">
              <a:ext uri="{FF2B5EF4-FFF2-40B4-BE49-F238E27FC236}">
                <a16:creationId xmlns:a16="http://schemas.microsoft.com/office/drawing/2014/main" id="{DCBB739E-D51C-4316-9550-11FFFF78F417}"/>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544D83E-C88E-4FE9-9997-EAB35495E3B6}"/>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含费用回测 → 订单、成交、现金、持仓与独立核对</a:t>
            </a:r>
          </a:p>
        </p:txBody>
      </p:sp>
      <p:sp>
        <p:nvSpPr>
          <p:cNvPr id="13" name="">
            <a:extLst xmlns:a="http://schemas.openxmlformats.org/drawingml/2006/main">
              <a:ext uri="{FF2B5EF4-FFF2-40B4-BE49-F238E27FC236}">
                <a16:creationId xmlns:a16="http://schemas.microsoft.com/office/drawing/2014/main" id="{78519153-2834-4F73-BB3F-072F6F5274D7}"/>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98B5765-D564-4FA7-9CC5-B8FAE62A157B}"/>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诊断与扩展 → IC、分组、中性化、风险与Qlib</a:t>
            </a:r>
          </a:p>
        </p:txBody>
      </p:sp>
      <p:sp>
        <p:nvSpPr>
          <p:cNvPr id="15" name="">
            <a:extLst xmlns:a="http://schemas.openxmlformats.org/drawingml/2006/main">
              <a:ext uri="{FF2B5EF4-FFF2-40B4-BE49-F238E27FC236}">
                <a16:creationId xmlns:a16="http://schemas.microsoft.com/office/drawing/2014/main" id="{8B561F60-EBA6-4CBB-874D-B40915C140C5}"/>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E1D1A01-F8AD-4AB9-9257-3C8F0EDB18E7}"/>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可交付 → 源码、报告、演示与逐页讲稿</a:t>
            </a:r>
          </a:p>
        </p:txBody>
      </p:sp>
    </p:spTree>
    <p:extLst>
      <p:ext uri="{BB962C8B-B14F-4D97-AF65-F5344CB8AC3E}">
        <p14:creationId xmlns:p14="http://schemas.microsoft.com/office/powerpoint/2010/main" val="14025849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342FBB0-443F-4B8E-8D69-2ECE452B9851}"/>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1FA8D2-0DB1-4F0F-B69E-8A7C3AB182EF}"/>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平台架构</a:t>
            </a:r>
          </a:p>
        </p:txBody>
      </p:sp>
      <p:sp>
        <p:nvSpPr>
          <p:cNvPr id="3" name="">
            <a:extLst xmlns:a="http://schemas.openxmlformats.org/drawingml/2006/main">
              <a:ext uri="{FF2B5EF4-FFF2-40B4-BE49-F238E27FC236}">
                <a16:creationId xmlns:a16="http://schemas.microsoft.com/office/drawing/2014/main" id="{A625C295-083A-4958-AA85-DD9824A81741}"/>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D07A77-3FCA-4450-BFDE-34F17E909881}"/>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8C6023CA-6EF9-426E-B1F7-E04FE03845E8}"/>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3 / 20</a:t>
            </a:r>
          </a:p>
        </p:txBody>
      </p:sp>
      <p:sp>
        <p:nvSpPr>
          <p:cNvPr id="6" name="">
            <a:extLst xmlns:a="http://schemas.openxmlformats.org/drawingml/2006/main">
              <a:ext uri="{FF2B5EF4-FFF2-40B4-BE49-F238E27FC236}">
                <a16:creationId xmlns:a16="http://schemas.microsoft.com/office/drawing/2014/main" id="{B85CDEE0-029F-4593-B526-3507134254A7}"/>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97D6D7C-DD50-476E-A0F3-4BA25AB47C80}"/>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ED511D4-8EEA-4B72-A556-CEA3F4ED50CC}"/>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模型更新时，复用同一套组合与成交账本</a:t>
            </a:r>
          </a:p>
        </p:txBody>
      </p:sp>
      <p:sp>
        <p:nvSpPr>
          <p:cNvPr id="9" name="">
            <a:extLst xmlns:a="http://schemas.openxmlformats.org/drawingml/2006/main">
              <a:ext uri="{FF2B5EF4-FFF2-40B4-BE49-F238E27FC236}">
                <a16:creationId xmlns:a16="http://schemas.microsoft.com/office/drawing/2014/main" id="{8724650E-3672-48C2-BA8E-91DA808B8BBD}"/>
              </a:ext>
            </a:extLst>
          </p:cNvPr>
          <p:cNvSpPr>
            <a:spLocks xmlns:a="http://schemas.openxmlformats.org/drawingml/2006/main" noGrp="1"/>
          </p:cNvSpPr>
          <p:nvPr/>
        </p:nvSpPr>
        <p:spPr>
          <a:xfrm xmlns:a="http://schemas.openxmlformats.org/drawingml/2006/main">
            <a:off x="533400" y="2647950"/>
            <a:ext cx="2552700" cy="1905000"/>
          </a:xfrm>
          <a:prstGeom xmlns:a="http://schemas.openxmlformats.org/drawingml/2006/main" prst="rect">
            <a:avLst/>
          </a:prstGeom>
          <a:solidFill xmlns:a="http://schemas.openxmlformats.org/drawingml/2006/main">
            <a:srgbClr val="EDF1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616594-7D6F-4C3D-B359-70875461F999}"/>
              </a:ext>
            </a:extLst>
          </p:cNvPr>
          <p:cNvSpPr>
            <a:spLocks xmlns:a="http://schemas.openxmlformats.org/drawingml/2006/main" noGrp="1"/>
          </p:cNvSpPr>
          <p:nvPr/>
        </p:nvSpPr>
        <p:spPr>
          <a:xfrm xmlns:a="http://schemas.openxmlformats.org/drawingml/2006/main">
            <a:off x="723900" y="28289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01</a:t>
            </a:r>
          </a:p>
        </p:txBody>
      </p:sp>
      <p:sp>
        <p:nvSpPr>
          <p:cNvPr id="11" name="">
            <a:extLst xmlns:a="http://schemas.openxmlformats.org/drawingml/2006/main">
              <a:ext uri="{FF2B5EF4-FFF2-40B4-BE49-F238E27FC236}">
                <a16:creationId xmlns:a16="http://schemas.microsoft.com/office/drawing/2014/main" id="{28ED5364-27D7-4709-8426-FE07607C9745}"/>
              </a:ext>
            </a:extLst>
          </p:cNvPr>
          <p:cNvSpPr>
            <a:spLocks xmlns:a="http://schemas.openxmlformats.org/drawingml/2006/main" noGrp="1"/>
          </p:cNvSpPr>
          <p:nvPr/>
        </p:nvSpPr>
        <p:spPr>
          <a:xfrm xmlns:a="http://schemas.openxmlformats.org/drawingml/2006/main">
            <a:off x="723900" y="3381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数据快照</a:t>
            </a:r>
          </a:p>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字段与质量检查</a:t>
            </a:r>
          </a:p>
        </p:txBody>
      </p:sp>
      <p:sp>
        <p:nvSpPr>
          <p:cNvPr id="12" name="">
            <a:extLst xmlns:a="http://schemas.openxmlformats.org/drawingml/2006/main">
              <a:ext uri="{FF2B5EF4-FFF2-40B4-BE49-F238E27FC236}">
                <a16:creationId xmlns:a16="http://schemas.microsoft.com/office/drawing/2014/main" id="{04FA15D4-2070-4B73-88E9-DC24DCD157AE}"/>
              </a:ext>
            </a:extLst>
          </p:cNvPr>
          <p:cNvSpPr>
            <a:spLocks xmlns:a="http://schemas.openxmlformats.org/drawingml/2006/main" noGrp="1"/>
          </p:cNvSpPr>
          <p:nvPr/>
        </p:nvSpPr>
        <p:spPr>
          <a:xfrm xmlns:a="http://schemas.openxmlformats.org/drawingml/2006/main">
            <a:off x="3152775" y="3105150"/>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627285"/>
                </a:solidFill>
                <a:latin typeface="Microsoft YaHei"/>
                <a:ea typeface="Microsoft YaHei"/>
                <a:cs typeface="Microsoft YaHei"/>
              </a:defRPr>
            </a:pPr>
            <a:r>
              <a:rPr sz="3375" b="0">
                <a:solidFill>
                  <a:srgbClr val="627285"/>
                </a:solidFill>
                <a:latin typeface="Microsoft YaHei"/>
                <a:ea typeface="Microsoft YaHei"/>
                <a:cs typeface="Microsoft YaHei"/>
              </a:rPr>
              <a:t>›</a:t>
            </a:r>
          </a:p>
        </p:txBody>
      </p:sp>
      <p:sp>
        <p:nvSpPr>
          <p:cNvPr id="13" name="">
            <a:extLst xmlns:a="http://schemas.openxmlformats.org/drawingml/2006/main">
              <a:ext uri="{FF2B5EF4-FFF2-40B4-BE49-F238E27FC236}">
                <a16:creationId xmlns:a16="http://schemas.microsoft.com/office/drawing/2014/main" id="{8952B1B8-359D-41E6-8CF2-DCA1A7055823}"/>
              </a:ext>
            </a:extLst>
          </p:cNvPr>
          <p:cNvSpPr>
            <a:spLocks xmlns:a="http://schemas.openxmlformats.org/drawingml/2006/main" noGrp="1"/>
          </p:cNvSpPr>
          <p:nvPr/>
        </p:nvSpPr>
        <p:spPr>
          <a:xfrm xmlns:a="http://schemas.openxmlformats.org/drawingml/2006/main">
            <a:off x="3409950" y="2647950"/>
            <a:ext cx="2552700" cy="19050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FF9780-A28D-45C8-BD8E-A48AD7AB0832}"/>
              </a:ext>
            </a:extLst>
          </p:cNvPr>
          <p:cNvSpPr>
            <a:spLocks xmlns:a="http://schemas.openxmlformats.org/drawingml/2006/main" noGrp="1"/>
          </p:cNvSpPr>
          <p:nvPr/>
        </p:nvSpPr>
        <p:spPr>
          <a:xfrm xmlns:a="http://schemas.openxmlformats.org/drawingml/2006/main">
            <a:off x="3600450" y="28289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02</a:t>
            </a:r>
          </a:p>
        </p:txBody>
      </p:sp>
      <p:sp>
        <p:nvSpPr>
          <p:cNvPr id="15" name="">
            <a:extLst xmlns:a="http://schemas.openxmlformats.org/drawingml/2006/main">
              <a:ext uri="{FF2B5EF4-FFF2-40B4-BE49-F238E27FC236}">
                <a16:creationId xmlns:a16="http://schemas.microsoft.com/office/drawing/2014/main" id="{7D5CDB86-6DB2-42CD-A4DF-BA6D3AB92601}"/>
              </a:ext>
            </a:extLst>
          </p:cNvPr>
          <p:cNvSpPr>
            <a:spLocks xmlns:a="http://schemas.openxmlformats.org/drawingml/2006/main" noGrp="1"/>
          </p:cNvSpPr>
          <p:nvPr/>
        </p:nvSpPr>
        <p:spPr>
          <a:xfrm xmlns:a="http://schemas.openxmlformats.org/drawingml/2006/main">
            <a:off x="3600450" y="3381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因子和模型</a:t>
            </a:r>
          </a:p>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日期 × 资产分数</a:t>
            </a:r>
          </a:p>
        </p:txBody>
      </p:sp>
      <p:sp>
        <p:nvSpPr>
          <p:cNvPr id="16" name="">
            <a:extLst xmlns:a="http://schemas.openxmlformats.org/drawingml/2006/main">
              <a:ext uri="{FF2B5EF4-FFF2-40B4-BE49-F238E27FC236}">
                <a16:creationId xmlns:a16="http://schemas.microsoft.com/office/drawing/2014/main" id="{CC4BC227-101B-4EC6-BB0E-7FD3DD8ED50B}"/>
              </a:ext>
            </a:extLst>
          </p:cNvPr>
          <p:cNvSpPr>
            <a:spLocks xmlns:a="http://schemas.openxmlformats.org/drawingml/2006/main" noGrp="1"/>
          </p:cNvSpPr>
          <p:nvPr/>
        </p:nvSpPr>
        <p:spPr>
          <a:xfrm xmlns:a="http://schemas.openxmlformats.org/drawingml/2006/main">
            <a:off x="6029325" y="3105150"/>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627285"/>
                </a:solidFill>
                <a:latin typeface="Microsoft YaHei"/>
                <a:ea typeface="Microsoft YaHei"/>
                <a:cs typeface="Microsoft YaHei"/>
              </a:defRPr>
            </a:pPr>
            <a:r>
              <a:rPr sz="3375" b="0">
                <a:solidFill>
                  <a:srgbClr val="627285"/>
                </a:solidFill>
                <a:latin typeface="Microsoft YaHei"/>
                <a:ea typeface="Microsoft YaHei"/>
                <a:cs typeface="Microsoft YaHei"/>
              </a:rPr>
              <a:t>›</a:t>
            </a:r>
          </a:p>
        </p:txBody>
      </p:sp>
      <p:sp>
        <p:nvSpPr>
          <p:cNvPr id="17" name="">
            <a:extLst xmlns:a="http://schemas.openxmlformats.org/drawingml/2006/main">
              <a:ext uri="{FF2B5EF4-FFF2-40B4-BE49-F238E27FC236}">
                <a16:creationId xmlns:a16="http://schemas.microsoft.com/office/drawing/2014/main" id="{C7D3B145-EB93-4A10-8901-80F2E64EF465}"/>
              </a:ext>
            </a:extLst>
          </p:cNvPr>
          <p:cNvSpPr>
            <a:spLocks xmlns:a="http://schemas.openxmlformats.org/drawingml/2006/main" noGrp="1"/>
          </p:cNvSpPr>
          <p:nvPr/>
        </p:nvSpPr>
        <p:spPr>
          <a:xfrm xmlns:a="http://schemas.openxmlformats.org/drawingml/2006/main">
            <a:off x="6286500" y="2647950"/>
            <a:ext cx="2552700" cy="1905000"/>
          </a:xfrm>
          <a:prstGeom xmlns:a="http://schemas.openxmlformats.org/drawingml/2006/main" prst="rect">
            <a:avLst/>
          </a:prstGeom>
          <a:solidFill xmlns:a="http://schemas.openxmlformats.org/drawingml/2006/main">
            <a:srgbClr val="EDF1F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113E4E7-6710-4BF6-BB22-087795055BBE}"/>
              </a:ext>
            </a:extLst>
          </p:cNvPr>
          <p:cNvSpPr>
            <a:spLocks xmlns:a="http://schemas.openxmlformats.org/drawingml/2006/main" noGrp="1"/>
          </p:cNvSpPr>
          <p:nvPr/>
        </p:nvSpPr>
        <p:spPr>
          <a:xfrm xmlns:a="http://schemas.openxmlformats.org/drawingml/2006/main">
            <a:off x="6477000" y="28289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03</a:t>
            </a:r>
          </a:p>
        </p:txBody>
      </p:sp>
      <p:sp>
        <p:nvSpPr>
          <p:cNvPr id="19" name="">
            <a:extLst xmlns:a="http://schemas.openxmlformats.org/drawingml/2006/main">
              <a:ext uri="{FF2B5EF4-FFF2-40B4-BE49-F238E27FC236}">
                <a16:creationId xmlns:a16="http://schemas.microsoft.com/office/drawing/2014/main" id="{80985AC2-44A6-4955-BC90-EEB6384B7E0F}"/>
              </a:ext>
            </a:extLst>
          </p:cNvPr>
          <p:cNvSpPr>
            <a:spLocks xmlns:a="http://schemas.openxmlformats.org/drawingml/2006/main" noGrp="1"/>
          </p:cNvSpPr>
          <p:nvPr/>
        </p:nvSpPr>
        <p:spPr>
          <a:xfrm xmlns:a="http://schemas.openxmlformats.org/drawingml/2006/main">
            <a:off x="6477000" y="3381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组合与风险</a:t>
            </a:r>
          </a:p>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目标权重和现金</a:t>
            </a:r>
          </a:p>
        </p:txBody>
      </p:sp>
      <p:sp>
        <p:nvSpPr>
          <p:cNvPr id="20" name="">
            <a:extLst xmlns:a="http://schemas.openxmlformats.org/drawingml/2006/main">
              <a:ext uri="{FF2B5EF4-FFF2-40B4-BE49-F238E27FC236}">
                <a16:creationId xmlns:a16="http://schemas.microsoft.com/office/drawing/2014/main" id="{6769FE32-6D28-4651-BC4B-823E4CF3EF52}"/>
              </a:ext>
            </a:extLst>
          </p:cNvPr>
          <p:cNvSpPr>
            <a:spLocks xmlns:a="http://schemas.openxmlformats.org/drawingml/2006/main" noGrp="1"/>
          </p:cNvSpPr>
          <p:nvPr/>
        </p:nvSpPr>
        <p:spPr>
          <a:xfrm xmlns:a="http://schemas.openxmlformats.org/drawingml/2006/main">
            <a:off x="8905875" y="3105150"/>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627285"/>
                </a:solidFill>
                <a:latin typeface="Microsoft YaHei"/>
                <a:ea typeface="Microsoft YaHei"/>
                <a:cs typeface="Microsoft YaHei"/>
              </a:defRPr>
            </a:pPr>
            <a:r>
              <a:rPr sz="3375" b="0">
                <a:solidFill>
                  <a:srgbClr val="627285"/>
                </a:solidFill>
                <a:latin typeface="Microsoft YaHei"/>
                <a:ea typeface="Microsoft YaHei"/>
                <a:cs typeface="Microsoft YaHei"/>
              </a:rPr>
              <a:t>›</a:t>
            </a:r>
          </a:p>
        </p:txBody>
      </p:sp>
      <p:sp>
        <p:nvSpPr>
          <p:cNvPr id="21" name="">
            <a:extLst xmlns:a="http://schemas.openxmlformats.org/drawingml/2006/main">
              <a:ext uri="{FF2B5EF4-FFF2-40B4-BE49-F238E27FC236}">
                <a16:creationId xmlns:a16="http://schemas.microsoft.com/office/drawing/2014/main" id="{FBF3BED6-5EFE-466E-8A9E-35B719EDA222}"/>
              </a:ext>
            </a:extLst>
          </p:cNvPr>
          <p:cNvSpPr>
            <a:spLocks xmlns:a="http://schemas.openxmlformats.org/drawingml/2006/main" noGrp="1"/>
          </p:cNvSpPr>
          <p:nvPr/>
        </p:nvSpPr>
        <p:spPr>
          <a:xfrm xmlns:a="http://schemas.openxmlformats.org/drawingml/2006/main">
            <a:off x="9163050" y="2647950"/>
            <a:ext cx="2552700" cy="19050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2430CAC-B69E-441B-9736-84323ED1ECF8}"/>
              </a:ext>
            </a:extLst>
          </p:cNvPr>
          <p:cNvSpPr>
            <a:spLocks xmlns:a="http://schemas.openxmlformats.org/drawingml/2006/main" noGrp="1"/>
          </p:cNvSpPr>
          <p:nvPr/>
        </p:nvSpPr>
        <p:spPr>
          <a:xfrm xmlns:a="http://schemas.openxmlformats.org/drawingml/2006/main">
            <a:off x="9353550" y="28289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04</a:t>
            </a:r>
          </a:p>
        </p:txBody>
      </p:sp>
      <p:sp>
        <p:nvSpPr>
          <p:cNvPr id="23" name="">
            <a:extLst xmlns:a="http://schemas.openxmlformats.org/drawingml/2006/main">
              <a:ext uri="{FF2B5EF4-FFF2-40B4-BE49-F238E27FC236}">
                <a16:creationId xmlns:a16="http://schemas.microsoft.com/office/drawing/2014/main" id="{D404F329-8DC3-4DA9-9F69-10B0BB559D7D}"/>
              </a:ext>
            </a:extLst>
          </p:cNvPr>
          <p:cNvSpPr>
            <a:spLocks xmlns:a="http://schemas.openxmlformats.org/drawingml/2006/main" noGrp="1"/>
          </p:cNvSpPr>
          <p:nvPr/>
        </p:nvSpPr>
        <p:spPr>
          <a:xfrm xmlns:a="http://schemas.openxmlformats.org/drawingml/2006/main">
            <a:off x="9353550" y="3381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成交与分析</a:t>
            </a:r>
          </a:p>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订单、净值和证据</a:t>
            </a:r>
          </a:p>
        </p:txBody>
      </p:sp>
      <p:sp>
        <p:nvSpPr>
          <p:cNvPr id="24" name="">
            <a:extLst xmlns:a="http://schemas.openxmlformats.org/drawingml/2006/main">
              <a:ext uri="{FF2B5EF4-FFF2-40B4-BE49-F238E27FC236}">
                <a16:creationId xmlns:a16="http://schemas.microsoft.com/office/drawing/2014/main" id="{007C22FC-AB7B-4DBD-B1DB-E7F60DF445E1}"/>
              </a:ext>
            </a:extLst>
          </p:cNvPr>
          <p:cNvSpPr>
            <a:spLocks xmlns:a="http://schemas.openxmlformats.org/drawingml/2006/main" noGrp="1"/>
          </p:cNvSpPr>
          <p:nvPr/>
        </p:nvSpPr>
        <p:spPr>
          <a:xfrm xmlns:a="http://schemas.openxmlformats.org/drawingml/2006/main">
            <a:off x="666750" y="49339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B43"/>
                </a:solidFill>
                <a:latin typeface="Microsoft YaHei"/>
                <a:ea typeface="Microsoft YaHei"/>
                <a:cs typeface="Microsoft YaHei"/>
              </a:defRPr>
            </a:pPr>
            <a:r>
              <a:rPr sz="2400" b="1">
                <a:solidFill>
                  <a:srgbClr val="142B43"/>
                </a:solidFill>
                <a:latin typeface="Microsoft YaHei"/>
                <a:ea typeface="Microsoft YaHei"/>
                <a:cs typeface="Microsoft YaHei"/>
              </a:rPr>
              <a:t>同一核心服务命令行、交互页面与提交报告</a:t>
            </a:r>
          </a:p>
        </p:txBody>
      </p:sp>
      <p:sp>
        <p:nvSpPr>
          <p:cNvPr id="25" name="">
            <a:extLst xmlns:a="http://schemas.openxmlformats.org/drawingml/2006/main">
              <a:ext uri="{FF2B5EF4-FFF2-40B4-BE49-F238E27FC236}">
                <a16:creationId xmlns:a16="http://schemas.microsoft.com/office/drawing/2014/main" id="{3E71C8EC-F494-4B49-A4AF-9220F0601126}"/>
              </a:ext>
            </a:extLst>
          </p:cNvPr>
          <p:cNvSpPr>
            <a:spLocks xmlns:a="http://schemas.openxmlformats.org/drawingml/2006/main" noGrp="1"/>
          </p:cNvSpPr>
          <p:nvPr/>
        </p:nvSpPr>
        <p:spPr>
          <a:xfrm xmlns:a="http://schemas.openxmlformats.org/drawingml/2006/main">
            <a:off x="666750" y="56292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7285"/>
                </a:solidFill>
                <a:latin typeface="Microsoft YaHei"/>
                <a:ea typeface="Microsoft YaHei"/>
                <a:cs typeface="Microsoft YaHei"/>
              </a:defRPr>
            </a:pPr>
            <a:r>
              <a:rPr sz="1875" b="0">
                <a:solidFill>
                  <a:srgbClr val="627285"/>
                </a:solidFill>
                <a:latin typeface="Microsoft YaHei"/>
                <a:ea typeface="Microsoft YaHei"/>
                <a:cs typeface="Microsoft YaHei"/>
              </a:rPr>
              <a:t>每个实验记录数据、配置与源码身份，失败结果保留</a:t>
            </a:r>
          </a:p>
        </p:txBody>
      </p:sp>
    </p:spTree>
    <p:extLst>
      <p:ext uri="{BB962C8B-B14F-4D97-AF65-F5344CB8AC3E}">
        <p14:creationId xmlns:p14="http://schemas.microsoft.com/office/powerpoint/2010/main" val="9289970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5305FD-8DF3-4F0C-B814-AB48E8F66EE6}"/>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8940A3-FBD2-4FED-BAF2-5A1F0832D003}"/>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数据来源与可见范围</a:t>
            </a:r>
          </a:p>
        </p:txBody>
      </p:sp>
      <p:sp>
        <p:nvSpPr>
          <p:cNvPr id="3" name="">
            <a:extLst xmlns:a="http://schemas.openxmlformats.org/drawingml/2006/main">
              <a:ext uri="{FF2B5EF4-FFF2-40B4-BE49-F238E27FC236}">
                <a16:creationId xmlns:a16="http://schemas.microsoft.com/office/drawing/2014/main" id="{0D27FDFD-CDF6-47B7-BE59-D7D065CCB973}"/>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12F4C5-AF31-45C0-96EE-452B5D3BAC0A}"/>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07AB41C4-182F-444C-AA63-D717E926BE25}"/>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4 / 20</a:t>
            </a:r>
          </a:p>
        </p:txBody>
      </p:sp>
      <p:sp>
        <p:nvSpPr>
          <p:cNvPr id="6" name="">
            <a:extLst xmlns:a="http://schemas.openxmlformats.org/drawingml/2006/main">
              <a:ext uri="{FF2B5EF4-FFF2-40B4-BE49-F238E27FC236}">
                <a16:creationId xmlns:a16="http://schemas.microsoft.com/office/drawing/2014/main" id="{6288945D-2B13-419D-8868-FE64DF3527DC}"/>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823212F-AD4A-4460-BA88-898028DBA01B}"/>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6F7CB0-CAC4-4B50-BA94-8DCAE27C1EA1}"/>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固定历史股票池，保留缺失与数据身份</a:t>
            </a:r>
          </a:p>
        </p:txBody>
      </p:sp>
      <p:graphicFrame>
        <p:nvGraphicFramePr>
          <p:cNvPr id="19" name=""/>
          <p:cNvGraphicFramePr/>
          <p:nvPr/>
        </p:nvGraphicFramePr>
        <p:xfrm>
          <a:off xmlns:a="http://schemas.openxmlformats.org/drawingml/2006/main" x="647700" y="2085975"/>
          <a:ext xmlns:a="http://schemas.openxmlformats.org/drawingml/2006/main" cx="10896600" cy="2762250"/>
        </p:xfrm>
        <a:graphic xmlns:a="http://schemas.openxmlformats.org/drawingml/2006/main">
          <a:graphicData uri="http://schemas.openxmlformats.org/drawingml/2006/table">
            <a:tbl>
              <a:tblPr/>
              <a:tblGrid>
                <a:gridCol w="3381375"/>
                <a:gridCol w="7515225"/>
              </a:tblGrid>
              <a:tr h="552450">
                <a:tc>
                  <a:txBody>
                    <a:bodyPr>
                      <a:noAutofit/>
                    </a:bodyPr>
                    <a:lstStyle/>
                    <a:p>
                      <a:r>
                        <a:rPr sz="2025" b="1">
                          <a:solidFill>
                            <a:srgbClr val="FFFFFF"/>
                          </a:solidFill>
                          <a:latin typeface="Microsoft YaHei"/>
                          <a:ea typeface="Microsoft YaHei"/>
                          <a:cs typeface="Microsoft YaHei"/>
                        </a:rPr>
                        <a:t>项目</a:t>
                      </a:r>
                    </a:p>
                  </a:txBody>
                  <a:tcPr marL="91440" marR="91440" marT="45720" marB="45720">
                    <a:solidFill>
                      <a:srgbClr val="142B43"/>
                    </a:solidFill>
                  </a:tcPr>
                </a:tc>
                <a:tc>
                  <a:txBody>
                    <a:bodyPr>
                      <a:noAutofit/>
                    </a:bodyPr>
                    <a:lstStyle/>
                    <a:p>
                      <a:r>
                        <a:rPr sz="2025" b="1">
                          <a:solidFill>
                            <a:srgbClr val="FFFFFF"/>
                          </a:solidFill>
                          <a:latin typeface="Microsoft YaHei"/>
                          <a:ea typeface="Microsoft YaHei"/>
                          <a:cs typeface="Microsoft YaHei"/>
                        </a:rPr>
                        <a:t>真实快照</a:t>
                      </a:r>
                    </a:p>
                  </a:txBody>
                  <a:tcPr marL="91440" marR="91440" marT="45720" marB="45720">
                    <a:solidFill>
                      <a:srgbClr val="142B43"/>
                    </a:solidFill>
                  </a:tcPr>
                </a:tc>
              </a:tr>
              <a:tr h="552450">
                <a:tc>
                  <a:txBody>
                    <a:bodyPr>
                      <a:noAutofit/>
                    </a:bodyPr>
                    <a:lstStyle/>
                    <a:p>
                      <a:r>
                        <a:rPr sz="1875" b="0">
                          <a:solidFill>
                            <a:srgbClr val="142B43"/>
                          </a:solidFill>
                          <a:latin typeface="Microsoft YaHei"/>
                          <a:ea typeface="Microsoft YaHei"/>
                          <a:cs typeface="Microsoft YaHei"/>
                        </a:rPr>
                        <a:t>资产 / 交易日</a:t>
                      </a:r>
                    </a:p>
                  </a:txBody>
                  <a:tcPr marL="91440" marR="91440" marT="45720" marB="45720">
                    <a:solidFill>
                      <a:srgbClr val="F2F6F9"/>
                    </a:solidFill>
                  </a:tcPr>
                </a:tc>
                <a:tc>
                  <a:txBody>
                    <a:bodyPr>
                      <a:noAutofit/>
                    </a:bodyPr>
                    <a:lstStyle/>
                    <a:p>
                      <a:r>
                        <a:rPr sz="1875" b="0">
                          <a:solidFill>
                            <a:srgbClr val="142B43"/>
                          </a:solidFill>
                          <a:latin typeface="Microsoft YaHei"/>
                          <a:ea typeface="Microsoft YaHei"/>
                          <a:cs typeface="Microsoft YaHei"/>
                        </a:rPr>
                        <a:t>1,000 / 1,690</a:t>
                      </a:r>
                    </a:p>
                  </a:txBody>
                  <a:tcPr marL="91440" marR="91440" marT="45720" marB="45720">
                    <a:solidFill>
                      <a:srgbClr val="F2F6F9"/>
                    </a:solidFill>
                  </a:tcPr>
                </a:tc>
              </a:tr>
              <a:tr h="552450">
                <a:tc>
                  <a:txBody>
                    <a:bodyPr>
                      <a:noAutofit/>
                    </a:bodyPr>
                    <a:lstStyle/>
                    <a:p>
                      <a:r>
                        <a:rPr sz="1875" b="0">
                          <a:solidFill>
                            <a:srgbClr val="142B43"/>
                          </a:solidFill>
                          <a:latin typeface="Microsoft YaHei"/>
                          <a:ea typeface="Microsoft YaHei"/>
                          <a:cs typeface="Microsoft YaHei"/>
                        </a:rPr>
                        <a:t>日频行情 / 每日估值</a:t>
                      </a:r>
                    </a:p>
                  </a:txBody>
                  <a:tcPr marL="91440" marR="91440" marT="45720" marB="45720">
                    <a:solidFill>
                      <a:srgbClr val="FFFFFF"/>
                    </a:solidFill>
                  </a:tcPr>
                </a:tc>
                <a:tc>
                  <a:txBody>
                    <a:bodyPr>
                      <a:noAutofit/>
                    </a:bodyPr>
                    <a:lstStyle/>
                    <a:p>
                      <a:r>
                        <a:rPr sz="1875" b="0">
                          <a:solidFill>
                            <a:srgbClr val="142B43"/>
                          </a:solidFill>
                          <a:latin typeface="Microsoft YaHei"/>
                          <a:ea typeface="Microsoft YaHei"/>
                          <a:cs typeface="Microsoft YaHei"/>
                        </a:rPr>
                        <a:t>各1,656,599条</a:t>
                      </a:r>
                    </a:p>
                  </a:txBody>
                  <a:tcPr marL="91440" marR="91440" marT="45720" marB="45720">
                    <a:solidFill>
                      <a:srgbClr val="FFFFFF"/>
                    </a:solidFill>
                  </a:tcPr>
                </a:tc>
              </a:tr>
              <a:tr h="552450">
                <a:tc>
                  <a:txBody>
                    <a:bodyPr>
                      <a:noAutofit/>
                    </a:bodyPr>
                    <a:lstStyle/>
                    <a:p>
                      <a:r>
                        <a:rPr sz="1875" b="0">
                          <a:solidFill>
                            <a:srgbClr val="142B43"/>
                          </a:solidFill>
                          <a:latin typeface="Microsoft YaHei"/>
                          <a:ea typeface="Microsoft YaHei"/>
                          <a:cs typeface="Microsoft YaHei"/>
                        </a:rPr>
                        <a:t>财务 / 历史行业区间</a:t>
                      </a:r>
                    </a:p>
                  </a:txBody>
                  <a:tcPr marL="91440" marR="91440" marT="45720" marB="45720">
                    <a:solidFill>
                      <a:srgbClr val="F2F6F9"/>
                    </a:solidFill>
                  </a:tcPr>
                </a:tc>
                <a:tc>
                  <a:txBody>
                    <a:bodyPr>
                      <a:noAutofit/>
                    </a:bodyPr>
                    <a:lstStyle/>
                    <a:p>
                      <a:r>
                        <a:rPr sz="1875" b="0">
                          <a:solidFill>
                            <a:srgbClr val="142B43"/>
                          </a:solidFill>
                          <a:latin typeface="Microsoft YaHei"/>
                          <a:ea typeface="Microsoft YaHei"/>
                          <a:cs typeface="Microsoft YaHei"/>
                        </a:rPr>
                        <a:t>57,389 / 1,432条</a:t>
                      </a:r>
                    </a:p>
                  </a:txBody>
                  <a:tcPr marL="91440" marR="91440" marT="45720" marB="45720">
                    <a:solidFill>
                      <a:srgbClr val="F2F6F9"/>
                    </a:solidFill>
                  </a:tcPr>
                </a:tc>
              </a:tr>
              <a:tr h="552450">
                <a:tc>
                  <a:txBody>
                    <a:bodyPr>
                      <a:noAutofit/>
                    </a:bodyPr>
                    <a:lstStyle/>
                    <a:p>
                      <a:r>
                        <a:rPr sz="1875" b="0">
                          <a:solidFill>
                            <a:srgbClr val="142B43"/>
                          </a:solidFill>
                          <a:latin typeface="Microsoft YaHei"/>
                          <a:ea typeface="Microsoft YaHei"/>
                          <a:cs typeface="Microsoft YaHei"/>
                        </a:rPr>
                        <a:t>缺失网格</a:t>
                      </a:r>
                    </a:p>
                  </a:txBody>
                  <a:tcPr marL="91440" marR="91440" marT="45720" marB="45720">
                    <a:solidFill>
                      <a:srgbClr val="FFFFFF"/>
                    </a:solidFill>
                  </a:tcPr>
                </a:tc>
                <a:tc>
                  <a:txBody>
                    <a:bodyPr>
                      <a:noAutofit/>
                    </a:bodyPr>
                    <a:lstStyle/>
                    <a:p>
                      <a:r>
                        <a:rPr sz="1875" b="0">
                          <a:solidFill>
                            <a:srgbClr val="142B43"/>
                          </a:solidFill>
                          <a:latin typeface="Microsoft YaHei"/>
                          <a:ea typeface="Microsoft YaHei"/>
                          <a:cs typeface="Microsoft YaHei"/>
                        </a:rPr>
                        <a:t>33,401条；不伪造成交</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F9B8F0E-21DF-4F0D-9A12-72490FF8FBB0}"/>
              </a:ext>
            </a:extLst>
          </p:cNvPr>
          <p:cNvSpPr>
            <a:spLocks xmlns:a="http://schemas.openxmlformats.org/drawingml/2006/main" noGrp="1"/>
          </p:cNvSpPr>
          <p:nvPr/>
        </p:nvSpPr>
        <p:spPr>
          <a:xfrm xmlns:a="http://schemas.openxmlformats.org/drawingml/2006/main">
            <a:off x="657225" y="5048250"/>
            <a:ext cx="10877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价格：2019-10-08 至 2026-09-18</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固定2019年末池，不代表全部A股</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原始数据与Token留本地，公开聚合结果</a:t>
            </a:r>
          </a:p>
        </p:txBody>
      </p:sp>
    </p:spTree>
    <p:extLst>
      <p:ext uri="{BB962C8B-B14F-4D97-AF65-F5344CB8AC3E}">
        <p14:creationId xmlns:p14="http://schemas.microsoft.com/office/powerpoint/2010/main" val="20408661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C3539B-8F4F-495B-8155-1191D7372118}"/>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E26A1C-A976-4016-BF30-7CDE78FF0411}"/>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十二个研究因子</a:t>
            </a:r>
          </a:p>
        </p:txBody>
      </p:sp>
      <p:sp>
        <p:nvSpPr>
          <p:cNvPr id="3" name="">
            <a:extLst xmlns:a="http://schemas.openxmlformats.org/drawingml/2006/main">
              <a:ext uri="{FF2B5EF4-FFF2-40B4-BE49-F238E27FC236}">
                <a16:creationId xmlns:a16="http://schemas.microsoft.com/office/drawing/2014/main" id="{9FBBF92A-3509-4C92-8500-724552B3F78D}"/>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71D020-2853-483D-8F8C-BE4CFA4E9B4D}"/>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86C1CE0E-9310-4201-A375-009E0A966145}"/>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5 / 20</a:t>
            </a:r>
          </a:p>
        </p:txBody>
      </p:sp>
      <p:sp>
        <p:nvSpPr>
          <p:cNvPr id="6" name="">
            <a:extLst xmlns:a="http://schemas.openxmlformats.org/drawingml/2006/main">
              <a:ext uri="{FF2B5EF4-FFF2-40B4-BE49-F238E27FC236}">
                <a16:creationId xmlns:a16="http://schemas.microsoft.com/office/drawing/2014/main" id="{72637BC6-2423-465F-8BF1-0A815CC97DF9}"/>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4A93DC-8960-41A3-92F2-F428C7F2AB13}"/>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C277982-189D-4B17-B578-5374A43E9BA6}"/>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先解释经济含义，再检查实际预测表现</a:t>
            </a:r>
          </a:p>
        </p:txBody>
      </p:sp>
      <p:graphicFrame>
        <p:nvGraphicFramePr>
          <p:cNvPr id="19" name=""/>
          <p:cNvGraphicFramePr/>
          <p:nvPr/>
        </p:nvGraphicFramePr>
        <p:xfrm>
          <a:off xmlns:a="http://schemas.openxmlformats.org/drawingml/2006/main" x="647700" y="2085975"/>
          <a:ext xmlns:a="http://schemas.openxmlformats.org/drawingml/2006/main" cx="10896600" cy="2762250"/>
        </p:xfrm>
        <a:graphic xmlns:a="http://schemas.openxmlformats.org/drawingml/2006/main">
          <a:graphicData uri="http://schemas.openxmlformats.org/drawingml/2006/table">
            <a:tbl>
              <a:tblPr/>
              <a:tblGrid>
                <a:gridCol w="3381375"/>
                <a:gridCol w="7515225"/>
              </a:tblGrid>
              <a:tr h="552450">
                <a:tc>
                  <a:txBody>
                    <a:bodyPr>
                      <a:noAutofit/>
                    </a:bodyPr>
                    <a:lstStyle/>
                    <a:p>
                      <a:r>
                        <a:rPr sz="2025" b="1">
                          <a:solidFill>
                            <a:srgbClr val="FFFFFF"/>
                          </a:solidFill>
                          <a:latin typeface="Microsoft YaHei"/>
                          <a:ea typeface="Microsoft YaHei"/>
                          <a:cs typeface="Microsoft YaHei"/>
                        </a:rPr>
                        <a:t>类别</a:t>
                      </a:r>
                    </a:p>
                  </a:txBody>
                  <a:tcPr marL="91440" marR="91440" marT="45720" marB="45720">
                    <a:solidFill>
                      <a:srgbClr val="142B43"/>
                    </a:solidFill>
                  </a:tcPr>
                </a:tc>
                <a:tc>
                  <a:txBody>
                    <a:bodyPr>
                      <a:noAutofit/>
                    </a:bodyPr>
                    <a:lstStyle/>
                    <a:p>
                      <a:r>
                        <a:rPr sz="2025" b="1">
                          <a:solidFill>
                            <a:srgbClr val="FFFFFF"/>
                          </a:solidFill>
                          <a:latin typeface="Microsoft YaHei"/>
                          <a:ea typeface="Microsoft YaHei"/>
                          <a:cs typeface="Microsoft YaHei"/>
                        </a:rPr>
                        <a:t>因子</a:t>
                      </a:r>
                    </a:p>
                  </a:txBody>
                  <a:tcPr marL="91440" marR="91440" marT="45720" marB="45720">
                    <a:solidFill>
                      <a:srgbClr val="142B43"/>
                    </a:solidFill>
                  </a:tcPr>
                </a:tc>
              </a:tr>
              <a:tr h="552450">
                <a:tc>
                  <a:txBody>
                    <a:bodyPr>
                      <a:noAutofit/>
                    </a:bodyPr>
                    <a:lstStyle/>
                    <a:p>
                      <a:r>
                        <a:rPr sz="1875" b="0">
                          <a:solidFill>
                            <a:srgbClr val="142B43"/>
                          </a:solidFill>
                          <a:latin typeface="Microsoft YaHei"/>
                          <a:ea typeface="Microsoft YaHei"/>
                          <a:cs typeface="Microsoft YaHei"/>
                        </a:rPr>
                        <a:t>趋势 / 反转</a:t>
                      </a:r>
                    </a:p>
                  </a:txBody>
                  <a:tcPr marL="91440" marR="91440" marT="45720" marB="45720">
                    <a:solidFill>
                      <a:srgbClr val="F2F6F9"/>
                    </a:solidFill>
                  </a:tcPr>
                </a:tc>
                <a:tc>
                  <a:txBody>
                    <a:bodyPr>
                      <a:noAutofit/>
                    </a:bodyPr>
                    <a:lstStyle/>
                    <a:p>
                      <a:r>
                        <a:rPr sz="1875" b="0">
                          <a:solidFill>
                            <a:srgbClr val="142B43"/>
                          </a:solidFill>
                          <a:latin typeface="Microsoft YaHei"/>
                          <a:ea typeface="Microsoft YaHei"/>
                          <a:cs typeface="Microsoft YaHei"/>
                        </a:rPr>
                        <a:t>跳月动量、5日反转、均线趋势</a:t>
                      </a:r>
                    </a:p>
                  </a:txBody>
                  <a:tcPr marL="91440" marR="91440" marT="45720" marB="45720">
                    <a:solidFill>
                      <a:srgbClr val="F2F6F9"/>
                    </a:solidFill>
                  </a:tcPr>
                </a:tc>
              </a:tr>
              <a:tr h="552450">
                <a:tc>
                  <a:txBody>
                    <a:bodyPr>
                      <a:noAutofit/>
                    </a:bodyPr>
                    <a:lstStyle/>
                    <a:p>
                      <a:r>
                        <a:rPr sz="1875" b="0">
                          <a:solidFill>
                            <a:srgbClr val="142B43"/>
                          </a:solidFill>
                          <a:latin typeface="Microsoft YaHei"/>
                          <a:ea typeface="Microsoft YaHei"/>
                          <a:cs typeface="Microsoft YaHei"/>
                        </a:rPr>
                        <a:t>风险 / 量价</a:t>
                      </a:r>
                    </a:p>
                  </a:txBody>
                  <a:tcPr marL="91440" marR="91440" marT="45720" marB="45720">
                    <a:solidFill>
                      <a:srgbClr val="FFFFFF"/>
                    </a:solidFill>
                  </a:tcPr>
                </a:tc>
                <a:tc>
                  <a:txBody>
                    <a:bodyPr>
                      <a:noAutofit/>
                    </a:bodyPr>
                    <a:lstStyle/>
                    <a:p>
                      <a:r>
                        <a:rPr sz="1875" b="0">
                          <a:solidFill>
                            <a:srgbClr val="142B43"/>
                          </a:solidFill>
                          <a:latin typeface="Microsoft YaHei"/>
                          <a:ea typeface="Microsoft YaHei"/>
                          <a:cs typeface="Microsoft YaHei"/>
                        </a:rPr>
                        <a:t>低波动、低振幅、量能、流动性、低换手</a:t>
                      </a:r>
                    </a:p>
                  </a:txBody>
                  <a:tcPr marL="91440" marR="91440" marT="45720" marB="45720">
                    <a:solidFill>
                      <a:srgbClr val="FFFFFF"/>
                    </a:solidFill>
                  </a:tcPr>
                </a:tc>
              </a:tr>
              <a:tr h="552450">
                <a:tc>
                  <a:txBody>
                    <a:bodyPr>
                      <a:noAutofit/>
                    </a:bodyPr>
                    <a:lstStyle/>
                    <a:p>
                      <a:r>
                        <a:rPr sz="1875" b="0">
                          <a:solidFill>
                            <a:srgbClr val="142B43"/>
                          </a:solidFill>
                          <a:latin typeface="Microsoft YaHei"/>
                          <a:ea typeface="Microsoft YaHei"/>
                          <a:cs typeface="Microsoft YaHei"/>
                        </a:rPr>
                        <a:t>价值 / 分红</a:t>
                      </a:r>
                    </a:p>
                  </a:txBody>
                  <a:tcPr marL="91440" marR="91440" marT="45720" marB="45720">
                    <a:solidFill>
                      <a:srgbClr val="F2F6F9"/>
                    </a:solidFill>
                  </a:tcPr>
                </a:tc>
                <a:tc>
                  <a:txBody>
                    <a:bodyPr>
                      <a:noAutofit/>
                    </a:bodyPr>
                    <a:lstStyle/>
                    <a:p>
                      <a:r>
                        <a:rPr sz="1875" b="0">
                          <a:solidFill>
                            <a:srgbClr val="142B43"/>
                          </a:solidFill>
                          <a:latin typeface="Microsoft YaHei"/>
                          <a:ea typeface="Microsoft YaHei"/>
                          <a:cs typeface="Microsoft YaHei"/>
                        </a:rPr>
                        <a:t>盈利收益率、账面市值比、股息率</a:t>
                      </a:r>
                    </a:p>
                  </a:txBody>
                  <a:tcPr marL="91440" marR="91440" marT="45720" marB="45720">
                    <a:solidFill>
                      <a:srgbClr val="F2F6F9"/>
                    </a:solidFill>
                  </a:tcPr>
                </a:tc>
              </a:tr>
              <a:tr h="552450">
                <a:tc>
                  <a:txBody>
                    <a:bodyPr>
                      <a:noAutofit/>
                    </a:bodyPr>
                    <a:lstStyle/>
                    <a:p>
                      <a:r>
                        <a:rPr sz="1875" b="0">
                          <a:solidFill>
                            <a:srgbClr val="142B43"/>
                          </a:solidFill>
                          <a:latin typeface="Microsoft YaHei"/>
                          <a:ea typeface="Microsoft YaHei"/>
                          <a:cs typeface="Microsoft YaHei"/>
                        </a:rPr>
                        <a:t>质量</a:t>
                      </a:r>
                    </a:p>
                  </a:txBody>
                  <a:tcPr marL="91440" marR="91440" marT="45720" marB="45720">
                    <a:solidFill>
                      <a:srgbClr val="FFFFFF"/>
                    </a:solidFill>
                  </a:tcPr>
                </a:tc>
                <a:tc>
                  <a:txBody>
                    <a:bodyPr>
                      <a:noAutofit/>
                    </a:bodyPr>
                    <a:lstStyle/>
                    <a:p>
                      <a:r>
                        <a:rPr sz="1875" b="0">
                          <a:solidFill>
                            <a:srgbClr val="142B43"/>
                          </a:solidFill>
                          <a:latin typeface="Microsoft YaHei"/>
                          <a:ea typeface="Microsoft YaHei"/>
                          <a:cs typeface="Microsoft YaHei"/>
                        </a:rPr>
                        <a:t>最新已公告年度ROE</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C6854C0E-BF02-421E-8D22-52F4E83280AA}"/>
              </a:ext>
            </a:extLst>
          </p:cNvPr>
          <p:cNvSpPr>
            <a:spLocks xmlns:a="http://schemas.openxmlformats.org/drawingml/2006/main" noGrp="1"/>
          </p:cNvSpPr>
          <p:nvPr/>
        </p:nvSpPr>
        <p:spPr>
          <a:xfrm xmlns:a="http://schemas.openxmlformats.org/drawingml/2006/main">
            <a:off x="657225" y="5048250"/>
            <a:ext cx="10877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因子卡提供字段、窗口、方向和缺失处理</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例：跳月动量Rank IC −0.016；低波动 +0.072</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负方向结果保留，不按最终期翻转符号</a:t>
            </a:r>
          </a:p>
        </p:txBody>
      </p:sp>
    </p:spTree>
    <p:extLst>
      <p:ext uri="{BB962C8B-B14F-4D97-AF65-F5344CB8AC3E}">
        <p14:creationId xmlns:p14="http://schemas.microsoft.com/office/powerpoint/2010/main" val="14380559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E5704B5-E0E7-4264-937F-0717CCC0F629}"/>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55283A-F16C-4109-B574-E1C13497BF6E}"/>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年度模型与信息时点</a:t>
            </a:r>
          </a:p>
        </p:txBody>
      </p:sp>
      <p:sp>
        <p:nvSpPr>
          <p:cNvPr id="3" name="">
            <a:extLst xmlns:a="http://schemas.openxmlformats.org/drawingml/2006/main">
              <a:ext uri="{FF2B5EF4-FFF2-40B4-BE49-F238E27FC236}">
                <a16:creationId xmlns:a16="http://schemas.microsoft.com/office/drawing/2014/main" id="{745C4082-5520-48A5-ADAF-CE4EE1625E31}"/>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928B12-DB46-4C53-9905-8FEEFD80291A}"/>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C47B3458-FF95-47AA-8EAB-D36FDE9F6827}"/>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6 / 20</a:t>
            </a:r>
          </a:p>
        </p:txBody>
      </p:sp>
      <p:sp>
        <p:nvSpPr>
          <p:cNvPr id="6" name="">
            <a:extLst xmlns:a="http://schemas.openxmlformats.org/drawingml/2006/main">
              <a:ext uri="{FF2B5EF4-FFF2-40B4-BE49-F238E27FC236}">
                <a16:creationId xmlns:a16="http://schemas.microsoft.com/office/drawing/2014/main" id="{E653B612-375A-4D43-AAD6-946DEAF4714A}"/>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9F9280-3F24-4F94-B277-9C3A08ACB1AE}"/>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DCCC60B-1C09-4C11-9662-5FAF9DB7D958}"/>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训练标签退出日严格早于模型形成日</a:t>
            </a:r>
          </a:p>
        </p:txBody>
      </p:sp>
      <p:sp>
        <p:nvSpPr>
          <p:cNvPr id="9" name="">
            <a:extLst xmlns:a="http://schemas.openxmlformats.org/drawingml/2006/main">
              <a:ext uri="{FF2B5EF4-FFF2-40B4-BE49-F238E27FC236}">
                <a16:creationId xmlns:a16="http://schemas.microsoft.com/office/drawing/2014/main" id="{A609DAB2-63CF-45A1-8F78-AD111234AD95}"/>
              </a:ext>
            </a:extLst>
          </p:cNvPr>
          <p:cNvSpPr>
            <a:spLocks xmlns:a="http://schemas.openxmlformats.org/drawingml/2006/main" noGrp="1"/>
          </p:cNvSpPr>
          <p:nvPr/>
        </p:nvSpPr>
        <p:spPr>
          <a:xfrm xmlns:a="http://schemas.openxmlformats.org/drawingml/2006/main">
            <a:off x="628650" y="2209800"/>
            <a:ext cx="3457575" cy="10096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430DE69-396E-4E24-B4D4-5D25F7D19F5D}"/>
              </a:ext>
            </a:extLst>
          </p:cNvPr>
          <p:cNvSpPr>
            <a:spLocks xmlns:a="http://schemas.openxmlformats.org/drawingml/2006/main" noGrp="1"/>
          </p:cNvSpPr>
          <p:nvPr/>
        </p:nvSpPr>
        <p:spPr>
          <a:xfrm xmlns:a="http://schemas.openxmlformats.org/drawingml/2006/main">
            <a:off x="838200" y="23622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此前三年</a:t>
            </a:r>
          </a:p>
        </p:txBody>
      </p:sp>
      <p:sp>
        <p:nvSpPr>
          <p:cNvPr id="11" name="">
            <a:extLst xmlns:a="http://schemas.openxmlformats.org/drawingml/2006/main">
              <a:ext uri="{FF2B5EF4-FFF2-40B4-BE49-F238E27FC236}">
                <a16:creationId xmlns:a16="http://schemas.microsoft.com/office/drawing/2014/main" id="{953E2889-DC11-40ED-8ACD-509BC6D6B6B1}"/>
              </a:ext>
            </a:extLst>
          </p:cNvPr>
          <p:cNvSpPr>
            <a:spLocks xmlns:a="http://schemas.openxmlformats.org/drawingml/2006/main" noGrp="1"/>
          </p:cNvSpPr>
          <p:nvPr/>
        </p:nvSpPr>
        <p:spPr>
          <a:xfrm xmlns:a="http://schemas.openxmlformats.org/drawingml/2006/main">
            <a:off x="838200" y="275272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Microsoft YaHei"/>
                <a:ea typeface="Microsoft YaHei"/>
                <a:cs typeface="Microsoft YaHei"/>
              </a:defRPr>
            </a:pPr>
            <a:r>
              <a:rPr sz="1800" b="0">
                <a:solidFill>
                  <a:srgbClr val="FFFFFF"/>
                </a:solidFill>
                <a:latin typeface="Microsoft YaHei"/>
                <a:ea typeface="Microsoft YaHei"/>
                <a:cs typeface="Microsoft YaHei"/>
              </a:rPr>
              <a:t>标签实现后训练</a:t>
            </a:r>
          </a:p>
        </p:txBody>
      </p:sp>
      <p:sp>
        <p:nvSpPr>
          <p:cNvPr id="12" name="">
            <a:extLst xmlns:a="http://schemas.openxmlformats.org/drawingml/2006/main">
              <a:ext uri="{FF2B5EF4-FFF2-40B4-BE49-F238E27FC236}">
                <a16:creationId xmlns:a16="http://schemas.microsoft.com/office/drawing/2014/main" id="{FFD1CB19-67FC-49BD-8468-8DDE411A653C}"/>
              </a:ext>
            </a:extLst>
          </p:cNvPr>
          <p:cNvSpPr>
            <a:spLocks xmlns:a="http://schemas.openxmlformats.org/drawingml/2006/main" noGrp="1"/>
          </p:cNvSpPr>
          <p:nvPr/>
        </p:nvSpPr>
        <p:spPr>
          <a:xfrm xmlns:a="http://schemas.openxmlformats.org/drawingml/2006/main">
            <a:off x="4352925" y="2209800"/>
            <a:ext cx="3457575" cy="100965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C9B342D-5949-4797-85EC-E5455FC30DC1}"/>
              </a:ext>
            </a:extLst>
          </p:cNvPr>
          <p:cNvSpPr>
            <a:spLocks xmlns:a="http://schemas.openxmlformats.org/drawingml/2006/main" noGrp="1"/>
          </p:cNvSpPr>
          <p:nvPr/>
        </p:nvSpPr>
        <p:spPr>
          <a:xfrm xmlns:a="http://schemas.openxmlformats.org/drawingml/2006/main">
            <a:off x="4562475" y="23622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2023–2024</a:t>
            </a:r>
          </a:p>
        </p:txBody>
      </p:sp>
      <p:sp>
        <p:nvSpPr>
          <p:cNvPr id="14" name="">
            <a:extLst xmlns:a="http://schemas.openxmlformats.org/drawingml/2006/main">
              <a:ext uri="{FF2B5EF4-FFF2-40B4-BE49-F238E27FC236}">
                <a16:creationId xmlns:a16="http://schemas.microsoft.com/office/drawing/2014/main" id="{F858E59C-DE78-4D78-9819-464843943E30}"/>
              </a:ext>
            </a:extLst>
          </p:cNvPr>
          <p:cNvSpPr>
            <a:spLocks xmlns:a="http://schemas.openxmlformats.org/drawingml/2006/main" noGrp="1"/>
          </p:cNvSpPr>
          <p:nvPr/>
        </p:nvSpPr>
        <p:spPr>
          <a:xfrm xmlns:a="http://schemas.openxmlformats.org/drawingml/2006/main">
            <a:off x="4562475" y="275272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Microsoft YaHei"/>
                <a:ea typeface="Microsoft YaHei"/>
                <a:cs typeface="Microsoft YaHei"/>
              </a:defRPr>
            </a:pPr>
            <a:r>
              <a:rPr sz="1800" b="0">
                <a:solidFill>
                  <a:srgbClr val="FFFFFF"/>
                </a:solidFill>
                <a:latin typeface="Microsoft YaHei"/>
                <a:ea typeface="Microsoft YaHei"/>
                <a:cs typeface="Microsoft YaHei"/>
              </a:rPr>
              <a:t>验证并保留选择</a:t>
            </a:r>
          </a:p>
        </p:txBody>
      </p:sp>
      <p:sp>
        <p:nvSpPr>
          <p:cNvPr id="15" name="">
            <a:extLst xmlns:a="http://schemas.openxmlformats.org/drawingml/2006/main">
              <a:ext uri="{FF2B5EF4-FFF2-40B4-BE49-F238E27FC236}">
                <a16:creationId xmlns:a16="http://schemas.microsoft.com/office/drawing/2014/main" id="{8C389D7F-605B-48F9-B267-F5AF026A6C08}"/>
              </a:ext>
            </a:extLst>
          </p:cNvPr>
          <p:cNvSpPr>
            <a:spLocks xmlns:a="http://schemas.openxmlformats.org/drawingml/2006/main" noGrp="1"/>
          </p:cNvSpPr>
          <p:nvPr/>
        </p:nvSpPr>
        <p:spPr>
          <a:xfrm xmlns:a="http://schemas.openxmlformats.org/drawingml/2006/main">
            <a:off x="8077200" y="2209800"/>
            <a:ext cx="3457575" cy="10096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4AB4F09-F8E5-4B7D-99A6-27BA8857B28A}"/>
              </a:ext>
            </a:extLst>
          </p:cNvPr>
          <p:cNvSpPr>
            <a:spLocks xmlns:a="http://schemas.openxmlformats.org/drawingml/2006/main" noGrp="1"/>
          </p:cNvSpPr>
          <p:nvPr/>
        </p:nvSpPr>
        <p:spPr>
          <a:xfrm xmlns:a="http://schemas.openxmlformats.org/drawingml/2006/main">
            <a:off x="8286750" y="23622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2025–2026/9</a:t>
            </a:r>
          </a:p>
        </p:txBody>
      </p:sp>
      <p:sp>
        <p:nvSpPr>
          <p:cNvPr id="17" name="">
            <a:extLst xmlns:a="http://schemas.openxmlformats.org/drawingml/2006/main">
              <a:ext uri="{FF2B5EF4-FFF2-40B4-BE49-F238E27FC236}">
                <a16:creationId xmlns:a16="http://schemas.microsoft.com/office/drawing/2014/main" id="{545BCACB-1593-4065-A02D-DEF3FD0222F7}"/>
              </a:ext>
            </a:extLst>
          </p:cNvPr>
          <p:cNvSpPr>
            <a:spLocks xmlns:a="http://schemas.openxmlformats.org/drawingml/2006/main" noGrp="1"/>
          </p:cNvSpPr>
          <p:nvPr/>
        </p:nvSpPr>
        <p:spPr>
          <a:xfrm xmlns:a="http://schemas.openxmlformats.org/drawingml/2006/main">
            <a:off x="8286750" y="275272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Microsoft YaHei"/>
                <a:ea typeface="Microsoft YaHei"/>
                <a:cs typeface="Microsoft YaHei"/>
              </a:defRPr>
            </a:pPr>
            <a:r>
              <a:rPr sz="1800" b="0">
                <a:solidFill>
                  <a:srgbClr val="FFFFFF"/>
                </a:solidFill>
                <a:latin typeface="Microsoft YaHei"/>
                <a:ea typeface="Microsoft YaHei"/>
                <a:cs typeface="Microsoft YaHei"/>
              </a:rPr>
              <a:t>开发后历史复核</a:t>
            </a:r>
          </a:p>
        </p:txBody>
      </p:sp>
      <p:sp>
        <p:nvSpPr>
          <p:cNvPr id="18" name="">
            <a:extLst xmlns:a="http://schemas.openxmlformats.org/drawingml/2006/main">
              <a:ext uri="{FF2B5EF4-FFF2-40B4-BE49-F238E27FC236}">
                <a16:creationId xmlns:a16="http://schemas.microsoft.com/office/drawing/2014/main" id="{0DEDE359-7517-45DD-BB32-C5E40B95EEEE}"/>
              </a:ext>
            </a:extLst>
          </p:cNvPr>
          <p:cNvSpPr>
            <a:spLocks xmlns:a="http://schemas.openxmlformats.org/drawingml/2006/main" noGrp="1"/>
          </p:cNvSpPr>
          <p:nvPr/>
        </p:nvSpPr>
        <p:spPr>
          <a:xfrm xmlns:a="http://schemas.openxmlformats.org/drawingml/2006/main">
            <a:off x="581025" y="37433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DDDD85-F426-4C98-A77A-63D384E2BB4A}"/>
              </a:ext>
            </a:extLst>
          </p:cNvPr>
          <p:cNvSpPr>
            <a:spLocks xmlns:a="http://schemas.openxmlformats.org/drawingml/2006/main" noGrp="1"/>
          </p:cNvSpPr>
          <p:nvPr/>
        </p:nvSpPr>
        <p:spPr>
          <a:xfrm xmlns:a="http://schemas.openxmlformats.org/drawingml/2006/main">
            <a:off x="828675" y="3629025"/>
            <a:ext cx="10553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每年滚动此前三年，同一年度固定模型</a:t>
            </a:r>
          </a:p>
        </p:txBody>
      </p:sp>
      <p:sp>
        <p:nvSpPr>
          <p:cNvPr id="20" name="">
            <a:extLst xmlns:a="http://schemas.openxmlformats.org/drawingml/2006/main">
              <a:ext uri="{FF2B5EF4-FFF2-40B4-BE49-F238E27FC236}">
                <a16:creationId xmlns:a16="http://schemas.microsoft.com/office/drawing/2014/main" id="{CFB5134C-AEC0-4967-AD90-DE5887F2EC4A}"/>
              </a:ext>
            </a:extLst>
          </p:cNvPr>
          <p:cNvSpPr>
            <a:spLocks xmlns:a="http://schemas.openxmlformats.org/drawingml/2006/main" noGrp="1"/>
          </p:cNvSpPr>
          <p:nvPr/>
        </p:nvSpPr>
        <p:spPr>
          <a:xfrm xmlns:a="http://schemas.openxmlformats.org/drawingml/2006/main">
            <a:off x="581025" y="43243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E604494-D50B-4003-9F09-48D01443321E}"/>
              </a:ext>
            </a:extLst>
          </p:cNvPr>
          <p:cNvSpPr>
            <a:spLocks xmlns:a="http://schemas.openxmlformats.org/drawingml/2006/main" noGrp="1"/>
          </p:cNvSpPr>
          <p:nvPr/>
        </p:nvSpPr>
        <p:spPr>
          <a:xfrm xmlns:a="http://schemas.openxmlformats.org/drawingml/2006/main">
            <a:off x="828675" y="4210050"/>
            <a:ext cx="10553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标签：下一开盘至20交易日后开盘收益秩</a:t>
            </a:r>
          </a:p>
        </p:txBody>
      </p:sp>
      <p:sp>
        <p:nvSpPr>
          <p:cNvPr id="22" name="">
            <a:extLst xmlns:a="http://schemas.openxmlformats.org/drawingml/2006/main">
              <a:ext uri="{FF2B5EF4-FFF2-40B4-BE49-F238E27FC236}">
                <a16:creationId xmlns:a16="http://schemas.microsoft.com/office/drawing/2014/main" id="{6F9766F8-7313-426D-AE94-F94A2663C11F}"/>
              </a:ext>
            </a:extLst>
          </p:cNvPr>
          <p:cNvSpPr>
            <a:spLocks xmlns:a="http://schemas.openxmlformats.org/drawingml/2006/main" noGrp="1"/>
          </p:cNvSpPr>
          <p:nvPr/>
        </p:nvSpPr>
        <p:spPr>
          <a:xfrm xmlns:a="http://schemas.openxmlformats.org/drawingml/2006/main">
            <a:off x="581025" y="49053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6CFDE8C-C395-40BC-A1BC-8C1345D2265D}"/>
              </a:ext>
            </a:extLst>
          </p:cNvPr>
          <p:cNvSpPr>
            <a:spLocks xmlns:a="http://schemas.openxmlformats.org/drawingml/2006/main" noGrp="1"/>
          </p:cNvSpPr>
          <p:nvPr/>
        </p:nvSpPr>
        <p:spPr>
          <a:xfrm xmlns:a="http://schemas.openxmlformats.org/drawingml/2006/main">
            <a:off x="828675" y="4791075"/>
            <a:ext cx="10553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按日截尾与标准化，行业/市值回归取残差</a:t>
            </a:r>
          </a:p>
        </p:txBody>
      </p:sp>
      <p:sp>
        <p:nvSpPr>
          <p:cNvPr id="24" name="">
            <a:extLst xmlns:a="http://schemas.openxmlformats.org/drawingml/2006/main">
              <a:ext uri="{FF2B5EF4-FFF2-40B4-BE49-F238E27FC236}">
                <a16:creationId xmlns:a16="http://schemas.microsoft.com/office/drawing/2014/main" id="{799C96AE-4E66-4E46-BD1E-E6D227A80121}"/>
              </a:ext>
            </a:extLst>
          </p:cNvPr>
          <p:cNvSpPr>
            <a:spLocks xmlns:a="http://schemas.openxmlformats.org/drawingml/2006/main" noGrp="1"/>
          </p:cNvSpPr>
          <p:nvPr/>
        </p:nvSpPr>
        <p:spPr>
          <a:xfrm xmlns:a="http://schemas.openxmlformats.org/drawingml/2006/main">
            <a:off x="581025" y="54864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86FFE92-A6B2-4A4B-A283-E76A798F99E0}"/>
              </a:ext>
            </a:extLst>
          </p:cNvPr>
          <p:cNvSpPr>
            <a:spLocks xmlns:a="http://schemas.openxmlformats.org/drawingml/2006/main" noGrp="1"/>
          </p:cNvSpPr>
          <p:nvPr/>
        </p:nvSpPr>
        <p:spPr>
          <a:xfrm xmlns:a="http://schemas.openxmlformats.org/drawingml/2006/main">
            <a:off x="828675" y="5372100"/>
            <a:ext cx="10553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LightGBM输入12个标准化值 + 12个残差值</a:t>
            </a:r>
          </a:p>
        </p:txBody>
      </p:sp>
    </p:spTree>
    <p:extLst>
      <p:ext uri="{BB962C8B-B14F-4D97-AF65-F5344CB8AC3E}">
        <p14:creationId xmlns:p14="http://schemas.microsoft.com/office/powerpoint/2010/main" val="1158600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CBC8223-DB7C-4FC1-8BBD-AC27B664890D}"/>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782B23-AC4F-4F60-BE13-D1B8B1FDFCBC}"/>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组合、现金与成交规则</a:t>
            </a:r>
          </a:p>
        </p:txBody>
      </p:sp>
      <p:sp>
        <p:nvSpPr>
          <p:cNvPr id="3" name="">
            <a:extLst xmlns:a="http://schemas.openxmlformats.org/drawingml/2006/main">
              <a:ext uri="{FF2B5EF4-FFF2-40B4-BE49-F238E27FC236}">
                <a16:creationId xmlns:a16="http://schemas.microsoft.com/office/drawing/2014/main" id="{054D999A-51B0-4C71-A552-E9EFD292ADE3}"/>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3BE709-7C47-4FC4-9449-935C0EB1BC68}"/>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9DDFBE74-37A9-48DA-8BAA-E37B25E68CCB}"/>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7 / 20</a:t>
            </a:r>
          </a:p>
        </p:txBody>
      </p:sp>
      <p:sp>
        <p:nvSpPr>
          <p:cNvPr id="6" name="">
            <a:extLst xmlns:a="http://schemas.openxmlformats.org/drawingml/2006/main">
              <a:ext uri="{FF2B5EF4-FFF2-40B4-BE49-F238E27FC236}">
                <a16:creationId xmlns:a16="http://schemas.microsoft.com/office/drawing/2014/main" id="{E0374C4C-9422-485B-8083-6D28A574C5B0}"/>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2E06B4-9159-495D-8FA1-1279174D2BC9}"/>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DC2161-1C1E-4624-9A09-B2B3165DF6B2}"/>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分数领先不等于立刻全部买入</a:t>
            </a:r>
          </a:p>
        </p:txBody>
      </p:sp>
      <p:sp>
        <p:nvSpPr>
          <p:cNvPr id="9" name="">
            <a:extLst xmlns:a="http://schemas.openxmlformats.org/drawingml/2006/main">
              <a:ext uri="{FF2B5EF4-FFF2-40B4-BE49-F238E27FC236}">
                <a16:creationId xmlns:a16="http://schemas.microsoft.com/office/drawing/2014/main" id="{682DD875-598B-4949-96A4-80AA4217A8C1}"/>
              </a:ext>
            </a:extLst>
          </p:cNvPr>
          <p:cNvSpPr>
            <a:spLocks xmlns:a="http://schemas.openxmlformats.org/drawingml/2006/main" noGrp="1"/>
          </p:cNvSpPr>
          <p:nvPr/>
        </p:nvSpPr>
        <p:spPr>
          <a:xfrm xmlns:a="http://schemas.openxmlformats.org/drawingml/2006/main">
            <a:off x="638175" y="2171700"/>
            <a:ext cx="10915650" cy="876300"/>
          </a:xfrm>
          <a:prstGeom xmlns:a="http://schemas.openxmlformats.org/drawingml/2006/main" prst="rect">
            <a:avLst/>
          </a:prstGeom>
          <a:solidFill xmlns:a="http://schemas.openxmlformats.org/drawingml/2006/main">
            <a:srgbClr val="F3F6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4D15B64-2B42-41CD-85E1-CC6B94FD56BE}"/>
              </a:ext>
            </a:extLst>
          </p:cNvPr>
          <p:cNvSpPr>
            <a:spLocks xmlns:a="http://schemas.openxmlformats.org/drawingml/2006/main" noGrp="1"/>
          </p:cNvSpPr>
          <p:nvPr/>
        </p:nvSpPr>
        <p:spPr>
          <a:xfrm xmlns:a="http://schemas.openxmlformats.org/drawingml/2006/main">
            <a:off x="809625" y="2419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费用 = 0.001 × 实际买额 + 0.0015 × 实际卖额</a:t>
            </a:r>
          </a:p>
        </p:txBody>
      </p:sp>
      <p:sp>
        <p:nvSpPr>
          <p:cNvPr id="11" name="">
            <a:extLst xmlns:a="http://schemas.openxmlformats.org/drawingml/2006/main">
              <a:ext uri="{FF2B5EF4-FFF2-40B4-BE49-F238E27FC236}">
                <a16:creationId xmlns:a16="http://schemas.microsoft.com/office/drawing/2014/main" id="{1F669802-D0C3-46ED-9C0A-E252587FA943}"/>
              </a:ext>
            </a:extLst>
          </p:cNvPr>
          <p:cNvSpPr>
            <a:spLocks xmlns:a="http://schemas.openxmlformats.org/drawingml/2006/main" noGrp="1"/>
          </p:cNvSpPr>
          <p:nvPr/>
        </p:nvSpPr>
        <p:spPr>
          <a:xfrm xmlns:a="http://schemas.openxmlformats.org/drawingml/2006/main">
            <a:off x="581025" y="35147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7011E1-38CA-4037-A711-950B73A68712}"/>
              </a:ext>
            </a:extLst>
          </p:cNvPr>
          <p:cNvSpPr>
            <a:spLocks xmlns:a="http://schemas.openxmlformats.org/drawingml/2006/main" noGrp="1"/>
          </p:cNvSpPr>
          <p:nvPr/>
        </p:nvSpPr>
        <p:spPr>
          <a:xfrm xmlns:a="http://schemas.openxmlformats.org/drawingml/2006/main">
            <a:off x="828675" y="340042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50股目标，20日调仓，20名保留缓冲</a:t>
            </a:r>
          </a:p>
        </p:txBody>
      </p:sp>
      <p:sp>
        <p:nvSpPr>
          <p:cNvPr id="13" name="">
            <a:extLst xmlns:a="http://schemas.openxmlformats.org/drawingml/2006/main">
              <a:ext uri="{FF2B5EF4-FFF2-40B4-BE49-F238E27FC236}">
                <a16:creationId xmlns:a16="http://schemas.microsoft.com/office/drawing/2014/main" id="{DCC54EE4-46EF-4407-BAC8-F5856F0864FE}"/>
              </a:ext>
            </a:extLst>
          </p:cNvPr>
          <p:cNvSpPr>
            <a:spLocks xmlns:a="http://schemas.openxmlformats.org/drawingml/2006/main" noGrp="1"/>
          </p:cNvSpPr>
          <p:nvPr/>
        </p:nvSpPr>
        <p:spPr>
          <a:xfrm xmlns:a="http://schemas.openxmlformats.org/drawingml/2006/main">
            <a:off x="581025" y="41719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E79C661-1E8B-464A-99F0-BF43B162969A}"/>
              </a:ext>
            </a:extLst>
          </p:cNvPr>
          <p:cNvSpPr>
            <a:spLocks xmlns:a="http://schemas.openxmlformats.org/drawingml/2006/main" noGrp="1"/>
          </p:cNvSpPr>
          <p:nvPr/>
        </p:nvSpPr>
        <p:spPr>
          <a:xfrm xmlns:a="http://schemas.openxmlformats.org/drawingml/2006/main">
            <a:off x="828675" y="405765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股票预算最高95%，单股4%，行业25%</a:t>
            </a:r>
          </a:p>
        </p:txBody>
      </p:sp>
      <p:sp>
        <p:nvSpPr>
          <p:cNvPr id="15" name="">
            <a:extLst xmlns:a="http://schemas.openxmlformats.org/drawingml/2006/main">
              <a:ext uri="{FF2B5EF4-FFF2-40B4-BE49-F238E27FC236}">
                <a16:creationId xmlns:a16="http://schemas.microsoft.com/office/drawing/2014/main" id="{D76DBCAC-BA3F-4628-9DAE-1DDFF0D07840}"/>
              </a:ext>
            </a:extLst>
          </p:cNvPr>
          <p:cNvSpPr>
            <a:spLocks xmlns:a="http://schemas.openxmlformats.org/drawingml/2006/main" noGrp="1"/>
          </p:cNvSpPr>
          <p:nvPr/>
        </p:nvSpPr>
        <p:spPr>
          <a:xfrm xmlns:a="http://schemas.openxmlformats.org/drawingml/2006/main">
            <a:off x="581025" y="48291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1078589-0028-4C84-AA69-2704D5F67342}"/>
              </a:ext>
            </a:extLst>
          </p:cNvPr>
          <p:cNvSpPr>
            <a:spLocks xmlns:a="http://schemas.openxmlformats.org/drawingml/2006/main" noGrp="1"/>
          </p:cNvSpPr>
          <p:nvPr/>
        </p:nvSpPr>
        <p:spPr>
          <a:xfrm xmlns:a="http://schemas.openxmlformats.org/drawingml/2006/main">
            <a:off x="828675" y="471487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60日风险估计；20%目标波动；弱趋势预算×0.75</a:t>
            </a:r>
          </a:p>
        </p:txBody>
      </p:sp>
      <p:sp>
        <p:nvSpPr>
          <p:cNvPr id="17" name="">
            <a:extLst xmlns:a="http://schemas.openxmlformats.org/drawingml/2006/main">
              <a:ext uri="{FF2B5EF4-FFF2-40B4-BE49-F238E27FC236}">
                <a16:creationId xmlns:a16="http://schemas.microsoft.com/office/drawing/2014/main" id="{32FB29E0-F918-43B0-83AC-82011202C833}"/>
              </a:ext>
            </a:extLst>
          </p:cNvPr>
          <p:cNvSpPr>
            <a:spLocks xmlns:a="http://schemas.openxmlformats.org/drawingml/2006/main" noGrp="1"/>
          </p:cNvSpPr>
          <p:nvPr/>
        </p:nvSpPr>
        <p:spPr>
          <a:xfrm xmlns:a="http://schemas.openxmlformats.org/drawingml/2006/main">
            <a:off x="581025" y="54864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F09A4D-801E-48AC-B847-A0ADC672042E}"/>
              </a:ext>
            </a:extLst>
          </p:cNvPr>
          <p:cNvSpPr>
            <a:spLocks xmlns:a="http://schemas.openxmlformats.org/drawingml/2006/main" noGrp="1"/>
          </p:cNvSpPr>
          <p:nvPr/>
        </p:nvSpPr>
        <p:spPr>
          <a:xfrm xmlns:a="http://schemas.openxmlformats.org/drawingml/2006/main">
            <a:off x="828675" y="537210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下一开盘执行，实际买10bp / 卖15bp</a:t>
            </a:r>
          </a:p>
        </p:txBody>
      </p:sp>
    </p:spTree>
    <p:extLst>
      <p:ext uri="{BB962C8B-B14F-4D97-AF65-F5344CB8AC3E}">
        <p14:creationId xmlns:p14="http://schemas.microsoft.com/office/powerpoint/2010/main" val="389505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6A04DA7-1AE8-4FEB-88E5-AB054B175222}"/>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8F20A7-B804-4453-A436-9B7D7F99E3C5}"/>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失败记录与候选选择</a:t>
            </a:r>
          </a:p>
        </p:txBody>
      </p:sp>
      <p:sp>
        <p:nvSpPr>
          <p:cNvPr id="3" name="">
            <a:extLst xmlns:a="http://schemas.openxmlformats.org/drawingml/2006/main">
              <a:ext uri="{FF2B5EF4-FFF2-40B4-BE49-F238E27FC236}">
                <a16:creationId xmlns:a16="http://schemas.microsoft.com/office/drawing/2014/main" id="{05A3A69D-A028-4762-A123-2C2DAAEE1E78}"/>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55F356-3BA8-4EE0-B349-1BFD18A0A74C}"/>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33D873CD-86CD-4766-AB82-3A718D792296}"/>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8 / 20</a:t>
            </a:r>
          </a:p>
        </p:txBody>
      </p:sp>
      <p:sp>
        <p:nvSpPr>
          <p:cNvPr id="6" name="">
            <a:extLst xmlns:a="http://schemas.openxmlformats.org/drawingml/2006/main">
              <a:ext uri="{FF2B5EF4-FFF2-40B4-BE49-F238E27FC236}">
                <a16:creationId xmlns:a16="http://schemas.microsoft.com/office/drawing/2014/main" id="{F058B46D-415A-4EA0-A4FE-D696F7B635D3}"/>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73D8B3-4FF4-4AF7-A52A-7EF02E3EEB0B}"/>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BDDA238-7DE8-432C-B7A8-0059D3FE4907}"/>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保留验证预选失败，明确后续历史重选</a:t>
            </a:r>
          </a:p>
        </p:txBody>
      </p:sp>
      <p:sp>
        <p:nvSpPr>
          <p:cNvPr id="9" name="">
            <a:extLst xmlns:a="http://schemas.openxmlformats.org/drawingml/2006/main">
              <a:ext uri="{FF2B5EF4-FFF2-40B4-BE49-F238E27FC236}">
                <a16:creationId xmlns:a16="http://schemas.microsoft.com/office/drawing/2014/main" id="{FE8C8172-C31E-4828-A66C-997782558915}"/>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FAA80FF-3041-49A3-AF16-07AF505F77CE}"/>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V1动量：扣费−83.57%；零费重跑仍−75.16%</a:t>
            </a:r>
          </a:p>
        </p:txBody>
      </p:sp>
      <p:sp>
        <p:nvSpPr>
          <p:cNvPr id="11" name="">
            <a:extLst xmlns:a="http://schemas.openxmlformats.org/drawingml/2006/main">
              <a:ext uri="{FF2B5EF4-FFF2-40B4-BE49-F238E27FC236}">
                <a16:creationId xmlns:a16="http://schemas.microsoft.com/office/drawing/2014/main" id="{0A3EB1BB-6B74-43A0-9E3E-463A8D1A82F8}"/>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29C400-A1E1-471A-AF46-C10AC6C64D77}"/>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V2原预选：固定最终区间+6.12%，落后指数</a:t>
            </a:r>
          </a:p>
        </p:txBody>
      </p:sp>
      <p:sp>
        <p:nvSpPr>
          <p:cNvPr id="13" name="">
            <a:extLst xmlns:a="http://schemas.openxmlformats.org/drawingml/2006/main">
              <a:ext uri="{FF2B5EF4-FFF2-40B4-BE49-F238E27FC236}">
                <a16:creationId xmlns:a16="http://schemas.microsoft.com/office/drawing/2014/main" id="{91F78C6F-0734-40D8-9079-3BD7AFB38E09}"/>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CB7F4E4-0A7C-489E-8D1F-0F1FC5709A90}"/>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V3先预选价值主题，随后仅+4.30%</a:t>
            </a:r>
          </a:p>
        </p:txBody>
      </p:sp>
      <p:sp>
        <p:nvSpPr>
          <p:cNvPr id="15" name="">
            <a:extLst xmlns:a="http://schemas.openxmlformats.org/drawingml/2006/main">
              <a:ext uri="{FF2B5EF4-FFF2-40B4-BE49-F238E27FC236}">
                <a16:creationId xmlns:a16="http://schemas.microsoft.com/office/drawing/2014/main" id="{5B5239A3-2A4E-4F77-8707-0E8835933817}"/>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6CB942E-0561-4E4C-8EBF-EB6DB6F2B259}"/>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历史复核后采用LightGBM预算版；不是独立盲测</a:t>
            </a:r>
          </a:p>
        </p:txBody>
      </p:sp>
    </p:spTree>
    <p:extLst>
      <p:ext uri="{BB962C8B-B14F-4D97-AF65-F5344CB8AC3E}">
        <p14:creationId xmlns:p14="http://schemas.microsoft.com/office/powerpoint/2010/main" val="4505342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A8D11C-6998-49EF-8A22-590A1FA160AE}"/>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DEC72D-5C99-46FE-B68C-704D1452377D}"/>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固定区间的收益与基准</a:t>
            </a:r>
          </a:p>
        </p:txBody>
      </p:sp>
      <p:sp>
        <p:nvSpPr>
          <p:cNvPr id="3" name="">
            <a:extLst xmlns:a="http://schemas.openxmlformats.org/drawingml/2006/main">
              <a:ext uri="{FF2B5EF4-FFF2-40B4-BE49-F238E27FC236}">
                <a16:creationId xmlns:a16="http://schemas.microsoft.com/office/drawing/2014/main" id="{232E933A-E55E-43DB-A9E5-EC65B9473F6F}"/>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232BEC-3FFE-4B4C-93F8-190F1C6736F6}"/>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D2D38527-91E9-4EC7-B26B-F0330E2C35EB}"/>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9 / 20</a:t>
            </a:r>
          </a:p>
        </p:txBody>
      </p:sp>
      <p:sp>
        <p:nvSpPr>
          <p:cNvPr id="6" name="">
            <a:extLst xmlns:a="http://schemas.openxmlformats.org/drawingml/2006/main">
              <a:ext uri="{FF2B5EF4-FFF2-40B4-BE49-F238E27FC236}">
                <a16:creationId xmlns:a16="http://schemas.microsoft.com/office/drawing/2014/main" id="{E7D800CD-8B49-4804-88F2-A943BADA4D29}"/>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A08316-D000-4DB5-B170-BF046F32FE07}"/>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43BA2C-D11A-4F0A-8961-A4D0198AFD1C}"/>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净收益25.13%，最大回撤9.88%</a:t>
            </a:r>
          </a:p>
        </p:txBody>
      </p:sp>
      <p:graphicFrame>
        <p:nvGraphicFramePr>
          <p:cNvPr id="22" name="Chart"/>
          <p:cNvGraphicFramePr/>
          <p:nvPr/>
        </p:nvGraphicFramePr>
        <p:xfrm>
          <a:off xmlns:a="http://schemas.openxmlformats.org/drawingml/2006/main" x="609600" y="2028825"/>
          <a:ext xmlns:a="http://schemas.openxmlformats.org/drawingml/2006/main" cx="10953750" cy="3048000"/>
        </p:xfrm>
        <a:graphic xmlns:a="http://schemas.openxmlformats.org/drawingml/2006/main">
          <a:graphicData uri="http://schemas.openxmlformats.org/drawingml/2006/chart">
            <c:chart xmlns:r="http://schemas.openxmlformats.org/officeDocument/2006/relationships" xmlns:c="http://schemas.openxmlformats.org/drawingml/2006/chart" r:id="Rf008e077979e43d2"/>
          </a:graphicData>
        </a:graphic>
      </p:graphicFrame>
      <p:sp>
        <p:nvSpPr>
          <p:cNvPr id="10" name="">
            <a:extLst xmlns:a="http://schemas.openxmlformats.org/drawingml/2006/main">
              <a:ext uri="{FF2B5EF4-FFF2-40B4-BE49-F238E27FC236}">
                <a16:creationId xmlns:a16="http://schemas.microsoft.com/office/drawing/2014/main" id="{3EFB6383-4CB8-44DF-AE95-E6190AFD12E6}"/>
              </a:ext>
            </a:extLst>
          </p:cNvPr>
          <p:cNvSpPr>
            <a:spLocks xmlns:a="http://schemas.openxmlformats.org/drawingml/2006/main" noGrp="1"/>
          </p:cNvSpPr>
          <p:nvPr/>
        </p:nvSpPr>
        <p:spPr>
          <a:xfrm xmlns:a="http://schemas.openxmlformats.org/drawingml/2006/main">
            <a:off x="1095375" y="5067300"/>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7285"/>
                </a:solidFill>
                <a:latin typeface="Microsoft YaHei"/>
                <a:ea typeface="Microsoft YaHei"/>
                <a:cs typeface="Microsoft YaHei"/>
              </a:defRPr>
            </a:pPr>
            <a:r>
              <a:rPr sz="1350" b="0">
                <a:solidFill>
                  <a:srgbClr val="627285"/>
                </a:solidFill>
                <a:latin typeface="Microsoft YaHei"/>
                <a:ea typeface="Microsoft YaHei"/>
                <a:cs typeface="Microsoft YaHei"/>
              </a:rPr>
              <a:t>2025-01-02</a:t>
            </a:r>
          </a:p>
        </p:txBody>
      </p:sp>
      <p:sp>
        <p:nvSpPr>
          <p:cNvPr id="11" name="">
            <a:extLst xmlns:a="http://schemas.openxmlformats.org/drawingml/2006/main">
              <a:ext uri="{FF2B5EF4-FFF2-40B4-BE49-F238E27FC236}">
                <a16:creationId xmlns:a16="http://schemas.microsoft.com/office/drawing/2014/main" id="{44DDB0A6-3AB0-4CE2-9924-80C8FD6BFC94}"/>
              </a:ext>
            </a:extLst>
          </p:cNvPr>
          <p:cNvSpPr>
            <a:spLocks xmlns:a="http://schemas.openxmlformats.org/drawingml/2006/main" noGrp="1"/>
          </p:cNvSpPr>
          <p:nvPr/>
        </p:nvSpPr>
        <p:spPr>
          <a:xfrm xmlns:a="http://schemas.openxmlformats.org/drawingml/2006/main">
            <a:off x="10096500" y="5067300"/>
            <a:ext cx="1476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7285"/>
                </a:solidFill>
                <a:latin typeface="Microsoft YaHei"/>
                <a:ea typeface="Microsoft YaHei"/>
                <a:cs typeface="Microsoft YaHei"/>
              </a:defRPr>
            </a:pPr>
            <a:r>
              <a:rPr sz="1350" b="0">
                <a:solidFill>
                  <a:srgbClr val="627285"/>
                </a:solidFill>
                <a:latin typeface="Microsoft YaHei"/>
                <a:ea typeface="Microsoft YaHei"/>
                <a:cs typeface="Microsoft YaHei"/>
              </a:rPr>
              <a:t>2026-09-18</a:t>
            </a:r>
          </a:p>
        </p:txBody>
      </p:sp>
      <p:sp>
        <p:nvSpPr>
          <p:cNvPr id="12" name="">
            <a:extLst xmlns:a="http://schemas.openxmlformats.org/drawingml/2006/main">
              <a:ext uri="{FF2B5EF4-FFF2-40B4-BE49-F238E27FC236}">
                <a16:creationId xmlns:a16="http://schemas.microsoft.com/office/drawing/2014/main" id="{504FB015-1715-457A-B813-AAB716594738}"/>
              </a:ext>
            </a:extLst>
          </p:cNvPr>
          <p:cNvSpPr>
            <a:spLocks xmlns:a="http://schemas.openxmlformats.org/drawingml/2006/main" noGrp="1"/>
          </p:cNvSpPr>
          <p:nvPr/>
        </p:nvSpPr>
        <p:spPr>
          <a:xfrm xmlns:a="http://schemas.openxmlformats.org/drawingml/2006/main">
            <a:off x="609600" y="53911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价格指数14.55%，全收益指数19.94%；分别超过10.58和5.19个百分点</a:t>
            </a:r>
          </a:p>
        </p:txBody>
      </p:sp>
      <p:sp>
        <p:nvSpPr>
          <p:cNvPr id="13" name="">
            <a:extLst xmlns:a="http://schemas.openxmlformats.org/drawingml/2006/main">
              <a:ext uri="{FF2B5EF4-FFF2-40B4-BE49-F238E27FC236}">
                <a16:creationId xmlns:a16="http://schemas.microsoft.com/office/drawing/2014/main" id="{AA14EE60-D20E-441A-A221-0BEE9E809482}"/>
              </a:ext>
            </a:extLst>
          </p:cNvPr>
          <p:cNvSpPr>
            <a:spLocks xmlns:a="http://schemas.openxmlformats.org/drawingml/2006/main" noGrp="1"/>
          </p:cNvSpPr>
          <p:nvPr/>
        </p:nvSpPr>
        <p:spPr>
          <a:xfrm xmlns:a="http://schemas.openxmlformats.org/drawingml/2006/main">
            <a:off x="609600" y="613410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7285"/>
                </a:solidFill>
                <a:latin typeface="Microsoft YaHei"/>
                <a:ea typeface="Microsoft YaHei"/>
                <a:cs typeface="Microsoft YaHei"/>
              </a:defRPr>
            </a:pPr>
            <a:r>
              <a:rPr sz="1200" b="0">
                <a:solidFill>
                  <a:srgbClr val="627285"/>
                </a:solidFill>
                <a:latin typeface="Microsoft YaHei"/>
                <a:ea typeface="Microsoft YaHei"/>
                <a:cs typeface="Microsoft YaHei"/>
              </a:rPr>
              <a:t>PowerPoint每5日取点；完整417日曲线见报告与平台。</a:t>
            </a:r>
          </a:p>
        </p:txBody>
      </p:sp>
    </p:spTree>
    <p:extLst>
      <p:ext uri="{BB962C8B-B14F-4D97-AF65-F5344CB8AC3E}">
        <p14:creationId xmlns:p14="http://schemas.microsoft.com/office/powerpoint/2010/main" val="9403789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B3123A-4775-43FC-9FD2-EEA45A8DCD52}"/>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CDA246-9F2E-4D8C-8641-AE243370340A}"/>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压力检查与落后年份</a:t>
            </a:r>
          </a:p>
        </p:txBody>
      </p:sp>
      <p:sp>
        <p:nvSpPr>
          <p:cNvPr id="3" name="">
            <a:extLst xmlns:a="http://schemas.openxmlformats.org/drawingml/2006/main">
              <a:ext uri="{FF2B5EF4-FFF2-40B4-BE49-F238E27FC236}">
                <a16:creationId xmlns:a16="http://schemas.microsoft.com/office/drawing/2014/main" id="{3C17A063-8D95-4FCA-BD7E-1E1EA72F1F3E}"/>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B67E63-3163-468E-9BD6-2B4DC883EFD1}"/>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E4EF4789-3DE6-4BCE-86EC-1E6EAFE025C4}"/>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10 / 20</a:t>
            </a:r>
          </a:p>
        </p:txBody>
      </p:sp>
      <p:sp>
        <p:nvSpPr>
          <p:cNvPr id="6" name="">
            <a:extLst xmlns:a="http://schemas.openxmlformats.org/drawingml/2006/main">
              <a:ext uri="{FF2B5EF4-FFF2-40B4-BE49-F238E27FC236}">
                <a16:creationId xmlns:a16="http://schemas.microsoft.com/office/drawing/2014/main" id="{8E974E10-B494-4B70-B9D9-A872831E182B}"/>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D0A7D7-2285-4308-9382-40D7C164EBCC}"/>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1FCF9B-9530-4F86-83FF-53B55AB72AF2}"/>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提高费用后仍超过同期全收益指数</a:t>
            </a:r>
          </a:p>
        </p:txBody>
      </p:sp>
      <p:graphicFrame>
        <p:nvGraphicFramePr>
          <p:cNvPr id="19" name="Chart"/>
          <p:cNvGraphicFramePr/>
          <p:nvPr/>
        </p:nvGraphicFramePr>
        <p:xfrm>
          <a:off xmlns:a="http://schemas.openxmlformats.org/drawingml/2006/main" x="609600" y="2028825"/>
          <a:ext xmlns:a="http://schemas.openxmlformats.org/drawingml/2006/main" cx="10953750" cy="3219450"/>
        </p:xfrm>
        <a:graphic xmlns:a="http://schemas.openxmlformats.org/drawingml/2006/main">
          <a:graphicData uri="http://schemas.openxmlformats.org/drawingml/2006/chart">
            <c:chart xmlns:r="http://schemas.openxmlformats.org/officeDocument/2006/relationships" xmlns:c="http://schemas.openxmlformats.org/drawingml/2006/chart" r:id="Rf69430de14a646ea"/>
          </a:graphicData>
        </a:graphic>
      </p:graphicFrame>
      <p:sp>
        <p:nvSpPr>
          <p:cNvPr id="10" name="">
            <a:extLst xmlns:a="http://schemas.openxmlformats.org/drawingml/2006/main">
              <a:ext uri="{FF2B5EF4-FFF2-40B4-BE49-F238E27FC236}">
                <a16:creationId xmlns:a16="http://schemas.microsoft.com/office/drawing/2014/main" id="{C2C80C88-8693-4A58-9B26-DD4823F29AC5}"/>
              </a:ext>
            </a:extLst>
          </p:cNvPr>
          <p:cNvSpPr>
            <a:spLocks xmlns:a="http://schemas.openxmlformats.org/drawingml/2006/main" noGrp="1"/>
          </p:cNvSpPr>
          <p:nvPr/>
        </p:nvSpPr>
        <p:spPr>
          <a:xfrm xmlns:a="http://schemas.openxmlformats.org/drawingml/2006/main">
            <a:off x="609600" y="53911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双倍费用：22.48%；延迟一日：27.31%；2023起连续44.09%，2024年落后价格指数</a:t>
            </a:r>
          </a:p>
        </p:txBody>
      </p:sp>
    </p:spTree>
    <p:extLst>
      <p:ext uri="{BB962C8B-B14F-4D97-AF65-F5344CB8AC3E}">
        <p14:creationId xmlns:p14="http://schemas.microsoft.com/office/powerpoint/2010/main" val="5065281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D3E5EB-FC4F-48C0-B035-DA330F0306F1}"/>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19312C-D436-47CB-82D8-236D448E5E6A}"/>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工具一：同区间策略对比</a:t>
            </a:r>
          </a:p>
        </p:txBody>
      </p:sp>
      <p:sp>
        <p:nvSpPr>
          <p:cNvPr id="3" name="">
            <a:extLst xmlns:a="http://schemas.openxmlformats.org/drawingml/2006/main">
              <a:ext uri="{FF2B5EF4-FFF2-40B4-BE49-F238E27FC236}">
                <a16:creationId xmlns:a16="http://schemas.microsoft.com/office/drawing/2014/main" id="{9DA43D7B-1EC0-4576-ADC5-D92E6BFE6F47}"/>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F2A8FD-2E2E-4038-B6A7-ADED4120C02C}"/>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78706BAD-80CD-40D9-9B6C-22789577FCAF}"/>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11 / 20</a:t>
            </a:r>
          </a:p>
        </p:txBody>
      </p:sp>
      <p:sp>
        <p:nvSpPr>
          <p:cNvPr id="6" name="">
            <a:extLst xmlns:a="http://schemas.openxmlformats.org/drawingml/2006/main">
              <a:ext uri="{FF2B5EF4-FFF2-40B4-BE49-F238E27FC236}">
                <a16:creationId xmlns:a16="http://schemas.microsoft.com/office/drawing/2014/main" id="{265306BC-9AA7-4BED-B1C0-00C601EE7DBD}"/>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3C8CD1-0E81-4202-81CF-3047ED5956F0}"/>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CFE53C-F97D-4B99-AA5F-3051BE0E130A}"/>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选择版本与日期，导出同一计算口径的结果</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4cee6c7e6ef4ad8"/>
          <a:stretch xmlns:a="http://schemas.openxmlformats.org/drawingml/2006/main"/>
        </p:blipFill>
        <p:spPr>
          <a:xfrm xmlns:a="http://schemas.openxmlformats.org/drawingml/2006/main">
            <a:off x="1302884" y="2038350"/>
            <a:ext cx="6357257" cy="4171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301AE24-11AE-4BB9-9C60-4EA3C1940B67}"/>
              </a:ext>
            </a:extLst>
          </p:cNvPr>
          <p:cNvSpPr>
            <a:spLocks xmlns:a="http://schemas.openxmlformats.org/drawingml/2006/main" noGrp="1"/>
          </p:cNvSpPr>
          <p:nvPr/>
        </p:nvSpPr>
        <p:spPr>
          <a:xfrm xmlns:a="http://schemas.openxmlformats.org/drawingml/2006/main">
            <a:off x="8705850" y="21907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B43"/>
                </a:solidFill>
                <a:latin typeface="Microsoft YaHei"/>
                <a:ea typeface="Microsoft YaHei"/>
                <a:cs typeface="Microsoft YaHei"/>
              </a:defRPr>
            </a:pPr>
            <a:r>
              <a:rPr sz="1875" b="1">
                <a:solidFill>
                  <a:srgbClr val="142B43"/>
                </a:solidFill>
                <a:latin typeface="Microsoft YaHei"/>
                <a:ea typeface="Microsoft YaHei"/>
                <a:cs typeface="Microsoft YaHei"/>
              </a:rPr>
              <a:t>最多五版策略；价格或全收益基准</a:t>
            </a:r>
          </a:p>
        </p:txBody>
      </p:sp>
      <p:sp>
        <p:nvSpPr>
          <p:cNvPr id="11" name="">
            <a:extLst xmlns:a="http://schemas.openxmlformats.org/drawingml/2006/main">
              <a:ext uri="{FF2B5EF4-FFF2-40B4-BE49-F238E27FC236}">
                <a16:creationId xmlns:a16="http://schemas.microsoft.com/office/drawing/2014/main" id="{E03B2101-7D86-48D4-BC79-1374D46780C8}"/>
              </a:ext>
            </a:extLst>
          </p:cNvPr>
          <p:cNvSpPr>
            <a:spLocks xmlns:a="http://schemas.openxmlformats.org/drawingml/2006/main" noGrp="1"/>
          </p:cNvSpPr>
          <p:nvPr/>
        </p:nvSpPr>
        <p:spPr>
          <a:xfrm xmlns:a="http://schemas.openxmlformats.org/drawingml/2006/main">
            <a:off x="8705850" y="31432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累计/相对净值、回撤、相关性与指标表</a:t>
            </a:r>
          </a:p>
        </p:txBody>
      </p:sp>
      <p:sp>
        <p:nvSpPr>
          <p:cNvPr id="12" name="">
            <a:extLst xmlns:a="http://schemas.openxmlformats.org/drawingml/2006/main">
              <a:ext uri="{FF2B5EF4-FFF2-40B4-BE49-F238E27FC236}">
                <a16:creationId xmlns:a16="http://schemas.microsoft.com/office/drawing/2014/main" id="{22F68B5F-11ED-40F6-859A-48210C7E3362}"/>
              </a:ext>
            </a:extLst>
          </p:cNvPr>
          <p:cNvSpPr>
            <a:spLocks xmlns:a="http://schemas.openxmlformats.org/drawingml/2006/main" noGrp="1"/>
          </p:cNvSpPr>
          <p:nvPr/>
        </p:nvSpPr>
        <p:spPr>
          <a:xfrm xmlns:a="http://schemas.openxmlformats.org/drawingml/2006/main">
            <a:off x="8705850" y="40957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区间从前收盘起算，首日损益保留</a:t>
            </a:r>
          </a:p>
        </p:txBody>
      </p:sp>
    </p:spTree>
    <p:extLst>
      <p:ext uri="{BB962C8B-B14F-4D97-AF65-F5344CB8AC3E}">
        <p14:creationId xmlns:p14="http://schemas.microsoft.com/office/powerpoint/2010/main" val="20072682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90813F-5E1C-4ABB-AD9B-DF3237799435}"/>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123A8C-B8D5-4B1D-93AB-EFBA78BAE75A}"/>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工具二：风险透镜</a:t>
            </a:r>
          </a:p>
        </p:txBody>
      </p:sp>
      <p:sp>
        <p:nvSpPr>
          <p:cNvPr id="3" name="">
            <a:extLst xmlns:a="http://schemas.openxmlformats.org/drawingml/2006/main">
              <a:ext uri="{FF2B5EF4-FFF2-40B4-BE49-F238E27FC236}">
                <a16:creationId xmlns:a16="http://schemas.microsoft.com/office/drawing/2014/main" id="{8F33C7CB-A705-4296-BC23-4FEF91D93494}"/>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D65004-57C2-4B53-8142-03A391E1D85D}"/>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89805806-8159-455A-BEFA-D3BC34A10108}"/>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12 / 20</a:t>
            </a:r>
          </a:p>
        </p:txBody>
      </p:sp>
      <p:sp>
        <p:nvSpPr>
          <p:cNvPr id="6" name="">
            <a:extLst xmlns:a="http://schemas.openxmlformats.org/drawingml/2006/main">
              <a:ext uri="{FF2B5EF4-FFF2-40B4-BE49-F238E27FC236}">
                <a16:creationId xmlns:a16="http://schemas.microsoft.com/office/drawing/2014/main" id="{161A900F-8243-4E9D-B687-51E8618625DA}"/>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F765AF6-75DF-429C-AFDC-827DD2B040D4}"/>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428F7E-3F90-44A6-BA68-706595DBAC8D}"/>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定位回撤、月份与现金配置的影响</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4c0c0c3d171463b"/>
          <a:stretch xmlns:a="http://schemas.openxmlformats.org/drawingml/2006/main"/>
        </p:blipFill>
        <p:spPr>
          <a:xfrm xmlns:a="http://schemas.openxmlformats.org/drawingml/2006/main">
            <a:off x="1302884" y="2038350"/>
            <a:ext cx="6357257" cy="4171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DD86434-A5CB-4A0C-A1F6-A296FA62FEA4}"/>
              </a:ext>
            </a:extLst>
          </p:cNvPr>
          <p:cNvSpPr>
            <a:spLocks xmlns:a="http://schemas.openxmlformats.org/drawingml/2006/main" noGrp="1"/>
          </p:cNvSpPr>
          <p:nvPr/>
        </p:nvSpPr>
        <p:spPr>
          <a:xfrm xmlns:a="http://schemas.openxmlformats.org/drawingml/2006/main">
            <a:off x="8705850" y="21907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B43"/>
                </a:solidFill>
                <a:latin typeface="Microsoft YaHei"/>
                <a:ea typeface="Microsoft YaHei"/>
                <a:cs typeface="Microsoft YaHei"/>
              </a:defRPr>
            </a:pPr>
            <a:r>
              <a:rPr sz="1875" b="1">
                <a:solidFill>
                  <a:srgbClr val="142B43"/>
                </a:solidFill>
                <a:latin typeface="Microsoft YaHei"/>
                <a:ea typeface="Microsoft YaHei"/>
                <a:cs typeface="Microsoft YaHei"/>
              </a:rPr>
              <a:t>月收益日历、日收益分布、回撤恢复表</a:t>
            </a:r>
          </a:p>
        </p:txBody>
      </p:sp>
      <p:sp>
        <p:nvSpPr>
          <p:cNvPr id="11" name="">
            <a:extLst xmlns:a="http://schemas.openxmlformats.org/drawingml/2006/main">
              <a:ext uri="{FF2B5EF4-FFF2-40B4-BE49-F238E27FC236}">
                <a16:creationId xmlns:a16="http://schemas.microsoft.com/office/drawing/2014/main" id="{5B3F6D15-600B-481C-97D7-43C9BA275BA5}"/>
              </a:ext>
            </a:extLst>
          </p:cNvPr>
          <p:cNvSpPr>
            <a:spLocks xmlns:a="http://schemas.openxmlformats.org/drawingml/2006/main" noGrp="1"/>
          </p:cNvSpPr>
          <p:nvPr/>
        </p:nvSpPr>
        <p:spPr>
          <a:xfrm xmlns:a="http://schemas.openxmlformats.org/drawingml/2006/main">
            <a:off x="8705850" y="31432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60日滚动收益、波动与下行偏差</a:t>
            </a:r>
          </a:p>
        </p:txBody>
      </p:sp>
      <p:sp>
        <p:nvSpPr>
          <p:cNvPr id="12" name="">
            <a:extLst xmlns:a="http://schemas.openxmlformats.org/drawingml/2006/main">
              <a:ext uri="{FF2B5EF4-FFF2-40B4-BE49-F238E27FC236}">
                <a16:creationId xmlns:a16="http://schemas.microsoft.com/office/drawing/2014/main" id="{47F01336-2B88-4C58-8566-352EBC51894B}"/>
              </a:ext>
            </a:extLst>
          </p:cNvPr>
          <p:cNvSpPr>
            <a:spLocks xmlns:a="http://schemas.openxmlformats.org/drawingml/2006/main" noGrp="1"/>
          </p:cNvSpPr>
          <p:nvPr/>
        </p:nvSpPr>
        <p:spPr>
          <a:xfrm xmlns:a="http://schemas.openxmlformats.org/drawingml/2006/main">
            <a:off x="8705850" y="40957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现金/费用/换手；静态资金分配情景</a:t>
            </a:r>
          </a:p>
        </p:txBody>
      </p:sp>
    </p:spTree>
    <p:extLst>
      <p:ext uri="{BB962C8B-B14F-4D97-AF65-F5344CB8AC3E}">
        <p14:creationId xmlns:p14="http://schemas.microsoft.com/office/powerpoint/2010/main" val="3158018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76ECF3-3010-4AC7-A668-C60E7B62431B}"/>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F04F28-539D-4FA7-B76A-D8E5A9708BD1}"/>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工具三：因子与行情探索</a:t>
            </a:r>
          </a:p>
        </p:txBody>
      </p:sp>
      <p:sp>
        <p:nvSpPr>
          <p:cNvPr id="3" name="">
            <a:extLst xmlns:a="http://schemas.openxmlformats.org/drawingml/2006/main">
              <a:ext uri="{FF2B5EF4-FFF2-40B4-BE49-F238E27FC236}">
                <a16:creationId xmlns:a16="http://schemas.microsoft.com/office/drawing/2014/main" id="{73A0FA25-BD26-4861-A92A-2F00E3BC679B}"/>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3B9CE1-48C0-492A-B4FB-4162A72DD70A}"/>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0EB82E80-3B55-4F87-807A-63C59081330F}"/>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13 / 20</a:t>
            </a:r>
          </a:p>
        </p:txBody>
      </p:sp>
      <p:sp>
        <p:nvSpPr>
          <p:cNvPr id="6" name="">
            <a:extLst xmlns:a="http://schemas.openxmlformats.org/drawingml/2006/main">
              <a:ext uri="{FF2B5EF4-FFF2-40B4-BE49-F238E27FC236}">
                <a16:creationId xmlns:a16="http://schemas.microsoft.com/office/drawing/2014/main" id="{D66CCD4E-8B02-4194-891A-9405631899F4}"/>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E78295E-9157-4AFD-B5B4-79A9405CEB80}"/>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BBA1CEC-A48C-498E-86DA-0F3307AB9F03}"/>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把模型输入连接到具体日期和股票</a:t>
            </a:r>
          </a:p>
        </p:txBody>
      </p:sp>
      <p:sp>
        <p:nvSpPr>
          <p:cNvPr id="9" name="">
            <a:extLst xmlns:a="http://schemas.openxmlformats.org/drawingml/2006/main">
              <a:ext uri="{FF2B5EF4-FFF2-40B4-BE49-F238E27FC236}">
                <a16:creationId xmlns:a16="http://schemas.microsoft.com/office/drawing/2014/main" id="{80063A5E-C88A-407C-8BD0-70020B567801}"/>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ED5BA15-BE86-4760-8BBC-3EBC05A5BAFD}"/>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十二因子按日期诊断；行情按股票筛选</a:t>
            </a:r>
          </a:p>
        </p:txBody>
      </p:sp>
      <p:sp>
        <p:nvSpPr>
          <p:cNvPr id="11" name="">
            <a:extLst xmlns:a="http://schemas.openxmlformats.org/drawingml/2006/main">
              <a:ext uri="{FF2B5EF4-FFF2-40B4-BE49-F238E27FC236}">
                <a16:creationId xmlns:a16="http://schemas.microsoft.com/office/drawing/2014/main" id="{35F139ED-3FF6-49CF-84E8-A12BCF63F140}"/>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6F52666-665E-43CE-875A-0FEF606A5975}"/>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因子卡、覆盖率、IC/Rank IC与分组诊断</a:t>
            </a:r>
          </a:p>
        </p:txBody>
      </p:sp>
      <p:sp>
        <p:nvSpPr>
          <p:cNvPr id="13" name="">
            <a:extLst xmlns:a="http://schemas.openxmlformats.org/drawingml/2006/main">
              <a:ext uri="{FF2B5EF4-FFF2-40B4-BE49-F238E27FC236}">
                <a16:creationId xmlns:a16="http://schemas.microsoft.com/office/drawing/2014/main" id="{254C6EB8-1F19-440E-B2E9-735EFC7F3DCF}"/>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CA18E33-78E5-46A9-B85B-399385BEDE75}"/>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行情K线与成交量，真实数据缺失明确说明</a:t>
            </a:r>
          </a:p>
        </p:txBody>
      </p:sp>
    </p:spTree>
    <p:extLst>
      <p:ext uri="{BB962C8B-B14F-4D97-AF65-F5344CB8AC3E}">
        <p14:creationId xmlns:p14="http://schemas.microsoft.com/office/powerpoint/2010/main" val="178566940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981C07-3F23-453D-B43A-A458B8249EAD}"/>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E8C731-7F38-4A2D-86CC-6D36633861E6}"/>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工具四：实验档案与研究笔记</a:t>
            </a:r>
          </a:p>
        </p:txBody>
      </p:sp>
      <p:sp>
        <p:nvSpPr>
          <p:cNvPr id="3" name="">
            <a:extLst xmlns:a="http://schemas.openxmlformats.org/drawingml/2006/main">
              <a:ext uri="{FF2B5EF4-FFF2-40B4-BE49-F238E27FC236}">
                <a16:creationId xmlns:a16="http://schemas.microsoft.com/office/drawing/2014/main" id="{AEA8427B-1EB8-493A-BA4D-0F4B758D8DA0}"/>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BF57AB-4E89-4C89-B25E-64E455AE667E}"/>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F5995754-EE39-466B-8601-8EEB3B2007FF}"/>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14 / 20</a:t>
            </a:r>
          </a:p>
        </p:txBody>
      </p:sp>
      <p:sp>
        <p:nvSpPr>
          <p:cNvPr id="6" name="">
            <a:extLst xmlns:a="http://schemas.openxmlformats.org/drawingml/2006/main">
              <a:ext uri="{FF2B5EF4-FFF2-40B4-BE49-F238E27FC236}">
                <a16:creationId xmlns:a16="http://schemas.microsoft.com/office/drawing/2014/main" id="{8CF785F4-F406-46DB-8500-192522ECE9D2}"/>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2D6CE99-ACAF-4126-AEDD-4BF20E945AB6}"/>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80EA1D7-C395-4A61-B53A-C71237F96A70}"/>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从一条净值曲线追到订单与配置</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a382f13ab8c4176"/>
          <a:stretch xmlns:a="http://schemas.openxmlformats.org/drawingml/2006/main"/>
        </p:blipFill>
        <p:spPr>
          <a:xfrm xmlns:a="http://schemas.openxmlformats.org/drawingml/2006/main">
            <a:off x="1302884" y="2038350"/>
            <a:ext cx="6357257" cy="4171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303E2E3-26A1-447E-A558-67042F1D9654}"/>
              </a:ext>
            </a:extLst>
          </p:cNvPr>
          <p:cNvSpPr>
            <a:spLocks xmlns:a="http://schemas.openxmlformats.org/drawingml/2006/main" noGrp="1"/>
          </p:cNvSpPr>
          <p:nvPr/>
        </p:nvSpPr>
        <p:spPr>
          <a:xfrm xmlns:a="http://schemas.openxmlformats.org/drawingml/2006/main">
            <a:off x="8705850" y="21907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B43"/>
                </a:solidFill>
                <a:latin typeface="Microsoft YaHei"/>
                <a:ea typeface="Microsoft YaHei"/>
                <a:cs typeface="Microsoft YaHei"/>
              </a:defRPr>
            </a:pPr>
            <a:r>
              <a:rPr sz="1875" b="1">
                <a:solidFill>
                  <a:srgbClr val="142B43"/>
                </a:solidFill>
                <a:latin typeface="Microsoft YaHei"/>
                <a:ea typeface="Microsoft YaHei"/>
                <a:cs typeface="Microsoft YaHei"/>
              </a:rPr>
              <a:t>按实验、日期、股票、成交状态检索</a:t>
            </a:r>
          </a:p>
        </p:txBody>
      </p:sp>
      <p:sp>
        <p:nvSpPr>
          <p:cNvPr id="11" name="">
            <a:extLst xmlns:a="http://schemas.openxmlformats.org/drawingml/2006/main">
              <a:ext uri="{FF2B5EF4-FFF2-40B4-BE49-F238E27FC236}">
                <a16:creationId xmlns:a16="http://schemas.microsoft.com/office/drawing/2014/main" id="{80DC04AD-DC74-4090-AD1A-EB08C6483EF2}"/>
              </a:ext>
            </a:extLst>
          </p:cNvPr>
          <p:cNvSpPr>
            <a:spLocks xmlns:a="http://schemas.openxmlformats.org/drawingml/2006/main" noGrp="1"/>
          </p:cNvSpPr>
          <p:nvPr/>
        </p:nvSpPr>
        <p:spPr>
          <a:xfrm xmlns:a="http://schemas.openxmlformats.org/drawingml/2006/main">
            <a:off x="8705850" y="31432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查看资金、持仓、费用与来源身份</a:t>
            </a:r>
          </a:p>
        </p:txBody>
      </p:sp>
      <p:sp>
        <p:nvSpPr>
          <p:cNvPr id="12" name="">
            <a:extLst xmlns:a="http://schemas.openxmlformats.org/drawingml/2006/main">
              <a:ext uri="{FF2B5EF4-FFF2-40B4-BE49-F238E27FC236}">
                <a16:creationId xmlns:a16="http://schemas.microsoft.com/office/drawing/2014/main" id="{966FCC6B-FC70-4249-B2F6-4BB14F18C89B}"/>
              </a:ext>
            </a:extLst>
          </p:cNvPr>
          <p:cNvSpPr>
            <a:spLocks xmlns:a="http://schemas.openxmlformats.org/drawingml/2006/main" noGrp="1"/>
          </p:cNvSpPr>
          <p:nvPr/>
        </p:nvSpPr>
        <p:spPr>
          <a:xfrm xmlns:a="http://schemas.openxmlformats.org/drawingml/2006/main">
            <a:off x="8705850" y="4095750"/>
            <a:ext cx="293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保存本地笔记，导出研究记录</a:t>
            </a:r>
          </a:p>
        </p:txBody>
      </p:sp>
    </p:spTree>
    <p:extLst>
      <p:ext uri="{BB962C8B-B14F-4D97-AF65-F5344CB8AC3E}">
        <p14:creationId xmlns:p14="http://schemas.microsoft.com/office/powerpoint/2010/main" val="11041639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274B78-F137-44DB-A95E-2FA0BFA42195}"/>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D2ADB2-0056-48BD-881C-D4F084AC6A7B}"/>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Qlib与外部工具连接</a:t>
            </a:r>
          </a:p>
        </p:txBody>
      </p:sp>
      <p:sp>
        <p:nvSpPr>
          <p:cNvPr id="3" name="">
            <a:extLst xmlns:a="http://schemas.openxmlformats.org/drawingml/2006/main">
              <a:ext uri="{FF2B5EF4-FFF2-40B4-BE49-F238E27FC236}">
                <a16:creationId xmlns:a16="http://schemas.microsoft.com/office/drawing/2014/main" id="{661391C3-9CCA-4380-87CC-BE064BED96CB}"/>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81FCAA-8E7B-4599-B2D1-A88E8DF046F4}"/>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139089E7-5207-468C-8C3A-952774285FF1}"/>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15 / 20</a:t>
            </a:r>
          </a:p>
        </p:txBody>
      </p:sp>
      <p:sp>
        <p:nvSpPr>
          <p:cNvPr id="6" name="">
            <a:extLst xmlns:a="http://schemas.openxmlformats.org/drawingml/2006/main">
              <a:ext uri="{FF2B5EF4-FFF2-40B4-BE49-F238E27FC236}">
                <a16:creationId xmlns:a16="http://schemas.microsoft.com/office/drawing/2014/main" id="{E40DBFAA-EC19-4B34-A04C-704ACEDAFF97}"/>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F4BB1A8-626F-4D56-BD32-3ADC95067D29}"/>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0F768EB-4B4C-4E8E-AFB5-9B3F590DF0E5}"/>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Qlib原生8表达式与Alpha158配置已实测</a:t>
            </a:r>
          </a:p>
        </p:txBody>
      </p:sp>
      <p:graphicFrame>
        <p:nvGraphicFramePr>
          <p:cNvPr id="19" name=""/>
          <p:cNvGraphicFramePr/>
          <p:nvPr/>
        </p:nvGraphicFramePr>
        <p:xfrm>
          <a:off xmlns:a="http://schemas.openxmlformats.org/drawingml/2006/main" x="647700" y="2085975"/>
          <a:ext xmlns:a="http://schemas.openxmlformats.org/drawingml/2006/main" cx="10896600" cy="2762250"/>
        </p:xfrm>
        <a:graphic xmlns:a="http://schemas.openxmlformats.org/drawingml/2006/main">
          <a:graphicData uri="http://schemas.openxmlformats.org/drawingml/2006/table">
            <a:tbl>
              <a:tblPr/>
              <a:tblGrid>
                <a:gridCol w="3381375"/>
                <a:gridCol w="7515225"/>
              </a:tblGrid>
              <a:tr h="552450">
                <a:tc>
                  <a:txBody>
                    <a:bodyPr>
                      <a:noAutofit/>
                    </a:bodyPr>
                    <a:lstStyle/>
                    <a:p>
                      <a:r>
                        <a:rPr sz="2025" b="1">
                          <a:solidFill>
                            <a:srgbClr val="FFFFFF"/>
                          </a:solidFill>
                          <a:latin typeface="Microsoft YaHei"/>
                          <a:ea typeface="Microsoft YaHei"/>
                          <a:cs typeface="Microsoft YaHei"/>
                        </a:rPr>
                        <a:t>接入层</a:t>
                      </a:r>
                    </a:p>
                  </a:txBody>
                  <a:tcPr marL="91440" marR="91440" marT="45720" marB="45720">
                    <a:solidFill>
                      <a:srgbClr val="142B43"/>
                    </a:solidFill>
                  </a:tcPr>
                </a:tc>
                <a:tc>
                  <a:txBody>
                    <a:bodyPr>
                      <a:noAutofit/>
                    </a:bodyPr>
                    <a:lstStyle/>
                    <a:p>
                      <a:r>
                        <a:rPr sz="2025" b="1">
                          <a:solidFill>
                            <a:srgbClr val="FFFFFF"/>
                          </a:solidFill>
                          <a:latin typeface="Microsoft YaHei"/>
                          <a:ea typeface="Microsoft YaHei"/>
                          <a:cs typeface="Microsoft YaHei"/>
                        </a:rPr>
                        <a:t>实际结果与范围</a:t>
                      </a:r>
                    </a:p>
                  </a:txBody>
                  <a:tcPr marL="91440" marR="91440" marT="45720" marB="45720">
                    <a:solidFill>
                      <a:srgbClr val="142B43"/>
                    </a:solidFill>
                  </a:tcPr>
                </a:tc>
              </a:tr>
              <a:tr h="552450">
                <a:tc>
                  <a:txBody>
                    <a:bodyPr>
                      <a:noAutofit/>
                    </a:bodyPr>
                    <a:lstStyle/>
                    <a:p>
                      <a:r>
                        <a:rPr sz="1875" b="0">
                          <a:solidFill>
                            <a:srgbClr val="142B43"/>
                          </a:solidFill>
                          <a:latin typeface="Microsoft YaHei"/>
                          <a:ea typeface="Microsoft YaHei"/>
                          <a:cs typeface="Microsoft YaHei"/>
                        </a:rPr>
                        <a:t>Qlib数据桥</a:t>
                      </a:r>
                    </a:p>
                  </a:txBody>
                  <a:tcPr marL="91440" marR="91440" marT="45720" marB="45720">
                    <a:solidFill>
                      <a:srgbClr val="F2F6F9"/>
                    </a:solidFill>
                  </a:tcPr>
                </a:tc>
                <a:tc>
                  <a:txBody>
                    <a:bodyPr>
                      <a:noAutofit/>
                    </a:bodyPr>
                    <a:lstStyle/>
                    <a:p>
                      <a:r>
                        <a:rPr sz="1875" b="0">
                          <a:solidFill>
                            <a:srgbClr val="142B43"/>
                          </a:solidFill>
                          <a:latin typeface="Microsoft YaHei"/>
                          <a:ea typeface="Microsoft YaHei"/>
                          <a:cs typeface="Microsoft YaHei"/>
                        </a:rPr>
                        <a:t>0.9.7 / 20股 / 33,754条日线</a:t>
                      </a:r>
                    </a:p>
                  </a:txBody>
                  <a:tcPr marL="91440" marR="91440" marT="45720" marB="45720">
                    <a:solidFill>
                      <a:srgbClr val="F2F6F9"/>
                    </a:solidFill>
                  </a:tcPr>
                </a:tc>
              </a:tr>
              <a:tr h="552450">
                <a:tc>
                  <a:txBody>
                    <a:bodyPr>
                      <a:noAutofit/>
                    </a:bodyPr>
                    <a:lstStyle/>
                    <a:p>
                      <a:r>
                        <a:rPr sz="1875" b="0">
                          <a:solidFill>
                            <a:srgbClr val="142B43"/>
                          </a:solidFill>
                          <a:latin typeface="Microsoft YaHei"/>
                          <a:ea typeface="Microsoft YaHei"/>
                          <a:cs typeface="Microsoft YaHei"/>
                        </a:rPr>
                        <a:t>独立核验</a:t>
                      </a:r>
                    </a:p>
                  </a:txBody>
                  <a:tcPr marL="91440" marR="91440" marT="45720" marB="45720">
                    <a:solidFill>
                      <a:srgbClr val="FFFFFF"/>
                    </a:solidFill>
                  </a:tcPr>
                </a:tc>
                <a:tc>
                  <a:txBody>
                    <a:bodyPr>
                      <a:noAutofit/>
                    </a:bodyPr>
                    <a:lstStyle/>
                    <a:p>
                      <a:r>
                        <a:rPr sz="1875" b="0">
                          <a:solidFill>
                            <a:srgbClr val="142B43"/>
                          </a:solidFill>
                          <a:latin typeface="Microsoft YaHei"/>
                          <a:ea typeface="Microsoft YaHei"/>
                          <a:cs typeface="Microsoft YaHei"/>
                        </a:rPr>
                        <a:t>8项表达式，269,554个数值核对</a:t>
                      </a:r>
                    </a:p>
                  </a:txBody>
                  <a:tcPr marL="91440" marR="91440" marT="45720" marB="45720">
                    <a:solidFill>
                      <a:srgbClr val="FFFFFF"/>
                    </a:solidFill>
                  </a:tcPr>
                </a:tc>
              </a:tr>
              <a:tr h="552450">
                <a:tc>
                  <a:txBody>
                    <a:bodyPr>
                      <a:noAutofit/>
                    </a:bodyPr>
                    <a:lstStyle/>
                    <a:p>
                      <a:r>
                        <a:rPr sz="1875" b="0">
                          <a:solidFill>
                            <a:srgbClr val="142B43"/>
                          </a:solidFill>
                          <a:latin typeface="Microsoft YaHei"/>
                          <a:ea typeface="Microsoft YaHei"/>
                          <a:cs typeface="Microsoft YaHei"/>
                        </a:rPr>
                        <a:t>Alpha158</a:t>
                      </a:r>
                    </a:p>
                  </a:txBody>
                  <a:tcPr marL="91440" marR="91440" marT="45720" marB="45720">
                    <a:solidFill>
                      <a:srgbClr val="F2F6F9"/>
                    </a:solidFill>
                  </a:tcPr>
                </a:tc>
                <a:tc>
                  <a:txBody>
                    <a:bodyPr>
                      <a:noAutofit/>
                    </a:bodyPr>
                    <a:lstStyle/>
                    <a:p>
                      <a:r>
                        <a:rPr sz="1875" b="0">
                          <a:solidFill>
                            <a:srgbClr val="142B43"/>
                          </a:solidFill>
                          <a:latin typeface="Microsoft YaHei"/>
                          <a:ea typeface="Microsoft YaHei"/>
                          <a:cs typeface="Microsoft YaHei"/>
                        </a:rPr>
                        <a:t>官方158项表达式实际执行</a:t>
                      </a:r>
                    </a:p>
                  </a:txBody>
                  <a:tcPr marL="91440" marR="91440" marT="45720" marB="45720">
                    <a:solidFill>
                      <a:srgbClr val="F2F6F9"/>
                    </a:solidFill>
                  </a:tcPr>
                </a:tc>
              </a:tr>
              <a:tr h="552450">
                <a:tc>
                  <a:txBody>
                    <a:bodyPr>
                      <a:noAutofit/>
                    </a:bodyPr>
                    <a:lstStyle/>
                    <a:p>
                      <a:r>
                        <a:rPr sz="1875" b="0">
                          <a:solidFill>
                            <a:srgbClr val="142B43"/>
                          </a:solidFill>
                          <a:latin typeface="Microsoft YaHei"/>
                          <a:ea typeface="Microsoft YaHei"/>
                          <a:cs typeface="Microsoft YaHei"/>
                        </a:rPr>
                        <a:t>同花顺文件桥</a:t>
                      </a:r>
                    </a:p>
                  </a:txBody>
                  <a:tcPr marL="91440" marR="91440" marT="45720" marB="45720">
                    <a:solidFill>
                      <a:srgbClr val="FFFFFF"/>
                    </a:solidFill>
                  </a:tcPr>
                </a:tc>
                <a:tc>
                  <a:txBody>
                    <a:bodyPr>
                      <a:noAutofit/>
                    </a:bodyPr>
                    <a:lstStyle/>
                    <a:p>
                      <a:r>
                        <a:rPr sz="1875" b="0">
                          <a:solidFill>
                            <a:srgbClr val="142B43"/>
                          </a:solidFill>
                          <a:latin typeface="Microsoft YaHei"/>
                          <a:ea typeface="Microsoft YaHei"/>
                          <a:cs typeface="Microsoft YaHei"/>
                        </a:rPr>
                        <a:t>CSV导入与金额核对；账号/API未连接</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561A2C0-D801-48F5-BB4B-05354E3E650D}"/>
              </a:ext>
            </a:extLst>
          </p:cNvPr>
          <p:cNvSpPr>
            <a:spLocks xmlns:a="http://schemas.openxmlformats.org/drawingml/2006/main" noGrp="1"/>
          </p:cNvSpPr>
          <p:nvPr/>
        </p:nvSpPr>
        <p:spPr>
          <a:xfrm xmlns:a="http://schemas.openxmlformats.org/drawingml/2006/main">
            <a:off x="657225" y="5048250"/>
            <a:ext cx="10877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Qlib尚未训练新策略；V3历史结果保留</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同花顺尚未登录，未提交订单</a:t>
            </a:r>
          </a:p>
        </p:txBody>
      </p:sp>
    </p:spTree>
    <p:extLst>
      <p:ext uri="{BB962C8B-B14F-4D97-AF65-F5344CB8AC3E}">
        <p14:creationId xmlns:p14="http://schemas.microsoft.com/office/powerpoint/2010/main" val="12719333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58A3AF5-2053-4A28-A0DE-DAC706EEF46F}"/>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88C7B4-73FC-4944-94A3-02BE08604833}"/>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现场演示顺序</a:t>
            </a:r>
          </a:p>
        </p:txBody>
      </p:sp>
      <p:sp>
        <p:nvSpPr>
          <p:cNvPr id="3" name="">
            <a:extLst xmlns:a="http://schemas.openxmlformats.org/drawingml/2006/main">
              <a:ext uri="{FF2B5EF4-FFF2-40B4-BE49-F238E27FC236}">
                <a16:creationId xmlns:a16="http://schemas.microsoft.com/office/drawing/2014/main" id="{8DB843B3-2B30-4967-8E68-F94ADBBEC310}"/>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87E42A-FDAB-4619-9CCE-A29D1A8A23F8}"/>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FB7E64B9-FEE8-4F93-923F-16C2AD83562D}"/>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16 / 20</a:t>
            </a:r>
          </a:p>
        </p:txBody>
      </p:sp>
      <p:sp>
        <p:nvSpPr>
          <p:cNvPr id="6" name="">
            <a:extLst xmlns:a="http://schemas.openxmlformats.org/drawingml/2006/main">
              <a:ext uri="{FF2B5EF4-FFF2-40B4-BE49-F238E27FC236}">
                <a16:creationId xmlns:a16="http://schemas.microsoft.com/office/drawing/2014/main" id="{E6ED5BF4-B28C-40AC-B616-0B5A8F78802B}"/>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59CE6E4-F2DA-4B19-88AB-AC4B73DDB44B}"/>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0059E4-1D11-48C1-ADC5-DA38190774CB}"/>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两分钟完成一次可复核的研究操作</a:t>
            </a:r>
          </a:p>
        </p:txBody>
      </p:sp>
      <p:sp>
        <p:nvSpPr>
          <p:cNvPr id="9" name="">
            <a:extLst xmlns:a="http://schemas.openxmlformats.org/drawingml/2006/main">
              <a:ext uri="{FF2B5EF4-FFF2-40B4-BE49-F238E27FC236}">
                <a16:creationId xmlns:a16="http://schemas.microsoft.com/office/drawing/2014/main" id="{9A37B01D-CDEF-4DE3-85DA-A67722403829}"/>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806765D-DA9B-4C60-8C9C-5FCBEA6F5E71}"/>
              </a:ext>
            </a:extLst>
          </p:cNvPr>
          <p:cNvSpPr>
            <a:spLocks xmlns:a="http://schemas.openxmlformats.org/drawingml/2006/main" noGrp="1"/>
          </p:cNvSpPr>
          <p:nvPr/>
        </p:nvSpPr>
        <p:spPr>
          <a:xfrm xmlns:a="http://schemas.openxmlformats.org/drawingml/2006/main">
            <a:off x="828675" y="2238375"/>
            <a:ext cx="10553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43"/>
                </a:solidFill>
                <a:latin typeface="Microsoft YaHei"/>
                <a:ea typeface="Microsoft YaHei"/>
                <a:cs typeface="Microsoft YaHei"/>
              </a:defRPr>
            </a:pPr>
            <a:r>
              <a:rPr sz="2250" b="0">
                <a:solidFill>
                  <a:srgbClr val="142B43"/>
                </a:solidFill>
                <a:latin typeface="Microsoft YaHei"/>
                <a:ea typeface="Microsoft YaHei"/>
                <a:cs typeface="Microsoft YaHei"/>
              </a:rPr>
              <a:t>总览确认V3 → 对比V2与全收益指数</a:t>
            </a:r>
          </a:p>
        </p:txBody>
      </p:sp>
      <p:sp>
        <p:nvSpPr>
          <p:cNvPr id="11" name="">
            <a:extLst xmlns:a="http://schemas.openxmlformats.org/drawingml/2006/main">
              <a:ext uri="{FF2B5EF4-FFF2-40B4-BE49-F238E27FC236}">
                <a16:creationId xmlns:a16="http://schemas.microsoft.com/office/drawing/2014/main" id="{A693003D-FC2B-4F96-B3B5-EB106DD52525}"/>
              </a:ext>
            </a:extLst>
          </p:cNvPr>
          <p:cNvSpPr>
            <a:spLocks xmlns:a="http://schemas.openxmlformats.org/drawingml/2006/main" noGrp="1"/>
          </p:cNvSpPr>
          <p:nvPr/>
        </p:nvSpPr>
        <p:spPr>
          <a:xfrm xmlns:a="http://schemas.openxmlformats.org/drawingml/2006/main">
            <a:off x="581025" y="31718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ADEB84-04E8-412E-88D9-2BA660ACE02E}"/>
              </a:ext>
            </a:extLst>
          </p:cNvPr>
          <p:cNvSpPr>
            <a:spLocks xmlns:a="http://schemas.openxmlformats.org/drawingml/2006/main" noGrp="1"/>
          </p:cNvSpPr>
          <p:nvPr/>
        </p:nvSpPr>
        <p:spPr>
          <a:xfrm xmlns:a="http://schemas.openxmlformats.org/drawingml/2006/main">
            <a:off x="828675" y="3057525"/>
            <a:ext cx="10553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43"/>
                </a:solidFill>
                <a:latin typeface="Microsoft YaHei"/>
                <a:ea typeface="Microsoft YaHei"/>
                <a:cs typeface="Microsoft YaHei"/>
              </a:defRPr>
            </a:pPr>
            <a:r>
              <a:rPr sz="2250" b="0">
                <a:solidFill>
                  <a:srgbClr val="142B43"/>
                </a:solidFill>
                <a:latin typeface="Microsoft YaHei"/>
                <a:ea typeface="Microsoft YaHei"/>
                <a:cs typeface="Microsoft YaHei"/>
              </a:rPr>
              <a:t>风险透镜改日期 → 查看回撤恢复与月历</a:t>
            </a:r>
          </a:p>
        </p:txBody>
      </p:sp>
      <p:sp>
        <p:nvSpPr>
          <p:cNvPr id="13" name="">
            <a:extLst xmlns:a="http://schemas.openxmlformats.org/drawingml/2006/main">
              <a:ext uri="{FF2B5EF4-FFF2-40B4-BE49-F238E27FC236}">
                <a16:creationId xmlns:a16="http://schemas.microsoft.com/office/drawing/2014/main" id="{BD5D79DE-3C0A-45E9-87B6-7F463E06F69D}"/>
              </a:ext>
            </a:extLst>
          </p:cNvPr>
          <p:cNvSpPr>
            <a:spLocks xmlns:a="http://schemas.openxmlformats.org/drawingml/2006/main" noGrp="1"/>
          </p:cNvSpPr>
          <p:nvPr/>
        </p:nvSpPr>
        <p:spPr>
          <a:xfrm xmlns:a="http://schemas.openxmlformats.org/drawingml/2006/main">
            <a:off x="581025" y="39909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C19D3A-6EA6-4179-B42C-483C657EBBBB}"/>
              </a:ext>
            </a:extLst>
          </p:cNvPr>
          <p:cNvSpPr>
            <a:spLocks xmlns:a="http://schemas.openxmlformats.org/drawingml/2006/main" noGrp="1"/>
          </p:cNvSpPr>
          <p:nvPr/>
        </p:nvSpPr>
        <p:spPr>
          <a:xfrm xmlns:a="http://schemas.openxmlformats.org/drawingml/2006/main">
            <a:off x="828675" y="3876675"/>
            <a:ext cx="10553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43"/>
                </a:solidFill>
                <a:latin typeface="Microsoft YaHei"/>
                <a:ea typeface="Microsoft YaHei"/>
                <a:cs typeface="Microsoft YaHei"/>
              </a:defRPr>
            </a:pPr>
            <a:r>
              <a:rPr sz="2250" b="0">
                <a:solidFill>
                  <a:srgbClr val="142B43"/>
                </a:solidFill>
                <a:latin typeface="Microsoft YaHei"/>
                <a:ea typeface="Microsoft YaHei"/>
                <a:cs typeface="Microsoft YaHei"/>
              </a:rPr>
              <a:t>因子或行情查询 → 实验档案检索订单</a:t>
            </a:r>
          </a:p>
        </p:txBody>
      </p:sp>
      <p:sp>
        <p:nvSpPr>
          <p:cNvPr id="15" name="">
            <a:extLst xmlns:a="http://schemas.openxmlformats.org/drawingml/2006/main">
              <a:ext uri="{FF2B5EF4-FFF2-40B4-BE49-F238E27FC236}">
                <a16:creationId xmlns:a16="http://schemas.microsoft.com/office/drawing/2014/main" id="{0A7C6DE1-2B1C-486B-93DE-F99E0FDCF4B1}"/>
              </a:ext>
            </a:extLst>
          </p:cNvPr>
          <p:cNvSpPr>
            <a:spLocks xmlns:a="http://schemas.openxmlformats.org/drawingml/2006/main" noGrp="1"/>
          </p:cNvSpPr>
          <p:nvPr/>
        </p:nvSpPr>
        <p:spPr>
          <a:xfrm xmlns:a="http://schemas.openxmlformats.org/drawingml/2006/main">
            <a:off x="581025" y="48101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096A96C-340F-4FA5-A175-82C4D535BE02}"/>
              </a:ext>
            </a:extLst>
          </p:cNvPr>
          <p:cNvSpPr>
            <a:spLocks xmlns:a="http://schemas.openxmlformats.org/drawingml/2006/main" noGrp="1"/>
          </p:cNvSpPr>
          <p:nvPr/>
        </p:nvSpPr>
        <p:spPr>
          <a:xfrm xmlns:a="http://schemas.openxmlformats.org/drawingml/2006/main">
            <a:off x="828675" y="4695825"/>
            <a:ext cx="10553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43"/>
                </a:solidFill>
                <a:latin typeface="Microsoft YaHei"/>
                <a:ea typeface="Microsoft YaHei"/>
                <a:cs typeface="Microsoft YaHei"/>
              </a:defRPr>
            </a:pPr>
            <a:r>
              <a:rPr sz="2250" b="0">
                <a:solidFill>
                  <a:srgbClr val="142B43"/>
                </a:solidFill>
                <a:latin typeface="Microsoft YaHei"/>
                <a:ea typeface="Microsoft YaHei"/>
                <a:cs typeface="Microsoft YaHei"/>
              </a:rPr>
              <a:t>下载比较包 → 保存一条研究笔记</a:t>
            </a:r>
          </a:p>
        </p:txBody>
      </p:sp>
    </p:spTree>
    <p:extLst>
      <p:ext uri="{BB962C8B-B14F-4D97-AF65-F5344CB8AC3E}">
        <p14:creationId xmlns:p14="http://schemas.microsoft.com/office/powerpoint/2010/main" val="75822718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CF20338-8A3C-4DA4-96E2-F7E0E004CF40}"/>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33C754-9042-4BFC-8450-00730D08FB9E}"/>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验证与复现</a:t>
            </a:r>
          </a:p>
        </p:txBody>
      </p:sp>
      <p:sp>
        <p:nvSpPr>
          <p:cNvPr id="3" name="">
            <a:extLst xmlns:a="http://schemas.openxmlformats.org/drawingml/2006/main">
              <a:ext uri="{FF2B5EF4-FFF2-40B4-BE49-F238E27FC236}">
                <a16:creationId xmlns:a16="http://schemas.microsoft.com/office/drawing/2014/main" id="{6ABC90D8-12F3-4213-9A70-2E521EC38747}"/>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291290-7E63-4256-AFFE-9C6E84865F49}"/>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AFD3E652-2204-48B7-9B99-7BBFB19122F1}"/>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17 / 20</a:t>
            </a:r>
          </a:p>
        </p:txBody>
      </p:sp>
      <p:sp>
        <p:nvSpPr>
          <p:cNvPr id="6" name="">
            <a:extLst xmlns:a="http://schemas.openxmlformats.org/drawingml/2006/main">
              <a:ext uri="{FF2B5EF4-FFF2-40B4-BE49-F238E27FC236}">
                <a16:creationId xmlns:a16="http://schemas.microsoft.com/office/drawing/2014/main" id="{57013A14-013B-4D01-895B-DA70B00DA6E0}"/>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1EC5FB-2E30-4E5C-95D1-DCB6E433092A}"/>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26BCC1-D55E-47EC-B290-8C752CC8D004}"/>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公开聚合证据可离线检查，真实重跑要求本机数据</a:t>
            </a:r>
          </a:p>
        </p:txBody>
      </p:sp>
      <p:sp>
        <p:nvSpPr>
          <p:cNvPr id="9" name="">
            <a:extLst xmlns:a="http://schemas.openxmlformats.org/drawingml/2006/main">
              <a:ext uri="{FF2B5EF4-FFF2-40B4-BE49-F238E27FC236}">
                <a16:creationId xmlns:a16="http://schemas.microsoft.com/office/drawing/2014/main" id="{B6C68D73-D368-414A-99B9-8173CB78A063}"/>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84E0A21-4898-4810-B3C5-868B9DD886BD}"/>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21组V3研究/压力账本，独立环境复算</a:t>
            </a:r>
          </a:p>
        </p:txBody>
      </p:sp>
      <p:sp>
        <p:nvSpPr>
          <p:cNvPr id="11" name="">
            <a:extLst xmlns:a="http://schemas.openxmlformats.org/drawingml/2006/main">
              <a:ext uri="{FF2B5EF4-FFF2-40B4-BE49-F238E27FC236}">
                <a16:creationId xmlns:a16="http://schemas.microsoft.com/office/drawing/2014/main" id="{E0848B84-5C04-4493-BCB0-C2AFF456AEDF}"/>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8823F3-A17F-4153-A91E-0DA7F6C7DEF0}"/>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主环境102通过、1跳过；Qlib隔离5通过</a:t>
            </a:r>
          </a:p>
        </p:txBody>
      </p:sp>
      <p:sp>
        <p:nvSpPr>
          <p:cNvPr id="13" name="">
            <a:extLst xmlns:a="http://schemas.openxmlformats.org/drawingml/2006/main">
              <a:ext uri="{FF2B5EF4-FFF2-40B4-BE49-F238E27FC236}">
                <a16:creationId xmlns:a16="http://schemas.microsoft.com/office/drawing/2014/main" id="{DADA1A59-CC44-48CA-9D14-6B2654B0FACF}"/>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9328BBC-8A4A-4F4F-9054-B0314D343579}"/>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公开数据分析与私有原始数据重跑分层</a:t>
            </a:r>
          </a:p>
        </p:txBody>
      </p:sp>
      <p:sp>
        <p:nvSpPr>
          <p:cNvPr id="15" name="">
            <a:extLst xmlns:a="http://schemas.openxmlformats.org/drawingml/2006/main">
              <a:ext uri="{FF2B5EF4-FFF2-40B4-BE49-F238E27FC236}">
                <a16:creationId xmlns:a16="http://schemas.microsoft.com/office/drawing/2014/main" id="{5CAC73D9-7D19-4360-B0BA-D80977FF5A63}"/>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3015EC0-7245-4019-B656-18F215770276}"/>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Git版本、配置、SHA与导出包共同定位结果</a:t>
            </a:r>
          </a:p>
        </p:txBody>
      </p:sp>
    </p:spTree>
    <p:extLst>
      <p:ext uri="{BB962C8B-B14F-4D97-AF65-F5344CB8AC3E}">
        <p14:creationId xmlns:p14="http://schemas.microsoft.com/office/powerpoint/2010/main" val="1781498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279E6BB-9C27-407B-81C3-E5ADCE3EF256}"/>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6AD6C2-3413-4668-981C-A85AE4B47DDF}"/>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结论与下一步</a:t>
            </a:r>
          </a:p>
        </p:txBody>
      </p:sp>
      <p:sp>
        <p:nvSpPr>
          <p:cNvPr id="3" name="">
            <a:extLst xmlns:a="http://schemas.openxmlformats.org/drawingml/2006/main">
              <a:ext uri="{FF2B5EF4-FFF2-40B4-BE49-F238E27FC236}">
                <a16:creationId xmlns:a16="http://schemas.microsoft.com/office/drawing/2014/main" id="{5A220464-B20E-4A88-B3D9-CB28E297A644}"/>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83132E-A900-4283-9C1F-B5B3A92FAB91}"/>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D6A012E4-796B-4AB1-BD37-A0385E6E4632}"/>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18 / 20</a:t>
            </a:r>
          </a:p>
        </p:txBody>
      </p:sp>
      <p:sp>
        <p:nvSpPr>
          <p:cNvPr id="6" name="">
            <a:extLst xmlns:a="http://schemas.openxmlformats.org/drawingml/2006/main">
              <a:ext uri="{FF2B5EF4-FFF2-40B4-BE49-F238E27FC236}">
                <a16:creationId xmlns:a16="http://schemas.microsoft.com/office/drawing/2014/main" id="{55FBE081-B354-4596-82B1-6D78EFDFC00D}"/>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75C80C-8F69-415F-94D1-982BEF355B66}"/>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3FABD2F-0F1A-4425-9BD3-C78C2918D816}"/>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保留有效工具，也保留尚未解决的问题</a:t>
            </a:r>
          </a:p>
        </p:txBody>
      </p:sp>
      <p:sp>
        <p:nvSpPr>
          <p:cNvPr id="9" name="">
            <a:extLst xmlns:a="http://schemas.openxmlformats.org/drawingml/2006/main">
              <a:ext uri="{FF2B5EF4-FFF2-40B4-BE49-F238E27FC236}">
                <a16:creationId xmlns:a16="http://schemas.microsoft.com/office/drawing/2014/main" id="{45BFEE7E-AE80-4AE9-BF91-211F9F6BD3C8}"/>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4EF25C-D299-4A5F-A506-000BEB9A51B1}"/>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平台：可比较、可解释、可追踪、可扩展</a:t>
            </a:r>
          </a:p>
        </p:txBody>
      </p:sp>
      <p:sp>
        <p:nvSpPr>
          <p:cNvPr id="11" name="">
            <a:extLst xmlns:a="http://schemas.openxmlformats.org/drawingml/2006/main">
              <a:ext uri="{FF2B5EF4-FFF2-40B4-BE49-F238E27FC236}">
                <a16:creationId xmlns:a16="http://schemas.microsoft.com/office/drawing/2014/main" id="{143314B7-1213-4FC4-B2CC-0D1DD1150EB8}"/>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7E85ED1-C1CB-4910-AF23-666A87A38B27}"/>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策略：该历史区间扣费后超过两类沪深300基准</a:t>
            </a:r>
          </a:p>
        </p:txBody>
      </p:sp>
      <p:sp>
        <p:nvSpPr>
          <p:cNvPr id="13" name="">
            <a:extLst xmlns:a="http://schemas.openxmlformats.org/drawingml/2006/main">
              <a:ext uri="{FF2B5EF4-FFF2-40B4-BE49-F238E27FC236}">
                <a16:creationId xmlns:a16="http://schemas.microsoft.com/office/drawing/2014/main" id="{9E1E0CCF-C9C7-4E01-B6CD-980B81129417}"/>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A750CE-436E-442C-8A41-872E33031FC8}"/>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限制：历史重选、固定池与执行近似</a:t>
            </a:r>
          </a:p>
        </p:txBody>
      </p:sp>
      <p:sp>
        <p:nvSpPr>
          <p:cNvPr id="15" name="">
            <a:extLst xmlns:a="http://schemas.openxmlformats.org/drawingml/2006/main">
              <a:ext uri="{FF2B5EF4-FFF2-40B4-BE49-F238E27FC236}">
                <a16:creationId xmlns:a16="http://schemas.microsoft.com/office/drawing/2014/main" id="{5F28AB31-CCCB-4B10-AB50-7F847444FD4B}"/>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6C3CE23-8794-4983-BBD1-4C692D65A08C}"/>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下一步：冻结规则，积累真正的新数据验证</a:t>
            </a:r>
          </a:p>
        </p:txBody>
      </p:sp>
    </p:spTree>
    <p:extLst>
      <p:ext uri="{BB962C8B-B14F-4D97-AF65-F5344CB8AC3E}">
        <p14:creationId xmlns:p14="http://schemas.microsoft.com/office/powerpoint/2010/main" val="133168456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65D77BB-E7D2-429D-A741-F806F6E4A62F}"/>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3C6CCD-2EB7-49BD-AEE7-3B1BC34C843B}"/>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备份：统计口径</a:t>
            </a:r>
          </a:p>
        </p:txBody>
      </p:sp>
      <p:sp>
        <p:nvSpPr>
          <p:cNvPr id="3" name="">
            <a:extLst xmlns:a="http://schemas.openxmlformats.org/drawingml/2006/main">
              <a:ext uri="{FF2B5EF4-FFF2-40B4-BE49-F238E27FC236}">
                <a16:creationId xmlns:a16="http://schemas.microsoft.com/office/drawing/2014/main" id="{0DFC1E06-3C9D-4E42-94AE-3A15891D12CF}"/>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8C68D5-9890-4433-9DD2-0B634418E780}"/>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9DC49FF0-AF54-4301-AF79-48BF3F439590}"/>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19 / 20</a:t>
            </a:r>
          </a:p>
        </p:txBody>
      </p:sp>
      <p:sp>
        <p:nvSpPr>
          <p:cNvPr id="6" name="">
            <a:extLst xmlns:a="http://schemas.openxmlformats.org/drawingml/2006/main">
              <a:ext uri="{FF2B5EF4-FFF2-40B4-BE49-F238E27FC236}">
                <a16:creationId xmlns:a16="http://schemas.microsoft.com/office/drawing/2014/main" id="{5EB63FC4-2753-4AFC-A85D-629992D54650}"/>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B41CB6F-EF91-446F-BE7D-7EE0B871B2D6}"/>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177B776-8205-446D-8870-0BDEC43CD1EC}"/>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初始资金参与首日收益与最大回撤</a:t>
            </a:r>
          </a:p>
        </p:txBody>
      </p:sp>
      <p:sp>
        <p:nvSpPr>
          <p:cNvPr id="9" name="">
            <a:extLst xmlns:a="http://schemas.openxmlformats.org/drawingml/2006/main">
              <a:ext uri="{FF2B5EF4-FFF2-40B4-BE49-F238E27FC236}">
                <a16:creationId xmlns:a16="http://schemas.microsoft.com/office/drawing/2014/main" id="{95736C43-9F51-4ED1-9EC6-FE06F93A137D}"/>
              </a:ext>
            </a:extLst>
          </p:cNvPr>
          <p:cNvSpPr>
            <a:spLocks xmlns:a="http://schemas.openxmlformats.org/drawingml/2006/main" noGrp="1"/>
          </p:cNvSpPr>
          <p:nvPr/>
        </p:nvSpPr>
        <p:spPr>
          <a:xfrm xmlns:a="http://schemas.openxmlformats.org/drawingml/2006/main">
            <a:off x="638175" y="2171700"/>
            <a:ext cx="10915650" cy="876300"/>
          </a:xfrm>
          <a:prstGeom xmlns:a="http://schemas.openxmlformats.org/drawingml/2006/main" prst="rect">
            <a:avLst/>
          </a:prstGeom>
          <a:solidFill xmlns:a="http://schemas.openxmlformats.org/drawingml/2006/main">
            <a:srgbClr val="F3F6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2BC822-F344-43F2-98B4-CCF0C7C03FB9}"/>
              </a:ext>
            </a:extLst>
          </p:cNvPr>
          <p:cNvSpPr>
            <a:spLocks xmlns:a="http://schemas.openxmlformats.org/drawingml/2006/main" noGrp="1"/>
          </p:cNvSpPr>
          <p:nvPr/>
        </p:nvSpPr>
        <p:spPr>
          <a:xfrm xmlns:a="http://schemas.openxmlformats.org/drawingml/2006/main">
            <a:off x="809625" y="2419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日收益 = 今日净值 / 昨日净值 − 1；回撤包含初始资金</a:t>
            </a:r>
          </a:p>
        </p:txBody>
      </p:sp>
      <p:sp>
        <p:nvSpPr>
          <p:cNvPr id="11" name="">
            <a:extLst xmlns:a="http://schemas.openxmlformats.org/drawingml/2006/main">
              <a:ext uri="{FF2B5EF4-FFF2-40B4-BE49-F238E27FC236}">
                <a16:creationId xmlns:a16="http://schemas.microsoft.com/office/drawing/2014/main" id="{0912CC82-5591-46EB-8EE5-7285BD3FA741}"/>
              </a:ext>
            </a:extLst>
          </p:cNvPr>
          <p:cNvSpPr>
            <a:spLocks xmlns:a="http://schemas.openxmlformats.org/drawingml/2006/main" noGrp="1"/>
          </p:cNvSpPr>
          <p:nvPr/>
        </p:nvSpPr>
        <p:spPr>
          <a:xfrm xmlns:a="http://schemas.openxmlformats.org/drawingml/2006/main">
            <a:off x="581025" y="35147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8BE11A6-EECF-45EE-9F7D-F39D85176B7C}"/>
              </a:ext>
            </a:extLst>
          </p:cNvPr>
          <p:cNvSpPr>
            <a:spLocks xmlns:a="http://schemas.openxmlformats.org/drawingml/2006/main" noGrp="1"/>
          </p:cNvSpPr>
          <p:nvPr/>
        </p:nvSpPr>
        <p:spPr>
          <a:xfrm xmlns:a="http://schemas.openxmlformats.org/drawingml/2006/main">
            <a:off x="828675" y="340042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收益：NAV终值 / 区间前收盘 − 1</a:t>
            </a:r>
          </a:p>
        </p:txBody>
      </p:sp>
      <p:sp>
        <p:nvSpPr>
          <p:cNvPr id="13" name="">
            <a:extLst xmlns:a="http://schemas.openxmlformats.org/drawingml/2006/main">
              <a:ext uri="{FF2B5EF4-FFF2-40B4-BE49-F238E27FC236}">
                <a16:creationId xmlns:a16="http://schemas.microsoft.com/office/drawing/2014/main" id="{7BF62517-492D-42D0-9645-485E5D82400D}"/>
              </a:ext>
            </a:extLst>
          </p:cNvPr>
          <p:cNvSpPr>
            <a:spLocks xmlns:a="http://schemas.openxmlformats.org/drawingml/2006/main" noGrp="1"/>
          </p:cNvSpPr>
          <p:nvPr/>
        </p:nvSpPr>
        <p:spPr>
          <a:xfrm xmlns:a="http://schemas.openxmlformats.org/drawingml/2006/main">
            <a:off x="581025" y="41719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0657A6C-89FA-4CE0-9C59-7168E204F2A3}"/>
              </a:ext>
            </a:extLst>
          </p:cNvPr>
          <p:cNvSpPr>
            <a:spLocks xmlns:a="http://schemas.openxmlformats.org/drawingml/2006/main" noGrp="1"/>
          </p:cNvSpPr>
          <p:nvPr/>
        </p:nvSpPr>
        <p:spPr>
          <a:xfrm xmlns:a="http://schemas.openxmlformats.org/drawingml/2006/main">
            <a:off x="828675" y="405765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回撤：1 − NAV / 包含初始值的历史高点</a:t>
            </a:r>
          </a:p>
        </p:txBody>
      </p:sp>
      <p:sp>
        <p:nvSpPr>
          <p:cNvPr id="15" name="">
            <a:extLst xmlns:a="http://schemas.openxmlformats.org/drawingml/2006/main">
              <a:ext uri="{FF2B5EF4-FFF2-40B4-BE49-F238E27FC236}">
                <a16:creationId xmlns:a16="http://schemas.microsoft.com/office/drawing/2014/main" id="{84BFF776-BB25-4F48-853A-883E2170D2FE}"/>
              </a:ext>
            </a:extLst>
          </p:cNvPr>
          <p:cNvSpPr>
            <a:spLocks xmlns:a="http://schemas.openxmlformats.org/drawingml/2006/main" noGrp="1"/>
          </p:cNvSpPr>
          <p:nvPr/>
        </p:nvSpPr>
        <p:spPr>
          <a:xfrm xmlns:a="http://schemas.openxmlformats.org/drawingml/2006/main">
            <a:off x="581025" y="48291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4C6A5CE-FFA5-4F2E-950D-37B97CD678F5}"/>
              </a:ext>
            </a:extLst>
          </p:cNvPr>
          <p:cNvSpPr>
            <a:spLocks xmlns:a="http://schemas.openxmlformats.org/drawingml/2006/main" noGrp="1"/>
          </p:cNvSpPr>
          <p:nvPr/>
        </p:nvSpPr>
        <p:spPr>
          <a:xfrm xmlns:a="http://schemas.openxmlformats.org/drawingml/2006/main">
            <a:off x="828675" y="471487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下行偏差：全部观察日作分母，目标为零</a:t>
            </a:r>
          </a:p>
        </p:txBody>
      </p:sp>
      <p:sp>
        <p:nvSpPr>
          <p:cNvPr id="17" name="">
            <a:extLst xmlns:a="http://schemas.openxmlformats.org/drawingml/2006/main">
              <a:ext uri="{FF2B5EF4-FFF2-40B4-BE49-F238E27FC236}">
                <a16:creationId xmlns:a16="http://schemas.microsoft.com/office/drawing/2014/main" id="{3C9F6B9B-E51F-47FC-807B-522A5F8E6B57}"/>
              </a:ext>
            </a:extLst>
          </p:cNvPr>
          <p:cNvSpPr>
            <a:spLocks xmlns:a="http://schemas.openxmlformats.org/drawingml/2006/main" noGrp="1"/>
          </p:cNvSpPr>
          <p:nvPr/>
        </p:nvSpPr>
        <p:spPr>
          <a:xfrm xmlns:a="http://schemas.openxmlformats.org/drawingml/2006/main">
            <a:off x="581025" y="54864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8C46044-24B7-44D8-97E7-4070DE26D4BE}"/>
              </a:ext>
            </a:extLst>
          </p:cNvPr>
          <p:cNvSpPr>
            <a:spLocks xmlns:a="http://schemas.openxmlformats.org/drawingml/2006/main" noGrp="1"/>
          </p:cNvSpPr>
          <p:nvPr/>
        </p:nvSpPr>
        <p:spPr>
          <a:xfrm xmlns:a="http://schemas.openxmlformats.org/drawingml/2006/main">
            <a:off x="828675" y="537210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月度收益复利；重叠20日标签不能连乘为净值</a:t>
            </a:r>
          </a:p>
        </p:txBody>
      </p:sp>
    </p:spTree>
    <p:extLst>
      <p:ext uri="{BB962C8B-B14F-4D97-AF65-F5344CB8AC3E}">
        <p14:creationId xmlns:p14="http://schemas.microsoft.com/office/powerpoint/2010/main" val="20868647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E3BA853-6C8C-420F-A154-530207CB6864}"/>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02B853-F8DC-4870-B122-2377B9D3C7E2}"/>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备份：答辩问题</a:t>
            </a:r>
          </a:p>
        </p:txBody>
      </p:sp>
      <p:sp>
        <p:nvSpPr>
          <p:cNvPr id="3" name="">
            <a:extLst xmlns:a="http://schemas.openxmlformats.org/drawingml/2006/main">
              <a:ext uri="{FF2B5EF4-FFF2-40B4-BE49-F238E27FC236}">
                <a16:creationId xmlns:a16="http://schemas.microsoft.com/office/drawing/2014/main" id="{89A3AC0C-8B0F-410C-83B1-1688AFB53320}"/>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B16778-81AB-427C-8C1F-9B78D0BEE3F1}"/>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AD6CB4EB-7237-42BF-BEC1-115A1BC34C70}"/>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20 / 20</a:t>
            </a:r>
          </a:p>
        </p:txBody>
      </p:sp>
      <p:sp>
        <p:nvSpPr>
          <p:cNvPr id="6" name="">
            <a:extLst xmlns:a="http://schemas.openxmlformats.org/drawingml/2006/main">
              <a:ext uri="{FF2B5EF4-FFF2-40B4-BE49-F238E27FC236}">
                <a16:creationId xmlns:a16="http://schemas.microsoft.com/office/drawing/2014/main" id="{9D76444F-0025-4570-9736-6F91A765E769}"/>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59BA03-0BEB-4372-BA0E-C0EB6A4E6FA4}"/>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183F31-6298-4E64-83CB-E884D1D1D35D}"/>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如实解释模型选择、现金与连接状态</a:t>
            </a:r>
          </a:p>
        </p:txBody>
      </p:sp>
      <p:sp>
        <p:nvSpPr>
          <p:cNvPr id="9" name="">
            <a:extLst xmlns:a="http://schemas.openxmlformats.org/drawingml/2006/main">
              <a:ext uri="{FF2B5EF4-FFF2-40B4-BE49-F238E27FC236}">
                <a16:creationId xmlns:a16="http://schemas.microsoft.com/office/drawing/2014/main" id="{2385329C-EFB4-4A0D-A742-BC3E68C0CC0F}"/>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EEFC0A3-AEDD-4E2B-B566-3E7AFBB950A1}"/>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为什么不用CNN？因子列没有天然局部邻接</a:t>
            </a:r>
          </a:p>
        </p:txBody>
      </p:sp>
      <p:sp>
        <p:nvSpPr>
          <p:cNvPr id="11" name="">
            <a:extLst xmlns:a="http://schemas.openxmlformats.org/drawingml/2006/main">
              <a:ext uri="{FF2B5EF4-FFF2-40B4-BE49-F238E27FC236}">
                <a16:creationId xmlns:a16="http://schemas.microsoft.com/office/drawing/2014/main" id="{C5667532-2ECE-4B7E-8FC9-7F565A894D87}"/>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28A3A1E-ABAF-4321-BC2D-79CAA78DD247}"/>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为什么不是最高收益版本？验证回撤门槛</a:t>
            </a:r>
          </a:p>
        </p:txBody>
      </p:sp>
      <p:sp>
        <p:nvSpPr>
          <p:cNvPr id="13" name="">
            <a:extLst xmlns:a="http://schemas.openxmlformats.org/drawingml/2006/main">
              <a:ext uri="{FF2B5EF4-FFF2-40B4-BE49-F238E27FC236}">
                <a16:creationId xmlns:a16="http://schemas.microsoft.com/office/drawing/2014/main" id="{D3E5FDDE-E779-4A0D-9E82-C32AEC8B5292}"/>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A853F9D-F048-4AA6-BBFA-BE19F06C1034}"/>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现金情景能当策略吗？只是静态资金分配</a:t>
            </a:r>
          </a:p>
        </p:txBody>
      </p:sp>
      <p:sp>
        <p:nvSpPr>
          <p:cNvPr id="15" name="">
            <a:extLst xmlns:a="http://schemas.openxmlformats.org/drawingml/2006/main">
              <a:ext uri="{FF2B5EF4-FFF2-40B4-BE49-F238E27FC236}">
                <a16:creationId xmlns:a16="http://schemas.microsoft.com/office/drawing/2014/main" id="{F8F2404F-0F37-4A50-9AF0-D568050D424F}"/>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5B6349A-34D2-4362-896D-C2D5087D28B3}"/>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Qlib接入范围：因子计算，尚未训练新策略</a:t>
            </a:r>
          </a:p>
        </p:txBody>
      </p:sp>
    </p:spTree>
    <p:extLst>
      <p:ext uri="{BB962C8B-B14F-4D97-AF65-F5344CB8AC3E}">
        <p14:creationId xmlns:p14="http://schemas.microsoft.com/office/powerpoint/2010/main" val="2087175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2026-09-22T05:34:53.6880000Z</dcterms:created>
  <dcterms:modified xsi:type="dcterms:W3CDTF">2026-09-22T05:34:53.6880000Z</dcterms:modified>
</coreProperties>
</file>