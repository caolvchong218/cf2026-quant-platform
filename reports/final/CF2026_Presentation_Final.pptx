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slides/charts/chart1.xml" ContentType="application/vnd.openxmlformats-officedocument.drawingml.chart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2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slides/charts/chart3.xml" ContentType="application/vnd.openxmlformats-officedocument.drawingml.chart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4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slides/charts/chart5.xml" ContentType="application/vnd.openxmlformats-officedocument.drawingml.chart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6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05fa99b90684b9f" /><Relationship Type="http://schemas.openxmlformats.org/officeDocument/2006/relationships/extended-properties" Target="/docProps/app.xml" Id="R3b09db8c6bb147a0" /><Relationship Type="http://schemas.openxmlformats.org/officeDocument/2006/relationships/officeDocument" Target="/ppt/presentation.xml" Id="R62abd72b1bbf448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087e4c287cc4510"/>
  </p:sldMasterIdLst>
  <p:notesMasterIdLst>
    <p:notesMasterId xmlns:r="http://schemas.openxmlformats.org/officeDocument/2006/relationships" r:id="R76b937986c2e42d3"/>
  </p:notesMasterIdLst>
  <p:sldIdLst>
    <p:sldId xmlns:r="http://schemas.openxmlformats.org/officeDocument/2006/relationships" id="256" r:id="R88794e6c66594ea2"/>
    <p:sldId xmlns:r="http://schemas.openxmlformats.org/officeDocument/2006/relationships" id="257" r:id="Ra23a9224d03e46a5"/>
    <p:sldId xmlns:r="http://schemas.openxmlformats.org/officeDocument/2006/relationships" id="258" r:id="Rfd5194a9e92a4ce7"/>
    <p:sldId xmlns:r="http://schemas.openxmlformats.org/officeDocument/2006/relationships" id="259" r:id="Ra4c01dae4feb496e"/>
    <p:sldId xmlns:r="http://schemas.openxmlformats.org/officeDocument/2006/relationships" id="260" r:id="R9b3ad7c8b32a4479"/>
    <p:sldId xmlns:r="http://schemas.openxmlformats.org/officeDocument/2006/relationships" id="261" r:id="Reba08e86a3e5463a"/>
    <p:sldId xmlns:r="http://schemas.openxmlformats.org/officeDocument/2006/relationships" id="262" r:id="R04570f34ddae4049"/>
    <p:sldId xmlns:r="http://schemas.openxmlformats.org/officeDocument/2006/relationships" id="263" r:id="R5729403feee54220"/>
    <p:sldId xmlns:r="http://schemas.openxmlformats.org/officeDocument/2006/relationships" id="264" r:id="Rc31e4a4fb84b48af"/>
    <p:sldId xmlns:r="http://schemas.openxmlformats.org/officeDocument/2006/relationships" id="265" r:id="R92ae38401679457e"/>
    <p:sldId xmlns:r="http://schemas.openxmlformats.org/officeDocument/2006/relationships" id="266" r:id="R91e3ab0eb34f4eef"/>
    <p:sldId xmlns:r="http://schemas.openxmlformats.org/officeDocument/2006/relationships" id="267" r:id="R2c592a2f47054bd3"/>
    <p:sldId xmlns:r="http://schemas.openxmlformats.org/officeDocument/2006/relationships" id="268" r:id="Rfd35144ce396440a"/>
    <p:sldId xmlns:r="http://schemas.openxmlformats.org/officeDocument/2006/relationships" id="269" r:id="R4dac6dd2463a4699"/>
    <p:sldId xmlns:r="http://schemas.openxmlformats.org/officeDocument/2006/relationships" id="270" r:id="Rff31a410ce254850"/>
    <p:sldId xmlns:r="http://schemas.openxmlformats.org/officeDocument/2006/relationships" id="271" r:id="Ra8e4b8a4fa694c4e"/>
    <p:sldId xmlns:r="http://schemas.openxmlformats.org/officeDocument/2006/relationships" id="272" r:id="R1d0ee006c42646f8"/>
    <p:sldId xmlns:r="http://schemas.openxmlformats.org/officeDocument/2006/relationships" id="273" r:id="R44c40737461c4c90"/>
    <p:sldId xmlns:r="http://schemas.openxmlformats.org/officeDocument/2006/relationships" id="274" r:id="R5840e4be9ea34df5"/>
    <p:sldId xmlns:r="http://schemas.openxmlformats.org/officeDocument/2006/relationships" id="275" r:id="R679d4a1b47b1406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fc3ba9a23bd4ecb" /><Relationship Type="http://schemas.openxmlformats.org/officeDocument/2006/relationships/slideMaster" Target="/ppt/slideMasters/slideMaster1.xml" Id="Re087e4c287cc4510" /><Relationship Type="http://schemas.openxmlformats.org/officeDocument/2006/relationships/notesMaster" Target="/ppt/notesMasters/notesMaster1.xml" Id="R76b937986c2e42d3" /><Relationship Type="http://schemas.openxmlformats.org/officeDocument/2006/relationships/presProps" Target="/ppt/presProps.xml" Id="Rb3ff671b8a2443f1" /><Relationship Type="http://schemas.openxmlformats.org/officeDocument/2006/relationships/tableStyles" Target="/ppt/tableStyles.xml" Id="R84bc6880ea0249bc" /><Relationship Type="http://schemas.openxmlformats.org/officeDocument/2006/relationships/slide" Target="/ppt/slides/slide1.xml" Id="R88794e6c66594ea2" /><Relationship Type="http://schemas.openxmlformats.org/officeDocument/2006/relationships/slide" Target="/ppt/slides/slide2.xml" Id="Ra23a9224d03e46a5" /><Relationship Type="http://schemas.openxmlformats.org/officeDocument/2006/relationships/slide" Target="/ppt/slides/slide3.xml" Id="Rfd5194a9e92a4ce7" /><Relationship Type="http://schemas.openxmlformats.org/officeDocument/2006/relationships/slide" Target="/ppt/slides/slide4.xml" Id="Ra4c01dae4feb496e" /><Relationship Type="http://schemas.openxmlformats.org/officeDocument/2006/relationships/slide" Target="/ppt/slides/slide5.xml" Id="R9b3ad7c8b32a4479" /><Relationship Type="http://schemas.openxmlformats.org/officeDocument/2006/relationships/slide" Target="/ppt/slides/slide6.xml" Id="Reba08e86a3e5463a" /><Relationship Type="http://schemas.openxmlformats.org/officeDocument/2006/relationships/slide" Target="/ppt/slides/slide7.xml" Id="R04570f34ddae4049" /><Relationship Type="http://schemas.openxmlformats.org/officeDocument/2006/relationships/slide" Target="/ppt/slides/slide8.xml" Id="R5729403feee54220" /><Relationship Type="http://schemas.openxmlformats.org/officeDocument/2006/relationships/slide" Target="/ppt/slides/slide9.xml" Id="Rc31e4a4fb84b48af" /><Relationship Type="http://schemas.openxmlformats.org/officeDocument/2006/relationships/slide" Target="/ppt/slides/slide10.xml" Id="R92ae38401679457e" /><Relationship Type="http://schemas.openxmlformats.org/officeDocument/2006/relationships/slide" Target="/ppt/slides/slide11.xml" Id="R91e3ab0eb34f4eef" /><Relationship Type="http://schemas.openxmlformats.org/officeDocument/2006/relationships/slide" Target="/ppt/slides/slide12.xml" Id="R2c592a2f47054bd3" /><Relationship Type="http://schemas.openxmlformats.org/officeDocument/2006/relationships/slide" Target="/ppt/slides/slide13.xml" Id="Rfd35144ce396440a" /><Relationship Type="http://schemas.openxmlformats.org/officeDocument/2006/relationships/slide" Target="/ppt/slides/slide14.xml" Id="R4dac6dd2463a4699" /><Relationship Type="http://schemas.openxmlformats.org/officeDocument/2006/relationships/slide" Target="/ppt/slides/slide15.xml" Id="Rff31a410ce254850" /><Relationship Type="http://schemas.openxmlformats.org/officeDocument/2006/relationships/slide" Target="/ppt/slides/slide16.xml" Id="Ra8e4b8a4fa694c4e" /><Relationship Type="http://schemas.openxmlformats.org/officeDocument/2006/relationships/slide" Target="/ppt/slides/slide17.xml" Id="R1d0ee006c42646f8" /><Relationship Type="http://schemas.openxmlformats.org/officeDocument/2006/relationships/slide" Target="/ppt/slides/slide18.xml" Id="R44c40737461c4c90" /><Relationship Type="http://schemas.openxmlformats.org/officeDocument/2006/relationships/slide" Target="/ppt/slides/slide19.xml" Id="R5840e4be9ea34df5" /><Relationship Type="http://schemas.openxmlformats.org/officeDocument/2006/relationships/slide" Target="/ppt/slides/slide20.xml" Id="R679d4a1b47b1406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38aa618ae474ec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29c804a7ca6467c" /><Relationship Type="http://schemas.openxmlformats.org/officeDocument/2006/relationships/notesMaster" Target="/ppt/notesMasters/notesMaster1.xml" Id="R421320875f75421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6e27098d40f45d4" /><Relationship Type="http://schemas.openxmlformats.org/officeDocument/2006/relationships/notesMaster" Target="/ppt/notesMasters/notesMaster1.xml" Id="R9bce88226ab0482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f2ff671a9fb4ce2" /><Relationship Type="http://schemas.openxmlformats.org/officeDocument/2006/relationships/notesMaster" Target="/ppt/notesMasters/notesMaster1.xml" Id="Raca5fdff815c4e4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5fbfa4c29974e33" /><Relationship Type="http://schemas.openxmlformats.org/officeDocument/2006/relationships/notesMaster" Target="/ppt/notesMasters/notesMaster1.xml" Id="Re22c4f021168435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dae7e3098714618" /><Relationship Type="http://schemas.openxmlformats.org/officeDocument/2006/relationships/notesMaster" Target="/ppt/notesMasters/notesMaster1.xml" Id="R113a26698a0a472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7ede50e69b64aca" /><Relationship Type="http://schemas.openxmlformats.org/officeDocument/2006/relationships/notesMaster" Target="/ppt/notesMasters/notesMaster1.xml" Id="R655968d131fb48e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2ec66d3dfb641e0" /><Relationship Type="http://schemas.openxmlformats.org/officeDocument/2006/relationships/notesMaster" Target="/ppt/notesMasters/notesMaster1.xml" Id="R9356c0f84223460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326b458c6b641a0" /><Relationship Type="http://schemas.openxmlformats.org/officeDocument/2006/relationships/notesMaster" Target="/ppt/notesMasters/notesMaster1.xml" Id="R10c8e6dac7ce442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99c94a7c9a5a4924" /><Relationship Type="http://schemas.openxmlformats.org/officeDocument/2006/relationships/notesMaster" Target="/ppt/notesMasters/notesMaster1.xml" Id="R45b97aaac7fd4db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dd6aa73069946ef" /><Relationship Type="http://schemas.openxmlformats.org/officeDocument/2006/relationships/notesMaster" Target="/ppt/notesMasters/notesMaster1.xml" Id="Rdaa403183fa245d2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7584674636a4d84" /><Relationship Type="http://schemas.openxmlformats.org/officeDocument/2006/relationships/notesMaster" Target="/ppt/notesMasters/notesMaster1.xml" Id="R4252a6b96218445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0ef08bdd9634ba1" /><Relationship Type="http://schemas.openxmlformats.org/officeDocument/2006/relationships/notesMaster" Target="/ppt/notesMasters/notesMaster1.xml" Id="Rc6d319d096f3445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f0a6d3328c047b2" /><Relationship Type="http://schemas.openxmlformats.org/officeDocument/2006/relationships/notesMaster" Target="/ppt/notesMasters/notesMaster1.xml" Id="Rb515fcb995f04d8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3198604d7a64779" /><Relationship Type="http://schemas.openxmlformats.org/officeDocument/2006/relationships/notesMaster" Target="/ppt/notesMasters/notesMaster1.xml" Id="Rda5d09b619f64eb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9e7d971f3e54cef" /><Relationship Type="http://schemas.openxmlformats.org/officeDocument/2006/relationships/notesMaster" Target="/ppt/notesMasters/notesMaster1.xml" Id="R29519b774f814693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8ac6cd6c22741aa" /><Relationship Type="http://schemas.openxmlformats.org/officeDocument/2006/relationships/notesMaster" Target="/ppt/notesMasters/notesMaster1.xml" Id="R84149f4ed8694fd7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bcdd63ebfe74ba4" /><Relationship Type="http://schemas.openxmlformats.org/officeDocument/2006/relationships/notesMaster" Target="/ppt/notesMasters/notesMaster1.xml" Id="R3cf1b671566e4b7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986b4372f0f4b57" /><Relationship Type="http://schemas.openxmlformats.org/officeDocument/2006/relationships/notesMaster" Target="/ppt/notesMasters/notesMaster1.xml" Id="R446d811f50f0455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c3a6cb5739d34d37" /><Relationship Type="http://schemas.openxmlformats.org/officeDocument/2006/relationships/notesMaster" Target="/ppt/notesMasters/notesMaster1.xml" Id="R05a83235a20d4449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a3bf5d1a60d44f4" /><Relationship Type="http://schemas.openxmlformats.org/officeDocument/2006/relationships/notesMaster" Target="/ppt/notesMasters/notesMaster1.xml" Id="Rf48af856a6694a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建议用时：30秒</a:t>
            </a:r>
          </a:p>
          <a:p xmlns:a="http://schemas.openxmlformats.org/drawingml/2006/main">
            <a:r>
              <a:t>这次展示包括平台本身和平台支持的策略研究。起点是一个真实的失败：原始动量长期亏损超过百分之八十。我们没有删除它，而是先核对数据和账本，再比较新的因子与风险组合。最后介绍验证期选出的策略，并说明它在哪些目标上达标、在哪些地方仍有限制。</a:t>
            </a:r>
          </a:p>
          <a:p xmlns:a="http://schemas.openxmlformats.org/drawingml/2006/main">
            <a:r>
              <a:t>来源：本项目 evidence/research_v2；完整定义与限制见最终报告。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建议用时：45秒</a:t>
            </a:r>
          </a:p>
          <a:p xmlns:a="http://schemas.openxmlformats.org/drawingml/2006/main">
            <a:r>
              <a:t>老师的要求没有规定必须达到某个收益或Sharpe。因此我们把正确性和复现放在第一位。每项要求都能从代码追到输出文件：例如因子分组保留形成时人数，成交文件保留实际金额和费用。扩展选择有验证证据的几项，不靠堆页面数。收益研究是平台能力的演示，同时接受失败结果。</a:t>
            </a:r>
          </a:p>
          <a:p xmlns:a="http://schemas.openxmlformats.org/drawingml/2006/main">
            <a:r>
              <a:t>来源：本项目 evidence/research_v2；完整定义与限制见最终报告。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建议用时：60秒</a:t>
            </a:r>
          </a:p>
          <a:p xmlns:a="http://schemas.openxmlformats.org/drawingml/2006/main">
            <a:r>
              <a:t>原策略用二十日动量，每五个交易日调整前三十只股票。图里可以看到二零二二到二零二四年连续亏损。实际账本扣费亏损百分之八十三点五七，而真正将费用设为零再运行，仍亏损百分之七十五点一六。简单把累计费用加回净值，会得到另一条归因曲线。这个差异说明费用、仓位规模和后续盈亏有路径依赖。我们因此同时改进信号研究与组合构建。</a:t>
            </a:r>
          </a:p>
          <a:p xmlns:a="http://schemas.openxmlformats.org/drawingml/2006/main">
            <a:r>
              <a:t>来源：本项目 evidence/research_v2；完整定义与限制见最终报告。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建议用时：60秒</a:t>
            </a:r>
          </a:p>
          <a:p xmlns:a="http://schemas.openxmlformats.org/drawingml/2006/main">
            <a:r>
              <a:t>这里是可维护性的关键。模型只回答股票的相对分数，组合层决定多少资金投入，成交层决定订单实际完成多少。将来接入新因子或更复杂模型，不需要再写一套会计逻辑。命令行和界面调用相同函数。每次实验带上数据、参数和源码身份，避免出现界面显示一种口径、报告计算另一种口径。</a:t>
            </a:r>
          </a:p>
          <a:p xmlns:a="http://schemas.openxmlformats.org/drawingml/2006/main">
            <a:r>
              <a:t>来源：本项目 evidence/research_v2；完整定义与限制见最终报告。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建议用时：60秒</a:t>
            </a:r>
          </a:p>
          <a:p xmlns:a="http://schemas.openxmlformats.org/drawingml/2006/main">
            <a:r>
              <a:t>股票池在二零一九年末按当时成交额选取，收益研究从之后开始。我们没有拿今天还上市的股票倒推历史。完整网格有三万三千多条缺失，缺失会影响因子、成交和估值，所以分别处理并计数。补充每日估值、公告和历史行业后，整体本地存储约一点六三GB。最重要的边界是固定池的选择偏差和厂商事后修订，它们不会因为数据量大而自动消失。</a:t>
            </a:r>
          </a:p>
          <a:p xmlns:a="http://schemas.openxmlformats.org/drawingml/2006/main">
            <a:r>
              <a:t>来源：本项目 evidence/research_v2；完整定义与限制见最终报告。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建议用时：70秒</a:t>
            </a:r>
          </a:p>
          <a:p xmlns:a="http://schemas.openxmlformats.org/drawingml/2006/main">
            <a:r>
              <a:t>这里需要区分报告期和信息可用时间。年度财报不能在十二月三十一日就拿来预测，要等公告之后。标签是明天开盘买入、二十个交易日后开盘退出的收益，边界附近的训练标签会跨入验证期，所以需要清除。最终候选只依据验证段选择。不过我们此前确实已经看过原始动量在全区间的表现，因此必须承认最终段并非完全未知的盲测。</a:t>
            </a:r>
          </a:p>
          <a:p xmlns:a="http://schemas.openxmlformats.org/drawingml/2006/main">
            <a:r>
              <a:t>来源：本项目 evidence/research_v2；完整定义与限制见最终报告。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建议用时：60秒</a:t>
            </a:r>
          </a:p>
          <a:p xmlns:a="http://schemas.openxmlformats.org/drawingml/2006/main">
            <a:r>
              <a:t>这十二个因子并不是十二个独立的信息源。低波动和低振幅就可能高度相关。它们覆盖中期趋势、短期反转、风险、量价、价值和盈利质量。我们提前固定符号，在最终期IC为负时也不直接翻转。参考了Qlib的量价表达，但没有声称完整实现Alpha158。后续需要以独立验证证明新增因子提供额外信息。</a:t>
            </a:r>
          </a:p>
          <a:p xmlns:a="http://schemas.openxmlformats.org/drawingml/2006/main">
            <a:r>
              <a:t>来源：本项目 evidence/research_v2；完整定义与限制见最终报告。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建议用时：70秒</a:t>
            </a:r>
          </a:p>
          <a:p xmlns:a="http://schemas.openxmlformats.org/drawingml/2006/main">
            <a:r>
              <a:t>中性化可以解释为剥离行业和市值能解释的部分。我们先在每个行业内将因子和对数市值去均值，再回归得到残差，这与包含行业虚拟变量的OLS一致。测试检查残差的行业均值和与市值的内积。需要注意，中性化不等于增加预测信息；如果原先有用的风格收益被去掉，实际收益可能下降。因此同时保留标准化和中性化的等权基线进行对照。</a:t>
            </a:r>
          </a:p>
          <a:p xmlns:a="http://schemas.openxmlformats.org/drawingml/2006/main">
            <a:r>
              <a:t>来源：本项目 evidence/research_v2；完整定义与限制见最终报告。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建议用时：60秒</a:t>
            </a:r>
          </a:p>
          <a:p xmlns:a="http://schemas.openxmlformats.org/drawingml/2006/main">
            <a:r>
              <a:t>同学建议预测涨跌并使用CNN。我们的判断是，涨跌标签会丢失收益幅度和横截面排序信息，而任意排列的十二个因子不具备图像像素那样的邻接结构。因此使用小型全连接网络，目标是当日未来收益的百分位秩。三个学习模型都只用训练区间，固定参数和随机种子。八轮MLP没有收敛，结果只能代表这次受限配置，不能据此否定神经网络。</a:t>
            </a:r>
          </a:p>
          <a:p xmlns:a="http://schemas.openxmlformats.org/drawingml/2006/main">
            <a:r>
              <a:t>https://github.com/microsoft/qlib ; https://scikit-learn.org/stable/modules/generated/sklearn.neural_network.MLPRegressor.html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建议用时：70秒</a:t>
            </a:r>
          </a:p>
          <a:p xmlns:a="http://schemas.openxmlformats.org/drawingml/2006/main">
            <a:r>
              <a:t>假设今天收盘形成信号，明天开盘才可以交易。开盘先处理卖单，再根据实际可用现金处理买单，不能假设被停牌阻挡的卖单已经收到资金。流动性预算只用之前二十日成交额，不能用今天收盘后才知道的成交量。所有拒单和部分成交都留下状态，未成交部分不收费。研究单位是连续可分的复权单位，这仍与整手实盘、真实分红现金和盘口排队存在差别。</a:t>
            </a:r>
          </a:p>
          <a:p xmlns:a="http://schemas.openxmlformats.org/drawingml/2006/main">
            <a:r>
              <a:t>来源：本项目 evidence/research_v2；完整定义与限制见最终报告。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建议用时：60秒</a:t>
            </a:r>
          </a:p>
          <a:p xmlns:a="http://schemas.openxmlformats.org/drawingml/2006/main">
            <a:r>
              <a:t>我们允许现金，因此不必在风险很高的时候仍然满仓。组合按低波动倾斜并限制单股和行业目标，再根据估计波动率和市场趋势缩减总仓位。目标上限是在形成时成立，成交受阻和后续价格变化会使实际权重漂移。波动率和最大回撤也不是硬保证。这一策略最终平均持有约一半现金，所以应当预期它在上涨市场中可能落后指数。</a:t>
            </a:r>
          </a:p>
          <a:p xmlns:a="http://schemas.openxmlformats.org/drawingml/2006/main">
            <a:r>
              <a:t>来源：本项目 evidence/research_v2；完整定义与限制见最终报告。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建议用时：75秒</a:t>
            </a:r>
          </a:p>
          <a:p xmlns:a="http://schemas.openxmlformats.org/drawingml/2006/main">
            <a:r>
              <a:t>这张图是唯一用于选择提交策略的阶段。我们优先考虑正年化且回撤不超过百分之二十的候选，再比较年化收益除以回撤。标准化多因子最优。中性化基线和MLP有很小的正收益，Ridge较好但回撤更高，LightGBM在这段是负收益。没有因为模型更复杂就给它额外优先级。选择结果先落盘，再运行下一阶段。</a:t>
            </a:r>
          </a:p>
          <a:p xmlns:a="http://schemas.openxmlformats.org/drawingml/2006/main">
            <a:r>
              <a:t>来源：本项目 evidence/research_v2；完整定义与限制见最终报告。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建议用时：60秒</a:t>
            </a:r>
          </a:p>
          <a:p xmlns:a="http://schemas.openxmlformats.org/drawingml/2006/main">
            <a:r>
              <a:t>最终期的排序与验证期明显不同。LightGBM年化超过百分之十三，如果只展示这张表，很容易事后挑出它当冠军。但这样做会把测试期变成新的验证期。我们保留验证选出的标准化多因子，其他模型作为后续研究线索。表里也能看到复杂模型更高的换手和费用。以后要证明LightGBM值得升级，需要新的未观察数据或严格滚动验证。</a:t>
            </a:r>
          </a:p>
          <a:p xmlns:a="http://schemas.openxmlformats.org/drawingml/2006/main">
            <a:r>
              <a:t>来源：本项目 evidence/research_v2；完整定义与限制见最终报告。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建议用时：75秒</a:t>
            </a:r>
          </a:p>
          <a:p xmlns:a="http://schemas.openxmlformats.org/drawingml/2006/main">
            <a:r>
              <a:t>这张净值图应与风险一起看。预选策略累计收益约百分之六点一二，最大回撤约百分之七点零一。同期价格指数收益更高，回撤也更高。购买力比较使用完全相同的十九个完整月份：策略约百分之七点零二，CPI约百分之零点六九。为什么与累计六点一二不同？因为完整月份比较剔除了起始月份和最后一个不完整月份。我们不会把不同区间的数字直接放在一起作结论。</a:t>
            </a:r>
          </a:p>
          <a:p xmlns:a="http://schemas.openxmlformats.org/drawingml/2006/main">
            <a:r>
              <a:t>来源：本项目 evidence/research_v2；完整定义与限制见最终报告。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建议用时：60秒</a:t>
            </a:r>
          </a:p>
          <a:p xmlns:a="http://schemas.openxmlformats.org/drawingml/2006/main">
            <a:r>
              <a:t>这组比较固定股票分数，改变组合模块。满仓等权的收益稍高，但回撤接近风险组合的两倍。双倍费用实验固定其他规则，只提高买卖费率，仍保持正收益，体现较低换手的作用。零费用是完整重跑，与之前费用加回归因区分开。需要坦诚的是，满仓等权同时取消了缓冲、逆波动和行业限制，所以只能解释整套组合设计的净作用。</a:t>
            </a:r>
          </a:p>
          <a:p xmlns:a="http://schemas.openxmlformats.org/drawingml/2006/main">
            <a:r>
              <a:t>来源：本项目 evidence/research_v2；完整定义与限制见最终报告。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建议用时：55秒</a:t>
            </a:r>
          </a:p>
          <a:p xmlns:a="http://schemas.openxmlformats.org/drawingml/2006/main">
            <a:r>
              <a:t>这里展示中性化因子的平均Rank IC。低波动、低振幅和低换手较好，流动性和均线趋势为负。每一天先跨股票计算相关，再沿时间汇总；这与把全部股票日混在一起算一次相关不同。分组也先依据当日分数固定，再统计未来收益和缺失人数。因为标签重叠，相邻二十日收益并不独立，因此这些平均值属于诊断，不能直接称为可交易收益或显著alpha。</a:t>
            </a:r>
          </a:p>
          <a:p xmlns:a="http://schemas.openxmlformats.org/drawingml/2006/main">
            <a:r>
              <a:t>来源：本项目 evidence/research_v2；完整定义与限制见最终报告。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建议用时：120秒</a:t>
            </a:r>
          </a:p>
          <a:p xmlns:a="http://schemas.openxmlformats.org/drawingml/2006/main">
            <a:r>
              <a:t>现场先打开默认策略研究页，读出区间和预选模型，指出CPI使用共同完整月份。然后切换模型对照解释验证选择，进入因子诊断选一个正IC和一个负IC因子，看定义及有效人数。最后切到交互回测，使用事先预热的样本提交一次，展示账本核验通过和交易导出。若教室网络或页面有问题，直接用已保存的截图和PDF继续；现场不下载数据，也不重新训练模型。</a:t>
            </a:r>
          </a:p>
          <a:p xmlns:a="http://schemas.openxmlformats.org/drawingml/2006/main">
            <a:r>
              <a:t>来源：本项目 evidence/research_v2；完整定义与限制见最终报告。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建议用时：55秒</a:t>
            </a:r>
          </a:p>
          <a:p xmlns:a="http://schemas.openxmlformats.org/drawingml/2006/main">
            <a:r>
              <a:t>我们的主要贡献是把数据、因子、执行、统计和证据连接起来。策略在这段历史达到CPI目标，回撤也低于事先设定的目标，但更高收益期望没有达到。对已实现收益做分块重采样得到的区间也包含负年化，这提示我们不能保证未来回报。后续可以扩展滚动训练和Qlib因子，但每一步都应该在新的验证条件下进行，而不是继续调整这段最终区间来追求更漂亮的数字。</a:t>
            </a:r>
          </a:p>
          <a:p xmlns:a="http://schemas.openxmlformats.org/drawingml/2006/main">
            <a:r>
              <a:t>来源：本项目 evidence/research_v2；完整定义与限制见最终报告。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建议用时：0秒</a:t>
            </a:r>
          </a:p>
          <a:p xmlns:a="http://schemas.openxmlformats.org/drawingml/2006/main">
            <a:r>
              <a:t>回答口径问题时使用。无风险年利率默认零，日标准差ddof为一；零波动Sharpe记缺失。回撤高水位包含初始资金。CPI同比没有参与连乘。价差分组没有冒充可执行多空策略，费用加回也没有冒充无费用独立重跑。</a:t>
            </a:r>
          </a:p>
          <a:p xmlns:a="http://schemas.openxmlformats.org/drawingml/2006/main">
            <a:r>
              <a:t>来源：本项目 evidence/research_v2；完整定义与限制见最终报告。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建议用时：0秒</a:t>
            </a:r>
          </a:p>
          <a:p xmlns:a="http://schemas.openxmlformats.org/drawingml/2006/main">
            <a:r>
              <a:t>来源：课程CF2026_Project1.pdf共十九页；Tushare官方日线、复权、估值、财务和行业接口；Microsoft Qlib官方仓库及Alpha158/LightGBM示例；Liu等CogAlpha论文v4。若问满分，回答我们按所有基础项和有证据扩展逐项准备，评分由老师判断。若问能否实盘，回答还需整手、分红现金、手续费历史和微观成交等验证。</a:t>
            </a:r>
          </a:p>
          <a:p xmlns:a="http://schemas.openxmlformats.org/drawingml/2006/main">
            <a:r>
              <a:t>https://github.com/microsoft/qlib ; https://arxiv.org/abs/2511.18850v4 ; https://tushare.pro/document/2?doc_id=79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c0a06f9c7a74b1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912e24885964b6e" /><Relationship Type="http://schemas.openxmlformats.org/officeDocument/2006/relationships/slideLayout" Target="/ppt/slideLayouts/slideLayout1.xml" Id="R21f22230526c459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1f22230526c459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b178b0fc414faf" /><Relationship Type="http://schemas.openxmlformats.org/officeDocument/2006/relationships/notesSlide" Target="/ppt/notesSlides/notesSlide1.xml" Id="R800c82f45b954cc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f1ab1df1664afe" /><Relationship Type="http://schemas.openxmlformats.org/officeDocument/2006/relationships/notesSlide" Target="/ppt/notesSlides/notesSlide2.xml" Id="Rcaa3e162c4884d7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7b7014e0144263" /><Relationship Type="http://schemas.openxmlformats.org/officeDocument/2006/relationships/chart" Target="/ppt/slides/charts/chart1.xml" Id="Rb129fecc0a794d08" /><Relationship Type="http://schemas.openxmlformats.org/officeDocument/2006/relationships/notesSlide" Target="/ppt/notesSlides/notesSlide3.xml" Id="R21409509f4b04a8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8bb1601fd3432d" /><Relationship Type="http://schemas.openxmlformats.org/officeDocument/2006/relationships/notesSlide" Target="/ppt/notesSlides/notesSlide4.xml" Id="R3965d8bbbc1643a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0b3c35fb034f51" /><Relationship Type="http://schemas.openxmlformats.org/officeDocument/2006/relationships/notesSlide" Target="/ppt/notesSlides/notesSlide5.xml" Id="R91b6231287f24c0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c065009bf34293" /><Relationship Type="http://schemas.openxmlformats.org/officeDocument/2006/relationships/notesSlide" Target="/ppt/notesSlides/notesSlide6.xml" Id="R921d9ae7c45245e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afe9f2bad7444e" /><Relationship Type="http://schemas.openxmlformats.org/officeDocument/2006/relationships/notesSlide" Target="/ppt/notesSlides/notesSlide7.xml" Id="R1d9f84333d7143e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5644b0d1aa401c" /><Relationship Type="http://schemas.openxmlformats.org/officeDocument/2006/relationships/notesSlide" Target="/ppt/notesSlides/notesSlide8.xml" Id="Ra6352e60640f433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73d1775f804896" /><Relationship Type="http://schemas.openxmlformats.org/officeDocument/2006/relationships/notesSlide" Target="/ppt/notesSlides/notesSlide9.xml" Id="Rdce7303c3c7b424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383a4ba5074f74" /><Relationship Type="http://schemas.openxmlformats.org/officeDocument/2006/relationships/notesSlide" Target="/ppt/notesSlides/notesSlide10.xml" Id="R79dcc0cfa62049a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42bbae58f742b4" /><Relationship Type="http://schemas.openxmlformats.org/officeDocument/2006/relationships/notesSlide" Target="/ppt/notesSlides/notesSlide11.xml" Id="Rf6e6432948f6433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b75a06cd164142" /><Relationship Type="http://schemas.openxmlformats.org/officeDocument/2006/relationships/chart" Target="/ppt/slides/charts/chart2.xml" Id="R9a13e0788c9b4eae" /><Relationship Type="http://schemas.openxmlformats.org/officeDocument/2006/relationships/notesSlide" Target="/ppt/notesSlides/notesSlide12.xml" Id="R3caa0d7c7672479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c9cadab23e4d5d" /><Relationship Type="http://schemas.openxmlformats.org/officeDocument/2006/relationships/chart" Target="/ppt/slides/charts/chart3.xml" Id="R5a84fa5e84434339" /><Relationship Type="http://schemas.openxmlformats.org/officeDocument/2006/relationships/notesSlide" Target="/ppt/notesSlides/notesSlide13.xml" Id="R9ca0448ba86d482f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cce9c0807354f0b" /><Relationship Type="http://schemas.openxmlformats.org/officeDocument/2006/relationships/chart" Target="/ppt/slides/charts/chart4.xml" Id="Rc4aa99e5b5aa4b3c" /><Relationship Type="http://schemas.openxmlformats.org/officeDocument/2006/relationships/notesSlide" Target="/ppt/notesSlides/notesSlide14.xml" Id="R82ac762eeab04e86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82e4732c9b4fac" /><Relationship Type="http://schemas.openxmlformats.org/officeDocument/2006/relationships/chart" Target="/ppt/slides/charts/chart5.xml" Id="R39d95dfcb5664475" /><Relationship Type="http://schemas.openxmlformats.org/officeDocument/2006/relationships/notesSlide" Target="/ppt/notesSlides/notesSlide15.xml" Id="R93499fa0567c4a5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44050e529d4e8c" /><Relationship Type="http://schemas.openxmlformats.org/officeDocument/2006/relationships/chart" Target="/ppt/slides/charts/chart6.xml" Id="R1285b466a0b9471d" /><Relationship Type="http://schemas.openxmlformats.org/officeDocument/2006/relationships/notesSlide" Target="/ppt/notesSlides/notesSlide16.xml" Id="R66b90aaecca548c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7dd8bf62e34122" /><Relationship Type="http://schemas.openxmlformats.org/officeDocument/2006/relationships/notesSlide" Target="/ppt/notesSlides/notesSlide17.xml" Id="R4031232e7e514f7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90b77edd304e11" /><Relationship Type="http://schemas.openxmlformats.org/officeDocument/2006/relationships/notesSlide" Target="/ppt/notesSlides/notesSlide18.xml" Id="R5b659c284f2d4c9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7bef6063214e5a" /><Relationship Type="http://schemas.openxmlformats.org/officeDocument/2006/relationships/notesSlide" Target="/ppt/notesSlides/notesSlide19.xml" Id="R8ba836434309456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a4dd051ec1495f" /><Relationship Type="http://schemas.openxmlformats.org/officeDocument/2006/relationships/notesSlide" Target="/ppt/notesSlides/notesSlide20.xml" Id="Rfb976b3478204ac3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_rels/chart4.xml.rels><Relationships xmlns="http://schemas.openxmlformats.org/package/2006/relationships"><Relationship Id="rIdChartSnapshot1" Type="http://schemas.openxmlformats.org/officeDocument/2006/relationships/package" Target="../../embeddings/chart-data-snapshot-004.xlsx"/></Relationships>
</file>

<file path=ppt/slides/charts/_rels/chart5.xml.rels><Relationships xmlns="http://schemas.openxmlformats.org/package/2006/relationships"><Relationship Id="rIdChartSnapshot1" Type="http://schemas.openxmlformats.org/officeDocument/2006/relationships/package" Target="../../embeddings/chart-data-snapshot-005.xlsx"/></Relationships>
</file>

<file path=ppt/slides/charts/_rels/chart6.xml.rels><Relationships xmlns="http://schemas.openxmlformats.org/package/2006/relationships"><Relationship Id="rIdChartSnapshot1" Type="http://schemas.openxmlformats.org/officeDocument/2006/relationships/package" Target="../../embeddings/chart-data-snapshot-006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年度净收益</c:v>
          </c:tx>
          <c:spPr>
            <a:solidFill xmlns:a="http://schemas.openxmlformats.org/drawingml/2006/main">
              <a:srgbClr val="168579"/>
            </a:solidFill>
            <a:ln xmlns:a="http://schemas.openxmlformats.org/drawingml/2006/main" w="21908">
              <a:solidFill>
                <a:srgbClr val="168579"/>
              </a:solidFill>
            </a:ln>
          </c:spPr>
          <c:invertIfNegative val="0"/>
          <c:cat>
            <c:strRef>
              <c:f>'Chart Data'!$A$2:$A$8</c:f>
              <c:strCache>
                <c:ptCount val="7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  <c:pt idx="6">
                  <c:v>2026至9月</c:v>
                </c:pt>
              </c:strCache>
            </c:strRef>
          </c:cat>
          <c:val>
            <c:numRef>
              <c:f>'Chart Data'!$B$2:$B$8</c:f>
              <c:numCache>
                <c:formatCode>0.00</c:formatCode>
                <c:ptCount val="7"/>
                <c:pt idx="0">
                  <c:v>0.43587109</c:v>
                </c:pt>
                <c:pt idx="1">
                  <c:v>34.74042025</c:v>
                </c:pt>
                <c:pt idx="2">
                  <c:v>-57.12440743</c:v>
                </c:pt>
                <c:pt idx="3">
                  <c:v>-33.93809736</c:v>
                </c:pt>
                <c:pt idx="4">
                  <c:v>-39.73761719</c:v>
                </c:pt>
                <c:pt idx="5">
                  <c:v>-15.65065758</c:v>
                </c:pt>
                <c:pt idx="6">
                  <c:v>-15.67312827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BCC9D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FE6EC"/>
              </a:solidFill>
            </a:ln>
          </c:spPr>
        </c:majorGridlines>
        <c:numFmt formatCode="0.0&quot;%&quot;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年化净收益</c:v>
          </c:tx>
          <c:spPr>
            <a:solidFill xmlns:a="http://schemas.openxmlformats.org/drawingml/2006/main">
              <a:srgbClr val="168579"/>
            </a:solidFill>
            <a:ln xmlns:a="http://schemas.openxmlformats.org/drawingml/2006/main" w="21908">
              <a:solidFill>
                <a:srgbClr val="168579"/>
              </a:solidFill>
            </a:ln>
          </c:spPr>
          <c:invertIfNegative val="0"/>
          <c:cat>
            <c:strRef>
              <c:f>'Chart Data'!$A$2:$A$6</c:f>
              <c:strCache>
                <c:ptCount val="5"/>
                <c:pt idx="0">
                  <c:v>标准化多因子</c:v>
                </c:pt>
                <c:pt idx="1">
                  <c:v>中性化多因子</c:v>
                </c:pt>
                <c:pt idx="2">
                  <c:v>Ridge</c:v>
                </c:pt>
                <c:pt idx="3">
                  <c:v>LightGBM</c:v>
                </c:pt>
                <c:pt idx="4">
                  <c:v>小型MLP</c:v>
                </c:pt>
              </c:strCache>
            </c:strRef>
          </c:cat>
          <c:val>
            <c:numRef>
              <c:f>'Chart Data'!$B$2:$B$6</c:f>
              <c:numCache>
                <c:formatCode>0.00</c:formatCode>
                <c:ptCount val="5"/>
                <c:pt idx="0">
                  <c:v>5.83532722</c:v>
                </c:pt>
                <c:pt idx="1">
                  <c:v>0.6250481</c:v>
                </c:pt>
                <c:pt idx="2">
                  <c:v>2.83979974</c:v>
                </c:pt>
                <c:pt idx="3">
                  <c:v>-2.20979617</c:v>
                </c:pt>
                <c:pt idx="4">
                  <c:v>0.33219526</c:v>
                </c:pt>
              </c:numCache>
            </c:numRef>
          </c:val>
        </c:ser>
        <c:ser>
          <c:idx val="1"/>
          <c:order val="1"/>
          <c:tx>
            <c:v>最大回撤</c:v>
          </c:tx>
          <c:spPr>
            <a:solidFill xmlns:a="http://schemas.openxmlformats.org/drawingml/2006/main">
              <a:srgbClr val="4265A6"/>
            </a:solidFill>
            <a:ln xmlns:a="http://schemas.openxmlformats.org/drawingml/2006/main" w="21908">
              <a:solidFill>
                <a:srgbClr val="4265A6"/>
              </a:solidFill>
            </a:ln>
          </c:spPr>
          <c:cat>
            <c:strRef>
              <c:f>'Chart Data'!$C$2:$C$6</c:f>
              <c:strCache>
                <c:ptCount val="5"/>
                <c:pt idx="0">
                  <c:v>标准化多因子</c:v>
                </c:pt>
                <c:pt idx="1">
                  <c:v>中性化多因子</c:v>
                </c:pt>
                <c:pt idx="2">
                  <c:v>Ridge</c:v>
                </c:pt>
                <c:pt idx="3">
                  <c:v>LightGBM</c:v>
                </c:pt>
                <c:pt idx="4">
                  <c:v>小型MLP</c:v>
                </c:pt>
              </c:strCache>
            </c:strRef>
          </c:cat>
          <c:val>
            <c:numRef>
              <c:f>'Chart Data'!$D$2:$D$6</c:f>
              <c:numCache>
                <c:formatCode>0.00</c:formatCode>
                <c:ptCount val="5"/>
                <c:pt idx="0">
                  <c:v>7.20055426</c:v>
                </c:pt>
                <c:pt idx="1">
                  <c:v>10.54911277</c:v>
                </c:pt>
                <c:pt idx="2">
                  <c:v>12.57953048</c:v>
                </c:pt>
                <c:pt idx="3">
                  <c:v>13.04619027</c:v>
                </c:pt>
                <c:pt idx="4">
                  <c:v>9.57426857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BCC9D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FE6EC"/>
              </a:solidFill>
            </a:ln>
          </c:spPr>
        </c:majorGridlines>
        <c:numFmt formatCode="0.0&quot;%&quot;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年化净收益</c:v>
          </c:tx>
          <c:spPr>
            <a:solidFill xmlns:a="http://schemas.openxmlformats.org/drawingml/2006/main">
              <a:srgbClr val="168579"/>
            </a:solidFill>
            <a:ln xmlns:a="http://schemas.openxmlformats.org/drawingml/2006/main" w="21908">
              <a:solidFill>
                <a:srgbClr val="168579"/>
              </a:solidFill>
            </a:ln>
          </c:spPr>
          <c:cat>
            <c:strRef>
              <c:f>'Chart Data'!$A$2:$A$6</c:f>
              <c:strCache>
                <c:ptCount val="5"/>
                <c:pt idx="0">
                  <c:v>标准化多因子</c:v>
                </c:pt>
                <c:pt idx="1">
                  <c:v>中性化多因子</c:v>
                </c:pt>
                <c:pt idx="2">
                  <c:v>Ridge</c:v>
                </c:pt>
                <c:pt idx="3">
                  <c:v>LightGBM</c:v>
                </c:pt>
                <c:pt idx="4">
                  <c:v>小型MLP</c:v>
                </c:pt>
              </c:strCache>
            </c:strRef>
          </c:cat>
          <c:val>
            <c:numRef>
              <c:f>'Chart Data'!$B$2:$B$6</c:f>
              <c:numCache>
                <c:formatCode>0.00</c:formatCode>
                <c:ptCount val="5"/>
                <c:pt idx="0">
                  <c:v>3.65247827</c:v>
                </c:pt>
                <c:pt idx="1">
                  <c:v>5.35703853</c:v>
                </c:pt>
                <c:pt idx="2">
                  <c:v>7.11874607</c:v>
                </c:pt>
                <c:pt idx="3">
                  <c:v>13.08648332</c:v>
                </c:pt>
                <c:pt idx="4">
                  <c:v>5.76074503</c:v>
                </c:pt>
              </c:numCache>
            </c:numRef>
          </c:val>
        </c:ser>
        <c:ser>
          <c:idx val="1"/>
          <c:order val="1"/>
          <c:tx>
            <c:v>最大回撤</c:v>
          </c:tx>
          <c:spPr>
            <a:solidFill xmlns:a="http://schemas.openxmlformats.org/drawingml/2006/main">
              <a:srgbClr val="4265A6"/>
            </a:solidFill>
            <a:ln xmlns:a="http://schemas.openxmlformats.org/drawingml/2006/main" w="21908">
              <a:solidFill>
                <a:srgbClr val="4265A6"/>
              </a:solidFill>
            </a:ln>
          </c:spPr>
          <c:cat>
            <c:strRef>
              <c:f>'Chart Data'!$C$2:$C$6</c:f>
              <c:strCache>
                <c:ptCount val="5"/>
                <c:pt idx="0">
                  <c:v>标准化多因子</c:v>
                </c:pt>
                <c:pt idx="1">
                  <c:v>中性化多因子</c:v>
                </c:pt>
                <c:pt idx="2">
                  <c:v>Ridge</c:v>
                </c:pt>
                <c:pt idx="3">
                  <c:v>LightGBM</c:v>
                </c:pt>
                <c:pt idx="4">
                  <c:v>小型MLP</c:v>
                </c:pt>
              </c:strCache>
            </c:strRef>
          </c:cat>
          <c:val>
            <c:numRef>
              <c:f>'Chart Data'!$D$2:$D$6</c:f>
              <c:numCache>
                <c:formatCode>0.00</c:formatCode>
                <c:ptCount val="5"/>
                <c:pt idx="0">
                  <c:v>7.01104153</c:v>
                </c:pt>
                <c:pt idx="1">
                  <c:v>10.25870065</c:v>
                </c:pt>
                <c:pt idx="2">
                  <c:v>10.65920306</c:v>
                </c:pt>
                <c:pt idx="3">
                  <c:v>11.69258532</c:v>
                </c:pt>
                <c:pt idx="4">
                  <c:v>10.30580318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BCC9D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FE6EC"/>
              </a:solidFill>
            </a:ln>
          </c:spPr>
        </c:majorGridlines>
        <c:numFmt formatCode="0.0&quot;%&quot;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4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提交策略 · 扣费</c:v>
          </c:tx>
          <c:spPr>
            <a:solidFill xmlns:a="http://schemas.openxmlformats.org/drawingml/2006/main">
              <a:srgbClr val="168579"/>
            </a:solidFill>
            <a:ln xmlns:a="http://schemas.openxmlformats.org/drawingml/2006/main" w="21908">
              <a:solidFill>
                <a:srgbClr val="168579"/>
              </a:solidFill>
            </a:ln>
          </c:spPr>
          <c:marker>
            <c:symbol val="none"/>
          </c:marker>
          <c:cat>
            <c:strRef>
              <c:f>'Chart Data'!$A$2:$A$86</c:f>
              <c:strCache>
                <c:ptCount val="85"/>
                <c:pt idx="0">
                  <c:v>2025-01-02</c:v>
                </c:pt>
                <c:pt idx="1">
                  <c:v>2025-01-09</c:v>
                </c:pt>
                <c:pt idx="2">
                  <c:v>2025-01-16</c:v>
                </c:pt>
                <c:pt idx="3">
                  <c:v>2025-01-23</c:v>
                </c:pt>
                <c:pt idx="4">
                  <c:v>2025-02-07</c:v>
                </c:pt>
                <c:pt idx="5">
                  <c:v>2025-02-14</c:v>
                </c:pt>
                <c:pt idx="6">
                  <c:v>2025-02-21</c:v>
                </c:pt>
                <c:pt idx="7">
                  <c:v>2025-02-28</c:v>
                </c:pt>
                <c:pt idx="8">
                  <c:v>2025-03-07</c:v>
                </c:pt>
                <c:pt idx="9">
                  <c:v>2025-03-14</c:v>
                </c:pt>
                <c:pt idx="10">
                  <c:v>2025-03-21</c:v>
                </c:pt>
                <c:pt idx="11">
                  <c:v>2025-03-28</c:v>
                </c:pt>
                <c:pt idx="12">
                  <c:v>2025-04-07</c:v>
                </c:pt>
                <c:pt idx="13">
                  <c:v>2025-04-14</c:v>
                </c:pt>
                <c:pt idx="14">
                  <c:v>2025-04-21</c:v>
                </c:pt>
                <c:pt idx="15">
                  <c:v>2025-04-28</c:v>
                </c:pt>
                <c:pt idx="16">
                  <c:v>2025-05-08</c:v>
                </c:pt>
                <c:pt idx="17">
                  <c:v>2025-05-15</c:v>
                </c:pt>
                <c:pt idx="18">
                  <c:v>2025-05-22</c:v>
                </c:pt>
                <c:pt idx="19">
                  <c:v>2025-05-29</c:v>
                </c:pt>
                <c:pt idx="20">
                  <c:v>2025-06-06</c:v>
                </c:pt>
                <c:pt idx="21">
                  <c:v>2025-06-13</c:v>
                </c:pt>
                <c:pt idx="22">
                  <c:v>2025-06-20</c:v>
                </c:pt>
                <c:pt idx="23">
                  <c:v>2025-06-27</c:v>
                </c:pt>
                <c:pt idx="24">
                  <c:v>2025-07-04</c:v>
                </c:pt>
                <c:pt idx="25">
                  <c:v>2025-07-11</c:v>
                </c:pt>
                <c:pt idx="26">
                  <c:v>2025-07-18</c:v>
                </c:pt>
                <c:pt idx="27">
                  <c:v>2025-07-25</c:v>
                </c:pt>
                <c:pt idx="28">
                  <c:v>2025-08-01</c:v>
                </c:pt>
                <c:pt idx="29">
                  <c:v>2025-08-08</c:v>
                </c:pt>
                <c:pt idx="30">
                  <c:v>2025-08-15</c:v>
                </c:pt>
                <c:pt idx="31">
                  <c:v>2025-08-22</c:v>
                </c:pt>
                <c:pt idx="32">
                  <c:v>2025-08-29</c:v>
                </c:pt>
                <c:pt idx="33">
                  <c:v>2025-09-05</c:v>
                </c:pt>
                <c:pt idx="34">
                  <c:v>2025-09-12</c:v>
                </c:pt>
                <c:pt idx="35">
                  <c:v>2025-09-19</c:v>
                </c:pt>
                <c:pt idx="36">
                  <c:v>2025-09-26</c:v>
                </c:pt>
                <c:pt idx="37">
                  <c:v>2025-10-13</c:v>
                </c:pt>
                <c:pt idx="38">
                  <c:v>2025-10-20</c:v>
                </c:pt>
                <c:pt idx="39">
                  <c:v>2025-10-27</c:v>
                </c:pt>
                <c:pt idx="40">
                  <c:v>2025-11-03</c:v>
                </c:pt>
                <c:pt idx="41">
                  <c:v>2025-11-10</c:v>
                </c:pt>
                <c:pt idx="42">
                  <c:v>2025-11-17</c:v>
                </c:pt>
                <c:pt idx="43">
                  <c:v>2025-11-24</c:v>
                </c:pt>
                <c:pt idx="44">
                  <c:v>2025-12-01</c:v>
                </c:pt>
                <c:pt idx="45">
                  <c:v>2025-12-08</c:v>
                </c:pt>
                <c:pt idx="46">
                  <c:v>2025-12-15</c:v>
                </c:pt>
                <c:pt idx="47">
                  <c:v>2025-12-22</c:v>
                </c:pt>
                <c:pt idx="48">
                  <c:v>2025-12-29</c:v>
                </c:pt>
                <c:pt idx="49">
                  <c:v>2026-01-07</c:v>
                </c:pt>
                <c:pt idx="50">
                  <c:v>2026-01-14</c:v>
                </c:pt>
                <c:pt idx="51">
                  <c:v>2026-01-21</c:v>
                </c:pt>
                <c:pt idx="52">
                  <c:v>2026-01-28</c:v>
                </c:pt>
                <c:pt idx="53">
                  <c:v>2026-02-04</c:v>
                </c:pt>
                <c:pt idx="54">
                  <c:v>2026-02-11</c:v>
                </c:pt>
                <c:pt idx="55">
                  <c:v>2026-02-26</c:v>
                </c:pt>
                <c:pt idx="56">
                  <c:v>2026-03-05</c:v>
                </c:pt>
                <c:pt idx="57">
                  <c:v>2026-03-12</c:v>
                </c:pt>
                <c:pt idx="58">
                  <c:v>2026-03-19</c:v>
                </c:pt>
                <c:pt idx="59">
                  <c:v>2026-03-26</c:v>
                </c:pt>
                <c:pt idx="60">
                  <c:v>2026-04-02</c:v>
                </c:pt>
                <c:pt idx="61">
                  <c:v>2026-04-10</c:v>
                </c:pt>
                <c:pt idx="62">
                  <c:v>2026-04-17</c:v>
                </c:pt>
                <c:pt idx="63">
                  <c:v>2026-04-24</c:v>
                </c:pt>
                <c:pt idx="64">
                  <c:v>2026-05-06</c:v>
                </c:pt>
                <c:pt idx="65">
                  <c:v>2026-05-13</c:v>
                </c:pt>
                <c:pt idx="66">
                  <c:v>2026-05-20</c:v>
                </c:pt>
                <c:pt idx="67">
                  <c:v>2026-05-27</c:v>
                </c:pt>
                <c:pt idx="68">
                  <c:v>2026-06-03</c:v>
                </c:pt>
                <c:pt idx="69">
                  <c:v>2026-06-10</c:v>
                </c:pt>
                <c:pt idx="70">
                  <c:v>2026-06-17</c:v>
                </c:pt>
                <c:pt idx="71">
                  <c:v>2026-06-25</c:v>
                </c:pt>
                <c:pt idx="72">
                  <c:v>2026-07-02</c:v>
                </c:pt>
                <c:pt idx="73">
                  <c:v>2026-07-09</c:v>
                </c:pt>
                <c:pt idx="74">
                  <c:v>2026-07-16</c:v>
                </c:pt>
                <c:pt idx="75">
                  <c:v>2026-07-23</c:v>
                </c:pt>
                <c:pt idx="76">
                  <c:v>2026-07-30</c:v>
                </c:pt>
                <c:pt idx="77">
                  <c:v>2026-08-06</c:v>
                </c:pt>
                <c:pt idx="78">
                  <c:v>2026-08-13</c:v>
                </c:pt>
                <c:pt idx="79">
                  <c:v>2026-08-20</c:v>
                </c:pt>
                <c:pt idx="80">
                  <c:v>2026-08-27</c:v>
                </c:pt>
                <c:pt idx="81">
                  <c:v>2026-09-03</c:v>
                </c:pt>
                <c:pt idx="82">
                  <c:v>2026-09-10</c:v>
                </c:pt>
                <c:pt idx="83">
                  <c:v>2026-09-17</c:v>
                </c:pt>
                <c:pt idx="84">
                  <c:v>2026-09-18</c:v>
                </c:pt>
              </c:strCache>
            </c:strRef>
          </c:cat>
          <c:val>
            <c:numRef>
              <c:f>'Chart Data'!$B$2:$B$86</c:f>
              <c:numCache>
                <c:formatCode>0.0000</c:formatCode>
                <c:ptCount val="85"/>
                <c:pt idx="0">
                  <c:v>0.98728261</c:v>
                </c:pt>
                <c:pt idx="1">
                  <c:v>0.98313842</c:v>
                </c:pt>
                <c:pt idx="2">
                  <c:v>0.98587365</c:v>
                </c:pt>
                <c:pt idx="3">
                  <c:v>0.98416855</c:v>
                </c:pt>
                <c:pt idx="4">
                  <c:v>0.98737086</c:v>
                </c:pt>
                <c:pt idx="5">
                  <c:v>0.99113529</c:v>
                </c:pt>
                <c:pt idx="6">
                  <c:v>0.98311397</c:v>
                </c:pt>
                <c:pt idx="7">
                  <c:v>0.98578779</c:v>
                </c:pt>
                <c:pt idx="8">
                  <c:v>0.98602544</c:v>
                </c:pt>
                <c:pt idx="9">
                  <c:v>0.99923959</c:v>
                </c:pt>
                <c:pt idx="10">
                  <c:v>0.9987955</c:v>
                </c:pt>
                <c:pt idx="11">
                  <c:v>1.00018052</c:v>
                </c:pt>
                <c:pt idx="12">
                  <c:v>0.97741998</c:v>
                </c:pt>
                <c:pt idx="13">
                  <c:v>0.98403411</c:v>
                </c:pt>
                <c:pt idx="14">
                  <c:v>0.9875359</c:v>
                </c:pt>
                <c:pt idx="15">
                  <c:v>0.99079956</c:v>
                </c:pt>
                <c:pt idx="16">
                  <c:v>0.99056605</c:v>
                </c:pt>
                <c:pt idx="17">
                  <c:v>0.99524955</c:v>
                </c:pt>
                <c:pt idx="18">
                  <c:v>0.99668945</c:v>
                </c:pt>
                <c:pt idx="19">
                  <c:v>0.99452786</c:v>
                </c:pt>
                <c:pt idx="20">
                  <c:v>0.99847851</c:v>
                </c:pt>
                <c:pt idx="21">
                  <c:v>1.00167982</c:v>
                </c:pt>
                <c:pt idx="22">
                  <c:v>1.00746809</c:v>
                </c:pt>
                <c:pt idx="23">
                  <c:v>1.01413729</c:v>
                </c:pt>
                <c:pt idx="24">
                  <c:v>1.02564817</c:v>
                </c:pt>
                <c:pt idx="25">
                  <c:v>1.03017045</c:v>
                </c:pt>
                <c:pt idx="26">
                  <c:v>1.02958158</c:v>
                </c:pt>
                <c:pt idx="27">
                  <c:v>1.03887094</c:v>
                </c:pt>
                <c:pt idx="28">
                  <c:v>1.02556844</c:v>
                </c:pt>
                <c:pt idx="29">
                  <c:v>1.03930941</c:v>
                </c:pt>
                <c:pt idx="30">
                  <c:v>1.03064708</c:v>
                </c:pt>
                <c:pt idx="31">
                  <c:v>1.03933091</c:v>
                </c:pt>
                <c:pt idx="32">
                  <c:v>1.03331068</c:v>
                </c:pt>
                <c:pt idx="33">
                  <c:v>1.0259695</c:v>
                </c:pt>
                <c:pt idx="34">
                  <c:v>1.03041862</c:v>
                </c:pt>
                <c:pt idx="35">
                  <c:v>1.01635283</c:v>
                </c:pt>
                <c:pt idx="36">
                  <c:v>1.00862139</c:v>
                </c:pt>
                <c:pt idx="37">
                  <c:v>1.01745311</c:v>
                </c:pt>
                <c:pt idx="38">
                  <c:v>1.03573462</c:v>
                </c:pt>
                <c:pt idx="39">
                  <c:v>1.04629842</c:v>
                </c:pt>
                <c:pt idx="40">
                  <c:v>1.04248861</c:v>
                </c:pt>
                <c:pt idx="41">
                  <c:v>1.05627316</c:v>
                </c:pt>
                <c:pt idx="42">
                  <c:v>1.05160204</c:v>
                </c:pt>
                <c:pt idx="43">
                  <c:v>1.04119184</c:v>
                </c:pt>
                <c:pt idx="44">
                  <c:v>1.05000405</c:v>
                </c:pt>
                <c:pt idx="45">
                  <c:v>1.04606169</c:v>
                </c:pt>
                <c:pt idx="46">
                  <c:v>1.04137362</c:v>
                </c:pt>
                <c:pt idx="47">
                  <c:v>1.04327425</c:v>
                </c:pt>
                <c:pt idx="48">
                  <c:v>1.04509143</c:v>
                </c:pt>
                <c:pt idx="49">
                  <c:v>1.04657587</c:v>
                </c:pt>
                <c:pt idx="50">
                  <c:v>1.03851717</c:v>
                </c:pt>
                <c:pt idx="51">
                  <c:v>1.03530146</c:v>
                </c:pt>
                <c:pt idx="52">
                  <c:v>1.03060818</c:v>
                </c:pt>
                <c:pt idx="53">
                  <c:v>1.03966776</c:v>
                </c:pt>
                <c:pt idx="54">
                  <c:v>1.0459593</c:v>
                </c:pt>
                <c:pt idx="55">
                  <c:v>1.0378939</c:v>
                </c:pt>
                <c:pt idx="56">
                  <c:v>1.03800796</c:v>
                </c:pt>
                <c:pt idx="57">
                  <c:v>1.04253648</c:v>
                </c:pt>
                <c:pt idx="58">
                  <c:v>1.04127469</c:v>
                </c:pt>
                <c:pt idx="59">
                  <c:v>1.03862559</c:v>
                </c:pt>
                <c:pt idx="60">
                  <c:v>1.0400269</c:v>
                </c:pt>
                <c:pt idx="61">
                  <c:v>1.03726517</c:v>
                </c:pt>
                <c:pt idx="62">
                  <c:v>1.03818511</c:v>
                </c:pt>
                <c:pt idx="63">
                  <c:v>1.03923435</c:v>
                </c:pt>
                <c:pt idx="64">
                  <c:v>1.03743559</c:v>
                </c:pt>
                <c:pt idx="65">
                  <c:v>1.03659041</c:v>
                </c:pt>
                <c:pt idx="66">
                  <c:v>1.02312579</c:v>
                </c:pt>
                <c:pt idx="67">
                  <c:v>1.01475933</c:v>
                </c:pt>
                <c:pt idx="68">
                  <c:v>1.0240237</c:v>
                </c:pt>
                <c:pt idx="69">
                  <c:v>1.02723885</c:v>
                </c:pt>
                <c:pt idx="70">
                  <c:v>1.02139997</c:v>
                </c:pt>
                <c:pt idx="71">
                  <c:v>1.00127927</c:v>
                </c:pt>
                <c:pt idx="72">
                  <c:v>1.00059439</c:v>
                </c:pt>
                <c:pt idx="73">
                  <c:v>1.01125839</c:v>
                </c:pt>
                <c:pt idx="74">
                  <c:v>1.03564933</c:v>
                </c:pt>
                <c:pt idx="75">
                  <c:v>1.05320639</c:v>
                </c:pt>
                <c:pt idx="76">
                  <c:v>1.06561469</c:v>
                </c:pt>
                <c:pt idx="77">
                  <c:v>1.05909219</c:v>
                </c:pt>
                <c:pt idx="78">
                  <c:v>1.05732302</c:v>
                </c:pt>
                <c:pt idx="79">
                  <c:v>1.06023796</c:v>
                </c:pt>
                <c:pt idx="80">
                  <c:v>1.06080086</c:v>
                </c:pt>
                <c:pt idx="81">
                  <c:v>1.06353252</c:v>
                </c:pt>
                <c:pt idx="82">
                  <c:v>1.06503128</c:v>
                </c:pt>
                <c:pt idx="83">
                  <c:v>1.06140552</c:v>
                </c:pt>
                <c:pt idx="84">
                  <c:v>1.06115953</c:v>
                </c:pt>
              </c:numCache>
            </c:numRef>
          </c:val>
          <c:smooth val="0"/>
        </c:ser>
        <c:ser>
          <c:idx val="1"/>
          <c:order val="1"/>
          <c:tx>
            <c:v>沪深300 · 价格指数</c:v>
          </c:tx>
          <c:spPr>
            <a:solidFill xmlns:a="http://schemas.openxmlformats.org/drawingml/2006/main">
              <a:srgbClr val="4265A6"/>
            </a:solidFill>
            <a:ln xmlns:a="http://schemas.openxmlformats.org/drawingml/2006/main" w="21908">
              <a:solidFill>
                <a:srgbClr val="4265A6"/>
              </a:solidFill>
            </a:ln>
          </c:spPr>
          <c:marker>
            <c:symbol val="none"/>
          </c:marker>
          <c:cat>
            <c:strRef>
              <c:f>'Chart Data'!$C$2:$C$86</c:f>
              <c:strCache>
                <c:ptCount val="85"/>
                <c:pt idx="0">
                  <c:v>2025-01-02</c:v>
                </c:pt>
                <c:pt idx="1">
                  <c:v>2025-01-09</c:v>
                </c:pt>
                <c:pt idx="2">
                  <c:v>2025-01-16</c:v>
                </c:pt>
                <c:pt idx="3">
                  <c:v>2025-01-23</c:v>
                </c:pt>
                <c:pt idx="4">
                  <c:v>2025-02-07</c:v>
                </c:pt>
                <c:pt idx="5">
                  <c:v>2025-02-14</c:v>
                </c:pt>
                <c:pt idx="6">
                  <c:v>2025-02-21</c:v>
                </c:pt>
                <c:pt idx="7">
                  <c:v>2025-02-28</c:v>
                </c:pt>
                <c:pt idx="8">
                  <c:v>2025-03-07</c:v>
                </c:pt>
                <c:pt idx="9">
                  <c:v>2025-03-14</c:v>
                </c:pt>
                <c:pt idx="10">
                  <c:v>2025-03-21</c:v>
                </c:pt>
                <c:pt idx="11">
                  <c:v>2025-03-28</c:v>
                </c:pt>
                <c:pt idx="12">
                  <c:v>2025-04-07</c:v>
                </c:pt>
                <c:pt idx="13">
                  <c:v>2025-04-14</c:v>
                </c:pt>
                <c:pt idx="14">
                  <c:v>2025-04-21</c:v>
                </c:pt>
                <c:pt idx="15">
                  <c:v>2025-04-28</c:v>
                </c:pt>
                <c:pt idx="16">
                  <c:v>2025-05-08</c:v>
                </c:pt>
                <c:pt idx="17">
                  <c:v>2025-05-15</c:v>
                </c:pt>
                <c:pt idx="18">
                  <c:v>2025-05-22</c:v>
                </c:pt>
                <c:pt idx="19">
                  <c:v>2025-05-29</c:v>
                </c:pt>
                <c:pt idx="20">
                  <c:v>2025-06-06</c:v>
                </c:pt>
                <c:pt idx="21">
                  <c:v>2025-06-13</c:v>
                </c:pt>
                <c:pt idx="22">
                  <c:v>2025-06-20</c:v>
                </c:pt>
                <c:pt idx="23">
                  <c:v>2025-06-27</c:v>
                </c:pt>
                <c:pt idx="24">
                  <c:v>2025-07-04</c:v>
                </c:pt>
                <c:pt idx="25">
                  <c:v>2025-07-11</c:v>
                </c:pt>
                <c:pt idx="26">
                  <c:v>2025-07-18</c:v>
                </c:pt>
                <c:pt idx="27">
                  <c:v>2025-07-25</c:v>
                </c:pt>
                <c:pt idx="28">
                  <c:v>2025-08-01</c:v>
                </c:pt>
                <c:pt idx="29">
                  <c:v>2025-08-08</c:v>
                </c:pt>
                <c:pt idx="30">
                  <c:v>2025-08-15</c:v>
                </c:pt>
                <c:pt idx="31">
                  <c:v>2025-08-22</c:v>
                </c:pt>
                <c:pt idx="32">
                  <c:v>2025-08-29</c:v>
                </c:pt>
                <c:pt idx="33">
                  <c:v>2025-09-05</c:v>
                </c:pt>
                <c:pt idx="34">
                  <c:v>2025-09-12</c:v>
                </c:pt>
                <c:pt idx="35">
                  <c:v>2025-09-19</c:v>
                </c:pt>
                <c:pt idx="36">
                  <c:v>2025-09-26</c:v>
                </c:pt>
                <c:pt idx="37">
                  <c:v>2025-10-13</c:v>
                </c:pt>
                <c:pt idx="38">
                  <c:v>2025-10-20</c:v>
                </c:pt>
                <c:pt idx="39">
                  <c:v>2025-10-27</c:v>
                </c:pt>
                <c:pt idx="40">
                  <c:v>2025-11-03</c:v>
                </c:pt>
                <c:pt idx="41">
                  <c:v>2025-11-10</c:v>
                </c:pt>
                <c:pt idx="42">
                  <c:v>2025-11-17</c:v>
                </c:pt>
                <c:pt idx="43">
                  <c:v>2025-11-24</c:v>
                </c:pt>
                <c:pt idx="44">
                  <c:v>2025-12-01</c:v>
                </c:pt>
                <c:pt idx="45">
                  <c:v>2025-12-08</c:v>
                </c:pt>
                <c:pt idx="46">
                  <c:v>2025-12-15</c:v>
                </c:pt>
                <c:pt idx="47">
                  <c:v>2025-12-22</c:v>
                </c:pt>
                <c:pt idx="48">
                  <c:v>2025-12-29</c:v>
                </c:pt>
                <c:pt idx="49">
                  <c:v>2026-01-07</c:v>
                </c:pt>
                <c:pt idx="50">
                  <c:v>2026-01-14</c:v>
                </c:pt>
                <c:pt idx="51">
                  <c:v>2026-01-21</c:v>
                </c:pt>
                <c:pt idx="52">
                  <c:v>2026-01-28</c:v>
                </c:pt>
                <c:pt idx="53">
                  <c:v>2026-02-04</c:v>
                </c:pt>
                <c:pt idx="54">
                  <c:v>2026-02-11</c:v>
                </c:pt>
                <c:pt idx="55">
                  <c:v>2026-02-26</c:v>
                </c:pt>
                <c:pt idx="56">
                  <c:v>2026-03-05</c:v>
                </c:pt>
                <c:pt idx="57">
                  <c:v>2026-03-12</c:v>
                </c:pt>
                <c:pt idx="58">
                  <c:v>2026-03-19</c:v>
                </c:pt>
                <c:pt idx="59">
                  <c:v>2026-03-26</c:v>
                </c:pt>
                <c:pt idx="60">
                  <c:v>2026-04-02</c:v>
                </c:pt>
                <c:pt idx="61">
                  <c:v>2026-04-10</c:v>
                </c:pt>
                <c:pt idx="62">
                  <c:v>2026-04-17</c:v>
                </c:pt>
                <c:pt idx="63">
                  <c:v>2026-04-24</c:v>
                </c:pt>
                <c:pt idx="64">
                  <c:v>2026-05-06</c:v>
                </c:pt>
                <c:pt idx="65">
                  <c:v>2026-05-13</c:v>
                </c:pt>
                <c:pt idx="66">
                  <c:v>2026-05-20</c:v>
                </c:pt>
                <c:pt idx="67">
                  <c:v>2026-05-27</c:v>
                </c:pt>
                <c:pt idx="68">
                  <c:v>2026-06-03</c:v>
                </c:pt>
                <c:pt idx="69">
                  <c:v>2026-06-10</c:v>
                </c:pt>
                <c:pt idx="70">
                  <c:v>2026-06-17</c:v>
                </c:pt>
                <c:pt idx="71">
                  <c:v>2026-06-25</c:v>
                </c:pt>
                <c:pt idx="72">
                  <c:v>2026-07-02</c:v>
                </c:pt>
                <c:pt idx="73">
                  <c:v>2026-07-09</c:v>
                </c:pt>
                <c:pt idx="74">
                  <c:v>2026-07-16</c:v>
                </c:pt>
                <c:pt idx="75">
                  <c:v>2026-07-23</c:v>
                </c:pt>
                <c:pt idx="76">
                  <c:v>2026-07-30</c:v>
                </c:pt>
                <c:pt idx="77">
                  <c:v>2026-08-06</c:v>
                </c:pt>
                <c:pt idx="78">
                  <c:v>2026-08-13</c:v>
                </c:pt>
                <c:pt idx="79">
                  <c:v>2026-08-20</c:v>
                </c:pt>
                <c:pt idx="80">
                  <c:v>2026-08-27</c:v>
                </c:pt>
                <c:pt idx="81">
                  <c:v>2026-09-03</c:v>
                </c:pt>
                <c:pt idx="82">
                  <c:v>2026-09-10</c:v>
                </c:pt>
                <c:pt idx="83">
                  <c:v>2026-09-17</c:v>
                </c:pt>
                <c:pt idx="84">
                  <c:v>2026-09-18</c:v>
                </c:pt>
              </c:strCache>
            </c:strRef>
          </c:cat>
          <c:val>
            <c:numRef>
              <c:f>'Chart Data'!$D$2:$D$86</c:f>
              <c:numCache>
                <c:formatCode>0.0000</c:formatCode>
                <c:ptCount val="85"/>
                <c:pt idx="0">
                  <c:v>0.97089751</c:v>
                </c:pt>
                <c:pt idx="1">
                  <c:v>0.96060048</c:v>
                </c:pt>
                <c:pt idx="2">
                  <c:v>0.96581186</c:v>
                </c:pt>
                <c:pt idx="3">
                  <c:v>0.96666583</c:v>
                </c:pt>
                <c:pt idx="4">
                  <c:v>0.98927343</c:v>
                </c:pt>
                <c:pt idx="5">
                  <c:v>1.00104135</c:v>
                </c:pt>
                <c:pt idx="6">
                  <c:v>1.0110633</c:v>
                </c:pt>
                <c:pt idx="7">
                  <c:v>0.98859893</c:v>
                </c:pt>
                <c:pt idx="8">
                  <c:v>1.0023135</c:v>
                </c:pt>
                <c:pt idx="9">
                  <c:v>1.01820773</c:v>
                </c:pt>
                <c:pt idx="10">
                  <c:v>0.99486258</c:v>
                </c:pt>
                <c:pt idx="11">
                  <c:v>0.99498217</c:v>
                </c:pt>
                <c:pt idx="12">
                  <c:v>0.91220378</c:v>
                </c:pt>
                <c:pt idx="13">
                  <c:v>0.95533096</c:v>
                </c:pt>
                <c:pt idx="14">
                  <c:v>0.961872</c:v>
                </c:pt>
                <c:pt idx="15">
                  <c:v>0.96104306</c:v>
                </c:pt>
                <c:pt idx="16">
                  <c:v>0.97915719</c:v>
                </c:pt>
                <c:pt idx="17">
                  <c:v>0.99295748</c:v>
                </c:pt>
                <c:pt idx="18">
                  <c:v>0.99465152</c:v>
                </c:pt>
                <c:pt idx="19">
                  <c:v>0.98063206</c:v>
                </c:pt>
                <c:pt idx="20">
                  <c:v>0.98451635</c:v>
                </c:pt>
                <c:pt idx="21">
                  <c:v>0.98202534</c:v>
                </c:pt>
                <c:pt idx="22">
                  <c:v>0.97756834</c:v>
                </c:pt>
                <c:pt idx="23">
                  <c:v>0.99665733</c:v>
                </c:pt>
                <c:pt idx="24">
                  <c:v>1.0120187</c:v>
                </c:pt>
                <c:pt idx="25">
                  <c:v>1.02030442</c:v>
                </c:pt>
                <c:pt idx="26">
                  <c:v>1.03142071</c:v>
                </c:pt>
                <c:pt idx="27">
                  <c:v>1.04885816</c:v>
                </c:pt>
                <c:pt idx="28">
                  <c:v>1.03050074</c:v>
                </c:pt>
                <c:pt idx="29">
                  <c:v>1.04321724</c:v>
                </c:pt>
                <c:pt idx="30">
                  <c:v>1.06796657</c:v>
                </c:pt>
                <c:pt idx="31">
                  <c:v>1.11260402</c:v>
                </c:pt>
                <c:pt idx="32">
                  <c:v>1.14278549</c:v>
                </c:pt>
                <c:pt idx="33">
                  <c:v>1.13352628</c:v>
                </c:pt>
                <c:pt idx="34">
                  <c:v>1.14919959</c:v>
                </c:pt>
                <c:pt idx="35">
                  <c:v>1.14409693</c:v>
                </c:pt>
                <c:pt idx="36">
                  <c:v>1.15632827</c:v>
                </c:pt>
                <c:pt idx="37">
                  <c:v>1.16749238</c:v>
                </c:pt>
                <c:pt idx="38">
                  <c:v>1.1533222</c:v>
                </c:pt>
                <c:pt idx="39">
                  <c:v>1.19850709</c:v>
                </c:pt>
                <c:pt idx="40">
                  <c:v>1.1825942</c:v>
                </c:pt>
                <c:pt idx="41">
                  <c:v>1.1931784</c:v>
                </c:pt>
                <c:pt idx="42">
                  <c:v>1.16852773</c:v>
                </c:pt>
                <c:pt idx="43">
                  <c:v>1.13040623</c:v>
                </c:pt>
                <c:pt idx="44">
                  <c:v>1.16304682</c:v>
                </c:pt>
                <c:pt idx="45">
                  <c:v>1.17455125</c:v>
                </c:pt>
                <c:pt idx="46">
                  <c:v>1.15683931</c:v>
                </c:pt>
                <c:pt idx="47">
                  <c:v>1.1719766</c:v>
                </c:pt>
                <c:pt idx="48">
                  <c:v>1.1790285</c:v>
                </c:pt>
                <c:pt idx="49">
                  <c:v>1.21391968</c:v>
                </c:pt>
                <c:pt idx="50">
                  <c:v>1.20509224</c:v>
                </c:pt>
                <c:pt idx="51">
                  <c:v>1.20029889</c:v>
                </c:pt>
                <c:pt idx="52">
                  <c:v>1.19900845</c:v>
                </c:pt>
                <c:pt idx="53">
                  <c:v>1.19410155</c:v>
                </c:pt>
                <c:pt idx="54">
                  <c:v>1.19794796</c:v>
                </c:pt>
                <c:pt idx="55">
                  <c:v>1.2012658</c:v>
                </c:pt>
                <c:pt idx="56">
                  <c:v>1.18114291</c:v>
                </c:pt>
                <c:pt idx="57">
                  <c:v>1.19127478</c:v>
                </c:pt>
                <c:pt idx="58">
                  <c:v>1.16476617</c:v>
                </c:pt>
                <c:pt idx="59">
                  <c:v>1.13789979</c:v>
                </c:pt>
                <c:pt idx="60">
                  <c:v>1.13825045</c:v>
                </c:pt>
                <c:pt idx="61">
                  <c:v>1.17831524</c:v>
                </c:pt>
                <c:pt idx="62">
                  <c:v>1.20172266</c:v>
                </c:pt>
                <c:pt idx="63">
                  <c:v>1.21206526</c:v>
                </c:pt>
                <c:pt idx="64">
                  <c:v>1.23944184</c:v>
                </c:pt>
                <c:pt idx="65">
                  <c:v>1.27025537</c:v>
                </c:pt>
                <c:pt idx="66">
                  <c:v>1.23273439</c:v>
                </c:pt>
                <c:pt idx="67">
                  <c:v>1.24733991</c:v>
                </c:pt>
                <c:pt idx="68">
                  <c:v>1.25512603</c:v>
                </c:pt>
                <c:pt idx="69">
                  <c:v>1.20678544</c:v>
                </c:pt>
                <c:pt idx="70">
                  <c:v>1.25323958</c:v>
                </c:pt>
                <c:pt idx="71">
                  <c:v>1.27578589</c:v>
                </c:pt>
                <c:pt idx="72">
                  <c:v>1.2229745</c:v>
                </c:pt>
                <c:pt idx="73">
                  <c:v>1.23924343</c:v>
                </c:pt>
                <c:pt idx="74">
                  <c:v>1.19403832</c:v>
                </c:pt>
                <c:pt idx="75">
                  <c:v>1.20155244</c:v>
                </c:pt>
                <c:pt idx="76">
                  <c:v>1.15624476</c:v>
                </c:pt>
                <c:pt idx="77">
                  <c:v>1.18206229</c:v>
                </c:pt>
                <c:pt idx="78">
                  <c:v>1.18527494</c:v>
                </c:pt>
                <c:pt idx="79">
                  <c:v>1.16718028</c:v>
                </c:pt>
                <c:pt idx="80">
                  <c:v>1.17671711</c:v>
                </c:pt>
                <c:pt idx="81">
                  <c:v>1.15697115</c:v>
                </c:pt>
                <c:pt idx="82">
                  <c:v>1.15590668</c:v>
                </c:pt>
                <c:pt idx="83">
                  <c:v>1.13348328</c:v>
                </c:pt>
                <c:pt idx="84">
                  <c:v>1.14548784</c:v>
                </c:pt>
              </c:numCache>
            </c:numRef>
          </c:val>
          <c:smooth val="0"/>
        </c:ser>
        <c:ser>
          <c:idx val="2"/>
          <c:order val="2"/>
          <c:tx>
            <c:v>现金 · 零利息</c:v>
          </c:tx>
          <c:spPr>
            <a:solidFill xmlns:a="http://schemas.openxmlformats.org/drawingml/2006/main">
              <a:srgbClr val="8C99A6"/>
            </a:solidFill>
            <a:ln xmlns:a="http://schemas.openxmlformats.org/drawingml/2006/main" w="21908">
              <a:solidFill>
                <a:srgbClr val="8C99A6"/>
              </a:solidFill>
            </a:ln>
          </c:spPr>
          <c:marker>
            <c:symbol val="none"/>
          </c:marker>
          <c:cat>
            <c:strRef>
              <c:f>'Chart Data'!$E$2:$E$86</c:f>
              <c:strCache>
                <c:ptCount val="85"/>
                <c:pt idx="0">
                  <c:v>2025-01-02</c:v>
                </c:pt>
                <c:pt idx="1">
                  <c:v>2025-01-09</c:v>
                </c:pt>
                <c:pt idx="2">
                  <c:v>2025-01-16</c:v>
                </c:pt>
                <c:pt idx="3">
                  <c:v>2025-01-23</c:v>
                </c:pt>
                <c:pt idx="4">
                  <c:v>2025-02-07</c:v>
                </c:pt>
                <c:pt idx="5">
                  <c:v>2025-02-14</c:v>
                </c:pt>
                <c:pt idx="6">
                  <c:v>2025-02-21</c:v>
                </c:pt>
                <c:pt idx="7">
                  <c:v>2025-02-28</c:v>
                </c:pt>
                <c:pt idx="8">
                  <c:v>2025-03-07</c:v>
                </c:pt>
                <c:pt idx="9">
                  <c:v>2025-03-14</c:v>
                </c:pt>
                <c:pt idx="10">
                  <c:v>2025-03-21</c:v>
                </c:pt>
                <c:pt idx="11">
                  <c:v>2025-03-28</c:v>
                </c:pt>
                <c:pt idx="12">
                  <c:v>2025-04-07</c:v>
                </c:pt>
                <c:pt idx="13">
                  <c:v>2025-04-14</c:v>
                </c:pt>
                <c:pt idx="14">
                  <c:v>2025-04-21</c:v>
                </c:pt>
                <c:pt idx="15">
                  <c:v>2025-04-28</c:v>
                </c:pt>
                <c:pt idx="16">
                  <c:v>2025-05-08</c:v>
                </c:pt>
                <c:pt idx="17">
                  <c:v>2025-05-15</c:v>
                </c:pt>
                <c:pt idx="18">
                  <c:v>2025-05-22</c:v>
                </c:pt>
                <c:pt idx="19">
                  <c:v>2025-05-29</c:v>
                </c:pt>
                <c:pt idx="20">
                  <c:v>2025-06-06</c:v>
                </c:pt>
                <c:pt idx="21">
                  <c:v>2025-06-13</c:v>
                </c:pt>
                <c:pt idx="22">
                  <c:v>2025-06-20</c:v>
                </c:pt>
                <c:pt idx="23">
                  <c:v>2025-06-27</c:v>
                </c:pt>
                <c:pt idx="24">
                  <c:v>2025-07-04</c:v>
                </c:pt>
                <c:pt idx="25">
                  <c:v>2025-07-11</c:v>
                </c:pt>
                <c:pt idx="26">
                  <c:v>2025-07-18</c:v>
                </c:pt>
                <c:pt idx="27">
                  <c:v>2025-07-25</c:v>
                </c:pt>
                <c:pt idx="28">
                  <c:v>2025-08-01</c:v>
                </c:pt>
                <c:pt idx="29">
                  <c:v>2025-08-08</c:v>
                </c:pt>
                <c:pt idx="30">
                  <c:v>2025-08-15</c:v>
                </c:pt>
                <c:pt idx="31">
                  <c:v>2025-08-22</c:v>
                </c:pt>
                <c:pt idx="32">
                  <c:v>2025-08-29</c:v>
                </c:pt>
                <c:pt idx="33">
                  <c:v>2025-09-05</c:v>
                </c:pt>
                <c:pt idx="34">
                  <c:v>2025-09-12</c:v>
                </c:pt>
                <c:pt idx="35">
                  <c:v>2025-09-19</c:v>
                </c:pt>
                <c:pt idx="36">
                  <c:v>2025-09-26</c:v>
                </c:pt>
                <c:pt idx="37">
                  <c:v>2025-10-13</c:v>
                </c:pt>
                <c:pt idx="38">
                  <c:v>2025-10-20</c:v>
                </c:pt>
                <c:pt idx="39">
                  <c:v>2025-10-27</c:v>
                </c:pt>
                <c:pt idx="40">
                  <c:v>2025-11-03</c:v>
                </c:pt>
                <c:pt idx="41">
                  <c:v>2025-11-10</c:v>
                </c:pt>
                <c:pt idx="42">
                  <c:v>2025-11-17</c:v>
                </c:pt>
                <c:pt idx="43">
                  <c:v>2025-11-24</c:v>
                </c:pt>
                <c:pt idx="44">
                  <c:v>2025-12-01</c:v>
                </c:pt>
                <c:pt idx="45">
                  <c:v>2025-12-08</c:v>
                </c:pt>
                <c:pt idx="46">
                  <c:v>2025-12-15</c:v>
                </c:pt>
                <c:pt idx="47">
                  <c:v>2025-12-22</c:v>
                </c:pt>
                <c:pt idx="48">
                  <c:v>2025-12-29</c:v>
                </c:pt>
                <c:pt idx="49">
                  <c:v>2026-01-07</c:v>
                </c:pt>
                <c:pt idx="50">
                  <c:v>2026-01-14</c:v>
                </c:pt>
                <c:pt idx="51">
                  <c:v>2026-01-21</c:v>
                </c:pt>
                <c:pt idx="52">
                  <c:v>2026-01-28</c:v>
                </c:pt>
                <c:pt idx="53">
                  <c:v>2026-02-04</c:v>
                </c:pt>
                <c:pt idx="54">
                  <c:v>2026-02-11</c:v>
                </c:pt>
                <c:pt idx="55">
                  <c:v>2026-02-26</c:v>
                </c:pt>
                <c:pt idx="56">
                  <c:v>2026-03-05</c:v>
                </c:pt>
                <c:pt idx="57">
                  <c:v>2026-03-12</c:v>
                </c:pt>
                <c:pt idx="58">
                  <c:v>2026-03-19</c:v>
                </c:pt>
                <c:pt idx="59">
                  <c:v>2026-03-26</c:v>
                </c:pt>
                <c:pt idx="60">
                  <c:v>2026-04-02</c:v>
                </c:pt>
                <c:pt idx="61">
                  <c:v>2026-04-10</c:v>
                </c:pt>
                <c:pt idx="62">
                  <c:v>2026-04-17</c:v>
                </c:pt>
                <c:pt idx="63">
                  <c:v>2026-04-24</c:v>
                </c:pt>
                <c:pt idx="64">
                  <c:v>2026-05-06</c:v>
                </c:pt>
                <c:pt idx="65">
                  <c:v>2026-05-13</c:v>
                </c:pt>
                <c:pt idx="66">
                  <c:v>2026-05-20</c:v>
                </c:pt>
                <c:pt idx="67">
                  <c:v>2026-05-27</c:v>
                </c:pt>
                <c:pt idx="68">
                  <c:v>2026-06-03</c:v>
                </c:pt>
                <c:pt idx="69">
                  <c:v>2026-06-10</c:v>
                </c:pt>
                <c:pt idx="70">
                  <c:v>2026-06-17</c:v>
                </c:pt>
                <c:pt idx="71">
                  <c:v>2026-06-25</c:v>
                </c:pt>
                <c:pt idx="72">
                  <c:v>2026-07-02</c:v>
                </c:pt>
                <c:pt idx="73">
                  <c:v>2026-07-09</c:v>
                </c:pt>
                <c:pt idx="74">
                  <c:v>2026-07-16</c:v>
                </c:pt>
                <c:pt idx="75">
                  <c:v>2026-07-23</c:v>
                </c:pt>
                <c:pt idx="76">
                  <c:v>2026-07-30</c:v>
                </c:pt>
                <c:pt idx="77">
                  <c:v>2026-08-06</c:v>
                </c:pt>
                <c:pt idx="78">
                  <c:v>2026-08-13</c:v>
                </c:pt>
                <c:pt idx="79">
                  <c:v>2026-08-20</c:v>
                </c:pt>
                <c:pt idx="80">
                  <c:v>2026-08-27</c:v>
                </c:pt>
                <c:pt idx="81">
                  <c:v>2026-09-03</c:v>
                </c:pt>
                <c:pt idx="82">
                  <c:v>2026-09-10</c:v>
                </c:pt>
                <c:pt idx="83">
                  <c:v>2026-09-17</c:v>
                </c:pt>
                <c:pt idx="84">
                  <c:v>2026-09-18</c:v>
                </c:pt>
              </c:strCache>
            </c:strRef>
          </c:cat>
          <c:val>
            <c:numRef>
              <c:f>'Chart Data'!$F$2:$F$86</c:f>
              <c:numCache>
                <c:formatCode>0.0000</c:formatCode>
                <c:ptCount val="8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  <c:pt idx="30">
                  <c:v>1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1</c:v>
                </c:pt>
                <c:pt idx="37">
                  <c:v>1</c:v>
                </c:pt>
                <c:pt idx="38">
                  <c:v>1</c:v>
                </c:pt>
                <c:pt idx="39">
                  <c:v>1</c:v>
                </c:pt>
                <c:pt idx="40">
                  <c:v>1</c:v>
                </c:pt>
                <c:pt idx="41">
                  <c:v>1</c:v>
                </c:pt>
                <c:pt idx="42">
                  <c:v>1</c:v>
                </c:pt>
                <c:pt idx="43">
                  <c:v>1</c:v>
                </c:pt>
                <c:pt idx="44">
                  <c:v>1</c:v>
                </c:pt>
                <c:pt idx="45">
                  <c:v>1</c:v>
                </c:pt>
                <c:pt idx="46">
                  <c:v>1</c:v>
                </c:pt>
                <c:pt idx="47">
                  <c:v>1</c:v>
                </c:pt>
                <c:pt idx="48">
                  <c:v>1</c:v>
                </c:pt>
                <c:pt idx="49">
                  <c:v>1</c:v>
                </c:pt>
                <c:pt idx="50">
                  <c:v>1</c:v>
                </c:pt>
                <c:pt idx="51">
                  <c:v>1</c:v>
                </c:pt>
                <c:pt idx="52">
                  <c:v>1</c:v>
                </c:pt>
                <c:pt idx="53">
                  <c:v>1</c:v>
                </c:pt>
                <c:pt idx="54">
                  <c:v>1</c:v>
                </c:pt>
                <c:pt idx="55">
                  <c:v>1</c:v>
                </c:pt>
                <c:pt idx="56">
                  <c:v>1</c:v>
                </c:pt>
                <c:pt idx="57">
                  <c:v>1</c:v>
                </c:pt>
                <c:pt idx="58">
                  <c:v>1</c:v>
                </c:pt>
                <c:pt idx="59">
                  <c:v>1</c:v>
                </c:pt>
                <c:pt idx="60">
                  <c:v>1</c:v>
                </c:pt>
                <c:pt idx="61">
                  <c:v>1</c:v>
                </c:pt>
                <c:pt idx="62">
                  <c:v>1</c:v>
                </c:pt>
                <c:pt idx="63">
                  <c:v>1</c:v>
                </c:pt>
                <c:pt idx="64">
                  <c:v>1</c:v>
                </c:pt>
                <c:pt idx="65">
                  <c:v>1</c:v>
                </c:pt>
                <c:pt idx="66">
                  <c:v>1</c:v>
                </c:pt>
                <c:pt idx="67">
                  <c:v>1</c:v>
                </c:pt>
                <c:pt idx="68">
                  <c:v>1</c:v>
                </c:pt>
                <c:pt idx="69">
                  <c:v>1</c:v>
                </c:pt>
                <c:pt idx="70">
                  <c:v>1</c:v>
                </c:pt>
                <c:pt idx="71">
                  <c:v>1</c:v>
                </c:pt>
                <c:pt idx="72">
                  <c:v>1</c:v>
                </c:pt>
                <c:pt idx="73">
                  <c:v>1</c:v>
                </c:pt>
                <c:pt idx="74">
                  <c:v>1</c:v>
                </c:pt>
                <c:pt idx="75">
                  <c:v>1</c:v>
                </c:pt>
                <c:pt idx="76">
                  <c:v>1</c:v>
                </c:pt>
                <c:pt idx="77">
                  <c:v>1</c:v>
                </c:pt>
                <c:pt idx="78">
                  <c:v>1</c:v>
                </c:pt>
                <c:pt idx="79">
                  <c:v>1</c:v>
                </c:pt>
                <c:pt idx="80">
                  <c:v>1</c:v>
                </c:pt>
                <c:pt idx="81">
                  <c:v>1</c:v>
                </c:pt>
                <c:pt idx="82">
                  <c:v>1</c:v>
                </c:pt>
                <c:pt idx="83">
                  <c:v>1</c:v>
                </c:pt>
                <c:pt idx="84">
                  <c:v>1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none"/>
        <c:spPr>
          <a:ln xmlns:a="http://schemas.openxmlformats.org/drawingml/2006/main" w="9525">
            <a:solidFill>
              <a:srgbClr val="BCC9D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  <c:max val="1.35"/>
          <c:min val="0.85"/>
        </c:scaling>
        <c:delete val="0"/>
        <c:axPos val="l"/>
        <c:majorGridlines>
          <c:spPr>
            <a:ln xmlns:a="http://schemas.openxmlformats.org/drawingml/2006/main" w="9525">
              <a:solidFill>
                <a:srgbClr val="DFE6EC"/>
              </a:solidFill>
            </a:ln>
          </c:spPr>
        </c:majorGridlines>
        <c:numFmt formatCode="0.00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  <c:majorUnit val="0.1"/>
      </c:valAx>
      <c:spPr>
        <a:solidFill xmlns:a="http://schemas.openxmlformats.org/drawingml/2006/main">
          <a:srgbClr val="FFFFFF"/>
        </a:solidFill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5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年化净收益</c:v>
          </c:tx>
          <c:spPr>
            <a:solidFill xmlns:a="http://schemas.openxmlformats.org/drawingml/2006/main">
              <a:srgbClr val="168579"/>
            </a:solidFill>
            <a:ln xmlns:a="http://schemas.openxmlformats.org/drawingml/2006/main" w="21908">
              <a:solidFill>
                <a:srgbClr val="168579"/>
              </a:solidFill>
            </a:ln>
          </c:spPr>
          <c:cat>
            <c:strRef>
              <c:f>'Chart Data'!$A$2:$A$5</c:f>
              <c:strCache>
                <c:ptCount val="4"/>
                <c:pt idx="0">
                  <c:v>预选风险组合</c:v>
                </c:pt>
                <c:pt idx="1">
                  <c:v>满仓等权</c:v>
                </c:pt>
                <c:pt idx="2">
                  <c:v>双倍费用</c:v>
                </c:pt>
                <c:pt idx="3">
                  <c:v>零费用重跑</c:v>
                </c:pt>
              </c:strCache>
            </c:strRef>
          </c:cat>
          <c:val>
            <c:numRef>
              <c:f>'Chart Data'!$B$2:$B$5</c:f>
              <c:numCache>
                <c:formatCode>0.00</c:formatCode>
                <c:ptCount val="4"/>
                <c:pt idx="0">
                  <c:v>3.65247827</c:v>
                </c:pt>
                <c:pt idx="1">
                  <c:v>4.81468676</c:v>
                </c:pt>
                <c:pt idx="2">
                  <c:v>3.17581829</c:v>
                </c:pt>
                <c:pt idx="3">
                  <c:v>4.13321137</c:v>
                </c:pt>
              </c:numCache>
            </c:numRef>
          </c:val>
        </c:ser>
        <c:ser>
          <c:idx val="1"/>
          <c:order val="1"/>
          <c:tx>
            <c:v>最大回撤</c:v>
          </c:tx>
          <c:spPr>
            <a:solidFill xmlns:a="http://schemas.openxmlformats.org/drawingml/2006/main">
              <a:srgbClr val="4265A6"/>
            </a:solidFill>
            <a:ln xmlns:a="http://schemas.openxmlformats.org/drawingml/2006/main" w="21908">
              <a:solidFill>
                <a:srgbClr val="4265A6"/>
              </a:solidFill>
            </a:ln>
          </c:spPr>
          <c:cat>
            <c:strRef>
              <c:f>'Chart Data'!$C$2:$C$5</c:f>
              <c:strCache>
                <c:ptCount val="4"/>
                <c:pt idx="0">
                  <c:v>预选风险组合</c:v>
                </c:pt>
                <c:pt idx="1">
                  <c:v>满仓等权</c:v>
                </c:pt>
                <c:pt idx="2">
                  <c:v>双倍费用</c:v>
                </c:pt>
                <c:pt idx="3">
                  <c:v>零费用重跑</c:v>
                </c:pt>
              </c:strCache>
            </c:strRef>
          </c:cat>
          <c:val>
            <c:numRef>
              <c:f>'Chart Data'!$D$2:$D$5</c:f>
              <c:numCache>
                <c:formatCode>0.00</c:formatCode>
                <c:ptCount val="4"/>
                <c:pt idx="0">
                  <c:v>7.01104153</c:v>
                </c:pt>
                <c:pt idx="1">
                  <c:v>13.1218712</c:v>
                </c:pt>
                <c:pt idx="2">
                  <c:v>7.23544119</c:v>
                </c:pt>
                <c:pt idx="3">
                  <c:v>6.78525816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BCC9D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72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FE6EC"/>
              </a:solidFill>
            </a:ln>
          </c:spPr>
        </c:majorGridlines>
        <c:numFmt formatCode="0.0&quot;%&quot;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t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latin typeface="Microsoft YaHei"/>
              <a:ea typeface="Microsoft YaHei"/>
              <a:cs typeface="Microsoft YaHei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6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平均Rank IC</c:v>
          </c:tx>
          <c:spPr>
            <a:solidFill xmlns:a="http://schemas.openxmlformats.org/drawingml/2006/main">
              <a:srgbClr val="168579"/>
            </a:solidFill>
            <a:ln xmlns:a="http://schemas.openxmlformats.org/drawingml/2006/main" w="21908">
              <a:solidFill>
                <a:srgbClr val="168579"/>
              </a:solidFill>
            </a:ln>
          </c:spPr>
          <c:invertIfNegative val="0"/>
          <c:cat>
            <c:strRef>
              <c:f>'Chart Data'!$A$2:$A$13</c:f>
              <c:strCache>
                <c:ptCount val="12"/>
                <c:pt idx="0">
                  <c:v>Mom</c:v>
                </c:pt>
                <c:pt idx="1">
                  <c:v>Rev</c:v>
                </c:pt>
                <c:pt idx="2">
                  <c:v>Low vol</c:v>
                </c:pt>
                <c:pt idx="3">
                  <c:v>Range</c:v>
                </c:pt>
                <c:pt idx="4">
                  <c:v>Trend</c:v>
                </c:pt>
                <c:pt idx="5">
                  <c:v>Volume</c:v>
                </c:pt>
                <c:pt idx="6">
                  <c:v>Illiq</c:v>
                </c:pt>
                <c:pt idx="7">
                  <c:v>Turnover</c:v>
                </c:pt>
                <c:pt idx="8">
                  <c:v>E/P</c:v>
                </c:pt>
                <c:pt idx="9">
                  <c:v>B/P</c:v>
                </c:pt>
                <c:pt idx="10">
                  <c:v>Div</c:v>
                </c:pt>
                <c:pt idx="11">
                  <c:v>ROE</c:v>
                </c:pt>
              </c:strCache>
            </c:strRef>
          </c:cat>
          <c:val>
            <c:numRef>
              <c:f>'Chart Data'!$B$2:$B$13</c:f>
              <c:numCache>
                <c:formatCode>0.0000</c:formatCode>
                <c:ptCount val="12"/>
                <c:pt idx="0">
                  <c:v>-0.01611671</c:v>
                </c:pt>
                <c:pt idx="1">
                  <c:v>0.01866363</c:v>
                </c:pt>
                <c:pt idx="2">
                  <c:v>0.07221084</c:v>
                </c:pt>
                <c:pt idx="3">
                  <c:v>0.07888433</c:v>
                </c:pt>
                <c:pt idx="4">
                  <c:v>-0.03208568</c:v>
                </c:pt>
                <c:pt idx="5">
                  <c:v>-0.01706104</c:v>
                </c:pt>
                <c:pt idx="6">
                  <c:v>-0.05136053</c:v>
                </c:pt>
                <c:pt idx="7">
                  <c:v>0.06554771</c:v>
                </c:pt>
                <c:pt idx="8">
                  <c:v>0.04283968</c:v>
                </c:pt>
                <c:pt idx="9">
                  <c:v>0.05150858</c:v>
                </c:pt>
                <c:pt idx="10">
                  <c:v>0.03741325</c:v>
                </c:pt>
                <c:pt idx="11">
                  <c:v>0.00683135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500">
                  <a:latin typeface="Microsoft YaHei"/>
                  <a:ea typeface="Microsoft YaHei"/>
                  <a:cs typeface="Microsoft YaHei"/>
                </a:defRPr>
              </a:pPr>
            </a:p>
          </c:txPr>
          <c:dLblPos val="outEnd"/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tickLblPos val="low"/>
        <c:spPr>
          <a:ln xmlns:a="http://schemas.openxmlformats.org/drawingml/2006/main" w="9525">
            <a:solidFill>
              <a:srgbClr val="BCC9D3"/>
            </a:solidFill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FE6EC"/>
              </a:solidFill>
            </a:ln>
          </c:spPr>
        </c:majorGridlines>
        <c:numFmt formatCode="0.00"/>
        <c:majorTickMark val="none"/>
        <c:minorTickMark val="none"/>
        <c:tickLblPos val="low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885659-97CE-4429-A6A1-E09267202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899CEA-E484-445C-84AA-65B7C9CB9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11191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青序量化研究平台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250F95-581B-411E-B3FF-87996608B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24625"/>
            <a:ext cx="12192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6161EA-9243-4E02-8EA6-DB8E6CD9D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青序量化研究平台   CF2026 Project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6C86BB8-40E9-4178-8021-93DE8DAAF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722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 /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7DCEB0-1C54-4C80-BD11-2E3AAA49A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33475"/>
            <a:ext cx="11239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1E69A3-DC85-4786-AFEB-40E4EAA4A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33475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D25073-2089-4F0D-8701-0F98445F5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66825"/>
            <a:ext cx="10706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从亏损案例到可复现的多因子研究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00A1FB-1451-4444-BAF3-18F79B10D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352675"/>
            <a:ext cx="1057275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可复现的多因子研究</a:t>
            </a:r>
          </a:p>
          <a:p xmlns:a="http://schemas.openxmlformats.org/drawingml/2006/main">
            <a:pPr>
              <a:defRPr sz="4350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350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与风险控制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1EE3B4-D36A-477F-8C24-1D520DD73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71975"/>
            <a:ext cx="106680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rPr>
              <a:t>Computational Finance · Project 1</a:t>
            </a:r>
          </a:p>
          <a:p xmlns:a="http://schemas.openxmlformats.org/drawingml/2006/main">
            <a:pPr>
              <a:defRPr sz="202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rPr>
              <a:t>1,000只历史股票，12个因子，5个候选</a:t>
            </a:r>
          </a:p>
          <a:p xmlns:a="http://schemas.openxmlformats.org/drawingml/2006/main">
            <a:pPr>
              <a:defRPr sz="202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rPr>
              <a:t>最终评估：2025-01-02 至 2026-09-18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2A3986-CAE4-49D1-A72D-E4FE40703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934075"/>
            <a:ext cx="1047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rPr>
              <a:t>2026年9月21日   /   20分钟课程展示</a:t>
            </a:r>
          </a:p>
        </p:txBody>
      </p:sp>
    </p:spTree>
    <p:extLst>
      <p:ext uri="{BB962C8B-B14F-4D97-AF65-F5344CB8AC3E}">
        <p14:creationId xmlns:p14="http://schemas.microsoft.com/office/powerpoint/2010/main" val="201416097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E435C6-40A4-4D90-8977-68BE53850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92A9D9-4229-42C5-BFFB-485539571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11191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Project 1 的核心是研究闭环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4E022A-AD75-4480-B0B8-ECED123C9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24625"/>
            <a:ext cx="12192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DBBA3F-3388-4B62-AAA7-D525A1513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青序量化研究平台   CF2026 Project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284FAE-EA87-4FB3-8918-306FEFAB7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722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 /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92938E-0E5E-46B1-940C-9797F19A7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33475"/>
            <a:ext cx="11239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766C99-3A1E-4BD5-A37A-0A2278227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33475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710BFC-B38E-4845-B636-58E054F5F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66825"/>
            <a:ext cx="10706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基础80分与扩展20分，落实为可检查的证据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5ABDEA-3DFD-4B05-AD82-0E897C2A8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3526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4A4806-CF4F-4CE9-B6D8-A2FE5F379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238375"/>
            <a:ext cx="10553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数据：字段、复权、缺失、下载身份与哈希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3C90C0-974A-4FA9-8F74-66265AA1C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623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5E8E86-D2FF-4C3C-B421-44BF54F7A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048000"/>
            <a:ext cx="10553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研究：因子、IC、分组、含费用回测、固定对照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D8E42D-23CA-4E47-B10E-D2C4BAC43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719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848AE3-1583-421E-AD44-C3DCDEAAD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857625"/>
            <a:ext cx="10553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工程：同一核心供CLI和界面调用，保留测试与运行记录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39443E-58C9-46E5-8F22-6A991BDB0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7815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0B7D49-9085-400D-A66B-D436B4D12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667250"/>
            <a:ext cx="10553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扩展：历史中性化、风险权重、部分成交、增量审计</a:t>
            </a:r>
          </a:p>
        </p:txBody>
      </p:sp>
    </p:spTree>
    <p:extLst>
      <p:ext uri="{BB962C8B-B14F-4D97-AF65-F5344CB8AC3E}">
        <p14:creationId xmlns:p14="http://schemas.microsoft.com/office/powerpoint/2010/main" val="17839325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028991-C6AF-4400-81D7-5A6778FF5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02FCE5-2F6F-4099-A853-2F78951AE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11191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原始动量的亏损超过费用拖累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8A762E-09FC-4C87-94C0-4E991E2F2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24625"/>
            <a:ext cx="12192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20ACD1-7AEA-4458-AADB-22D4179B2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青序量化研究平台   CF2026 Project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F0A6E9-6C6C-4C92-BCEC-FA90FB0CB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722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 /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AA1097-E18D-40CB-AFE3-B89E4721A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33475"/>
            <a:ext cx="11239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8ACB9D-F7D4-4FB2-BC99-F7D9565B3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33475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281490-71A7-495E-B19C-20595CE47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66825"/>
            <a:ext cx="10706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零费用独立重跑仍累计亏损75.16%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09600" y="2028825"/>
          <a:ext xmlns:a="http://schemas.openxmlformats.org/drawingml/2006/main" cx="10953750" cy="3219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129fecc0a794d08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DFA5D3-768D-421A-B4AC-8D788A65D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rPr>
              <a:t>原始扣费累计：−83.57%，最大回撤89.83%；加回费用的同路径归因：−58.12%；零费用重跑会改变再投资路径，不能混为一谈</a:t>
            </a:r>
          </a:p>
        </p:txBody>
      </p:sp>
    </p:spTree>
    <p:extLst>
      <p:ext uri="{BB962C8B-B14F-4D97-AF65-F5344CB8AC3E}">
        <p14:creationId xmlns:p14="http://schemas.microsoft.com/office/powerpoint/2010/main" val="7803772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4076BD9-F4AE-467E-A2E0-71E61D554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75A39E-6604-4F94-9F1E-C7D0147E4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11191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分数与成交账本解耦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DAEF20-63D4-4E1C-A2B1-2F00E95D7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24625"/>
            <a:ext cx="12192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758502-D301-4AD7-8BA3-B81DCD896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青序量化研究平台   CF2026 Project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7A935E-22AA-43AF-AE6C-B837E5796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722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 /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505BC9-423C-4366-8C32-86B42BF96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33475"/>
            <a:ext cx="11239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3BCA7D-D100-4500-B35C-7291E33A0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33475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7307539-10CC-4E2D-B28F-5D4DACECD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66825"/>
            <a:ext cx="10706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新增模型输出同样的分数接口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5F630A-56C9-4016-9332-821BE7103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47950"/>
            <a:ext cx="25527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A0B722-3FD0-46F1-9020-A57657CEC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289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22AD7B-9B30-49FD-A11F-51D158AFF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81375"/>
            <a:ext cx="2190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原始快照与质量检查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87D93B-24D7-49FB-853F-458F866F8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2775" y="3105150"/>
            <a:ext cx="247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C673C7-E111-42C0-A632-1A449CC1D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647950"/>
            <a:ext cx="25527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4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993F50-9940-4680-AF11-8F8A7C4FF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8289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E68A12-A8E4-4C66-82BC-368DD7018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81375"/>
            <a:ext cx="2190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因子/模型：日期×资产分数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D780A4-7C9A-4DA0-BBA4-7D38AAADD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3105150"/>
            <a:ext cx="247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DDA5E3-D951-488F-83CD-8DA68C85B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47950"/>
            <a:ext cx="25527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1F6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6CE837-B61B-4922-934C-371ED3AD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289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96441B-D6BF-4822-8CEE-19FE8D15A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381375"/>
            <a:ext cx="2190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组合模块：目标权重与现金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AD701EC-569F-4716-A914-BA7813EE5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105150"/>
            <a:ext cx="2476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37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7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rPr>
              <a:t>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E685C5-B7D2-4548-B874-15678A36B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647950"/>
            <a:ext cx="25527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4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2E827B-A16A-4086-8BDF-DB592E58D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8289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9142BB-B418-4E6A-B0EB-958177355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381375"/>
            <a:ext cx="2190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成交模块：订单、成交、持仓、净值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44B5F0-58F4-420A-9026-594BBE7F6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933950"/>
            <a:ext cx="10763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同一核心服务命令行、交互页面与提交报告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3D967A-0EF4-41CD-9C1E-A965EA7CA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629275"/>
            <a:ext cx="10763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rPr>
              <a:t>每个实验记录数据、配置与源码身份，失败结果保留</a:t>
            </a:r>
          </a:p>
        </p:txBody>
      </p:sp>
    </p:spTree>
    <p:extLst>
      <p:ext uri="{BB962C8B-B14F-4D97-AF65-F5344CB8AC3E}">
        <p14:creationId xmlns:p14="http://schemas.microsoft.com/office/powerpoint/2010/main" val="93043888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DE722D-083F-4470-AAB7-E6BFCC2C5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73A2C5-7992-40C7-B40F-D99966AE4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11191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1,656,599条日线具有明确来源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0A0A74-EA93-4F66-919F-52C84DBC3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24625"/>
            <a:ext cx="12192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498C895-9143-434E-8A6F-4321320C8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青序量化研究平台   CF2026 Project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4E86E19-1983-441A-93CB-99353331A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722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 /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A99C5E-D0C5-41E7-8B8E-A7B0C5FD3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33475"/>
            <a:ext cx="11239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D1E304-8C14-4A40-8B3B-87EAD0F1E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33475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2C9EC1-E47F-4781-960B-9C7B9221E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66825"/>
            <a:ext cx="10706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固定2019年末股票池，保留后来缺失的成员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647700" y="2085975"/>
          <a:ext xmlns:a="http://schemas.openxmlformats.org/drawingml/2006/main" cx="10896600" cy="2762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81375"/>
                <a:gridCol w="7515225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项目</a:t>
                      </a:r>
                    </a:p>
                  </a:txBody>
                  <a:tcPr marL="91440" marR="91440" marT="45720" marB="45720">
                    <a:solidFill>
                      <a:srgbClr val="142B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结果</a:t>
                      </a:r>
                    </a:p>
                  </a:txBody>
                  <a:tcPr marL="91440" marR="91440" marT="45720" marB="45720">
                    <a:solidFill>
                      <a:srgbClr val="142B43"/>
                    </a:solidFill>
                  </a:tcPr>
                </a:tc>
              </a:tr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资产 / 交易日</a:t>
                      </a:r>
                    </a:p>
                  </a:txBody>
                  <a:tcPr marL="91440" marR="91440" marT="45720" marB="45720">
                    <a:solidFill>
                      <a:srgbClr val="F2F6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1,000 / 1,690</a:t>
                      </a:r>
                    </a:p>
                  </a:txBody>
                  <a:tcPr marL="91440" marR="91440" marT="45720" marB="45720">
                    <a:solidFill>
                      <a:srgbClr val="F2F6F9"/>
                    </a:solidFill>
                  </a:tcPr>
                </a:tc>
              </a:tr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日线重复键 / 异常剔除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0 / 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缺失网格 / 缺限制价</a:t>
                      </a:r>
                    </a:p>
                  </a:txBody>
                  <a:tcPr marL="91440" marR="91440" marT="45720" marB="45720">
                    <a:solidFill>
                      <a:srgbClr val="F2F6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33,401 / 48</a:t>
                      </a:r>
                    </a:p>
                  </a:txBody>
                  <a:tcPr marL="91440" marR="91440" marT="45720" marB="45720">
                    <a:solidFill>
                      <a:srgbClr val="F2F6F9"/>
                    </a:solidFill>
                  </a:tcPr>
                </a:tc>
              </a:tr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每日估值记录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1,656,599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5682137-01CB-45AE-97A9-A7DCE944E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048250"/>
            <a:ext cx="108775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rPr>
              <a:t>价格区间：2019-10-08 至 2026-09-18</a:t>
            </a:r>
          </a:p>
          <a:p xmlns:a="http://schemas.openxmlformats.org/drawingml/2006/main">
            <a:pPr>
              <a:defRPr sz="1650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rPr>
              <a:t>57,389条财务指标，1,432条历史行业区间</a:t>
            </a:r>
          </a:p>
          <a:p xmlns:a="http://schemas.openxmlformats.org/drawingml/2006/main">
            <a:pPr>
              <a:defRPr sz="1650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rPr>
              <a:t>原行情3,006个文件、新研究2,073个文件哈希核验</a:t>
            </a:r>
          </a:p>
          <a:p xmlns:a="http://schemas.openxmlformats.org/drawingml/2006/main">
            <a:pPr>
              <a:defRPr sz="1650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rPr>
              <a:t>固定池不含后续IPO，也不代表全A股</a:t>
            </a:r>
          </a:p>
        </p:txBody>
      </p:sp>
    </p:spTree>
    <p:extLst>
      <p:ext uri="{BB962C8B-B14F-4D97-AF65-F5344CB8AC3E}">
        <p14:creationId xmlns:p14="http://schemas.microsoft.com/office/powerpoint/2010/main" val="9311524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C89EFE8-2CD5-4F81-9C82-2C59BEB36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ADC12F-792C-447D-9B8F-1AFCD1E2C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11191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时间分割先于结果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ACF7ADE-5ADB-4336-A9ED-58FB2ED58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24625"/>
            <a:ext cx="12192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B211D2-18D8-41E8-AC20-4B909EE8B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青序量化研究平台   CF2026 Project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0C3B4E-9895-4E7C-8BE2-EB11ECF0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722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 /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65B069-D03D-4C82-8560-FFFA02B34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33475"/>
            <a:ext cx="11239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D9B7D5-A3DE-4122-A65A-883C05E90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33475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4CD73A-CD09-483F-84FF-E26115FD9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66825"/>
            <a:ext cx="10706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2023–2024验证选择，2025年后只作评估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1F17E3-84F7-4F5C-8666-E66C3B09F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09800"/>
            <a:ext cx="34575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E2C7D4-A9D9-4B64-894E-4C7F80074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62200"/>
            <a:ext cx="3095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2020–2022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8F55CF-58BA-4CCD-8FBC-4FA79DA65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52725"/>
            <a:ext cx="3095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训练模型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76FB28-400A-4E53-A03B-068159C37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2209800"/>
            <a:ext cx="34575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E2D25E-4743-420D-8867-DD326F0DE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362200"/>
            <a:ext cx="3095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2023–2024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DC7AEC-4655-443F-9F82-47D90A694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752725"/>
            <a:ext cx="3095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验证并选择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5C50E6-8C8B-4C48-A01A-72B8EDD71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209800"/>
            <a:ext cx="3457575" cy="1009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5EF811D-4B56-45A5-912C-5CDD47B0A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62200"/>
            <a:ext cx="3095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2025–2026/9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7FA800-9841-4D36-BB21-D058CB67F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752725"/>
            <a:ext cx="3095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冻结选择后评估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D0540B-D8CC-43A5-A22F-B35E31063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7433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58E0C2C-E4CD-48CD-9005-7ACCE3705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629025"/>
            <a:ext cx="105537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2020–2022训练：653,622个有效样本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08A847-FC51-4BD3-BE0B-34E31BDBB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3243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31FE0D-D6D0-4355-90C2-FF5A69034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210050"/>
            <a:ext cx="105537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清除标签退出日跨入2023年的训练观测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A00171-FDF5-4C47-A98B-892BCA05D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9053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4E1492-A11F-4596-B8A5-76C1649BF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791075"/>
            <a:ext cx="105537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财报严格晚于公告日使用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1053D76-B8CA-4FB2-A080-9EDC70F75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4864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286BA7A-9653-4223-B528-923827DED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372100"/>
            <a:ext cx="105537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原动量全期已被观察：不称完全未知的盲测</a:t>
            </a:r>
          </a:p>
        </p:txBody>
      </p:sp>
    </p:spTree>
    <p:extLst>
      <p:ext uri="{BB962C8B-B14F-4D97-AF65-F5344CB8AC3E}">
        <p14:creationId xmlns:p14="http://schemas.microsoft.com/office/powerpoint/2010/main" val="19731860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4B0351-90E7-4A47-B87C-A9DA0DBAE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4F383F-9CF7-4423-80EC-A4C689464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11191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12个因子构成可解释的基线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D81E05-3C74-41D7-84E5-274327E23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24625"/>
            <a:ext cx="12192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FE1126-8B0F-4BD9-B154-7CD8089A5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青序量化研究平台   CF2026 Project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CF49B5-C0A3-469E-97A5-E21403439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722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7 /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5B67FF-68CC-4C65-87B2-466857E28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33475"/>
            <a:ext cx="11239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B4349B-7C7B-469B-8448-1D6500463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33475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651596-950F-49FF-8A70-ADC0CA534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66825"/>
            <a:ext cx="10706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既保留防御与价值，也保留表现不佳的方向</a:t>
            </a:r>
          </a:p>
        </p:txBody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647700" y="2085975"/>
          <a:ext xmlns:a="http://schemas.openxmlformats.org/drawingml/2006/main" cx="10896600" cy="2762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381375"/>
                <a:gridCol w="7515225"/>
              </a:tblGrid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类别</a:t>
                      </a:r>
                    </a:p>
                  </a:txBody>
                  <a:tcPr marL="91440" marR="91440" marT="45720" marB="45720">
                    <a:solidFill>
                      <a:srgbClr val="142B43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因子</a:t>
                      </a:r>
                    </a:p>
                  </a:txBody>
                  <a:tcPr marL="91440" marR="91440" marT="45720" marB="45720">
                    <a:solidFill>
                      <a:srgbClr val="142B43"/>
                    </a:solidFill>
                  </a:tcPr>
                </a:tc>
              </a:tr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趋势 / 反转</a:t>
                      </a:r>
                    </a:p>
                  </a:txBody>
                  <a:tcPr marL="91440" marR="91440" marT="45720" marB="45720">
                    <a:solidFill>
                      <a:srgbClr val="F2F6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跳月动量、5日反转、20日均线趋势</a:t>
                      </a:r>
                    </a:p>
                  </a:txBody>
                  <a:tcPr marL="91440" marR="91440" marT="45720" marB="45720">
                    <a:solidFill>
                      <a:srgbClr val="F2F6F9"/>
                    </a:solidFill>
                  </a:tcPr>
                </a:tc>
              </a:tr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风险 / 量价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低波动、低振幅、量能变化、流动性、低换手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价值 / 分红</a:t>
                      </a:r>
                    </a:p>
                  </a:txBody>
                  <a:tcPr marL="91440" marR="91440" marT="45720" marB="45720">
                    <a:solidFill>
                      <a:srgbClr val="F2F6F9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盈利收益率、账面市值比、股息率</a:t>
                      </a:r>
                    </a:p>
                  </a:txBody>
                  <a:tcPr marL="91440" marR="91440" marT="45720" marB="45720">
                    <a:solidFill>
                      <a:srgbClr val="F2F6F9"/>
                    </a:solidFill>
                  </a:tcPr>
                </a:tc>
              </a:tr>
              <a:tr h="552450"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质量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r>
                        <a:rPr sz="1875" b="0">
                          <a:solidFill>
                            <a:srgbClr val="142B43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最新已公告年度ROE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65EF08-B720-4711-9AD4-29965B11E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" y="5048250"/>
            <a:ext cx="1087755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rPr>
              <a:t>同日横截面统一方向与尺度</a:t>
            </a:r>
          </a:p>
          <a:p xmlns:a="http://schemas.openxmlformats.org/drawingml/2006/main">
            <a:pPr>
              <a:defRPr sz="1650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rPr>
              <a:t>至少10个因子有效，其余标准化缺值取中性值0</a:t>
            </a:r>
          </a:p>
          <a:p xmlns:a="http://schemas.openxmlformats.org/drawingml/2006/main">
            <a:pPr>
              <a:defRPr sz="1650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rPr>
              <a:t>完整因子卡列出字段、窗口与失败情形</a:t>
            </a:r>
          </a:p>
        </p:txBody>
      </p:sp>
    </p:spTree>
    <p:extLst>
      <p:ext uri="{BB962C8B-B14F-4D97-AF65-F5344CB8AC3E}">
        <p14:creationId xmlns:p14="http://schemas.microsoft.com/office/powerpoint/2010/main" val="18235697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0D84C6-27D9-4B84-96C2-2B74B9B5E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BD31D1-3C40-4F69-9022-3EB3BE8E4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11191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中性化控制已知风格暴露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83D44E-0B20-4B4D-BDF7-3DC8256D2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24625"/>
            <a:ext cx="12192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4A088C-8704-4EA6-BDEA-72FF0E6CA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青序量化研究平台   CF2026 Project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FB40306-EF66-4A03-A781-94F90D278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722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8 /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36A655-3384-4D94-A0B2-C6FF1F0B8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33475"/>
            <a:ext cx="11239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1543DE-A689-4ACB-9F2E-D1F34AADA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33475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9F5D17-3EDD-4582-87B9-92438A0B7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66825"/>
            <a:ext cx="10706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每个形成日单独处理，避免全样本标准化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3BD89C-0E15-460B-A0E9-E89B5B979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171700"/>
            <a:ext cx="109156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F36CEE-86F7-4D0A-866E-C86615677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1935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rPr>
              <a:t>z(i,t) = 行业截距 + β(t) × log 市值 + ε(i,t)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1A686F-559C-48E5-B5CC-02D926016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5147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3576CD-D53A-422F-BA5E-4E2BDFFCD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400425"/>
            <a:ext cx="105537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1% / 99%截尾，再用当日样本均值和标准差标准化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97B8BA-C24B-4650-A845-859E1E0F4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1719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F851C9-2ED3-405D-A8F3-B42D1A8F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057650"/>
            <a:ext cx="105537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回归当时有效的行业虚拟变量与对数市值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8746DC-CB99-4C00-8CEF-6B06FD7D8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8291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5E1CDE-F276-4321-BBA3-AEEA16D7D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714875"/>
            <a:ext cx="105537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残差重新标准化，检查行业均值与市值正交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9D25EA-A7A0-4A45-A9E2-AF25BCC4F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4864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1985D5-7415-49D6-9D8F-FF11F817D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372100"/>
            <a:ext cx="105537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UNKNOWN单独成组，历史分类不反填</a:t>
            </a:r>
          </a:p>
        </p:txBody>
      </p:sp>
    </p:spTree>
    <p:extLst>
      <p:ext uri="{BB962C8B-B14F-4D97-AF65-F5344CB8AC3E}">
        <p14:creationId xmlns:p14="http://schemas.microsoft.com/office/powerpoint/2010/main" val="152758643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49DB4F-8355-4E7F-BEA6-3C767DC4F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7A5686-0795-4183-9409-0915630E7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11191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小型神经网络是一个对照候选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215CB9-0DE4-45BC-898E-4622D78D4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24625"/>
            <a:ext cx="12192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4516FE-8D8F-421E-A947-058BD530F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青序量化研究平台   CF2026 Project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3E9810-97A0-49F4-91A8-B8AAE7A63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722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9 /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2A8B81-6502-4F5B-87BD-52E227C22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33475"/>
            <a:ext cx="11239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8C1B20-09C0-4CAC-90C2-04E00DF87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33475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05BD65-E90A-47DD-B86A-E2844D360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66825"/>
            <a:ext cx="10706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输入是表格因子，采用MLP回归相对收益秩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238DAE-3030-43BA-A590-4452428DC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3526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D0392B-A78C-4F85-A831-E462A2A7B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238375"/>
            <a:ext cx="10553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Ridge：线性、正则化、容易解释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A4265C-0282-4770-8F35-52201B6F3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623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3DB2E4-B339-4AAA-9FBD-7D3853799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048000"/>
            <a:ext cx="10553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LightGBM：固定250棵树与受限树深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3A5112-A4BD-4D4E-A564-F5037DF68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719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45B1B8-EA45-4CAA-A7BA-A1716C978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857625"/>
            <a:ext cx="10553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MLP：12 → 32 → 16 → 1，ReLU，固定8轮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E29C1B-10EE-412D-8D15-9672A0001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7815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ABC02E-5264-4BEA-920F-D2C9229B8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667250"/>
            <a:ext cx="10553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相同组合与费用评估，MLP未声称已收敛</a:t>
            </a:r>
          </a:p>
        </p:txBody>
      </p:sp>
    </p:spTree>
    <p:extLst>
      <p:ext uri="{BB962C8B-B14F-4D97-AF65-F5344CB8AC3E}">
        <p14:creationId xmlns:p14="http://schemas.microsoft.com/office/powerpoint/2010/main" val="121061503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35E0B7-82AC-46A0-9447-B57CD7A18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049964-9EA9-4FEA-99A5-1220203D8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11191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每笔费用只对应实际成交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406A07-F903-45D9-B1FC-52D62F40E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24625"/>
            <a:ext cx="12192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6B0AB9-27CF-40EA-B950-6D6C140DB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青序量化研究平台   CF2026 Project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6AB9C75-4E03-4163-A58C-C0E5A2AEE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722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10 /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5B985B-02FA-48A3-8AD7-BE0EAEED3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33475"/>
            <a:ext cx="11239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D4CC17-B343-45B9-A8FA-03C8F9D5C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33475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DF14F3-E75D-478D-AC84-896958B90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66825"/>
            <a:ext cx="10706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收盘形成信号，最早下一开盘执行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ED8516F-A6ED-40F3-B0FC-26277F38A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171700"/>
            <a:ext cx="109156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E23B8A-3241-4121-996C-EE1E52EAC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1935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rPr>
              <a:t>费用 = 0.001 × 实际买额 + 0.0015 × 实际卖额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1F028C-2789-4661-9681-567FB8AA3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5147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3B6395-1AD6-42A5-9128-DBBBB5C9B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400425"/>
            <a:ext cx="105537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买10bp、卖15bp，按实际成交额计提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150613-EAF6-4E73-BCE5-BDEAB961A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1719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1CBEF5-A2FA-4C5D-8CE5-BFA24E6CA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057650"/>
            <a:ext cx="105537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涨跌停、缺报价和现金约束可阻止或缩减成交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F480F4B-7ED9-4256-8354-587CD60C6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8291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684321-6EC2-439A-84FA-6F357EBEF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714875"/>
            <a:ext cx="105537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此前20日平均成交额的1%限制单资产成交预算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8A5749-03AB-4DFB-A73E-81BDF11D5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4864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03312D-307D-4151-A7A9-FDB4EA436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372100"/>
            <a:ext cx="105537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独立重建现金、单位余额、每日净值与费用</a:t>
            </a:r>
          </a:p>
        </p:txBody>
      </p:sp>
    </p:spTree>
    <p:extLst>
      <p:ext uri="{BB962C8B-B14F-4D97-AF65-F5344CB8AC3E}">
        <p14:creationId xmlns:p14="http://schemas.microsoft.com/office/powerpoint/2010/main" val="208175202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9593D4D-1A1A-4602-B697-4E4F37B35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2BAEDF-28E7-4AB9-AFA4-BED602584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11191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风险预算让组合可以持有现金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126933-3AA8-4DB4-A42E-D81AC7A09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24625"/>
            <a:ext cx="12192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BE695A-F244-4000-9229-F6BC578AB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青序量化研究平台   CF2026 Project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03BA1C-2F1F-4E26-9043-DD96E7FD5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722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11 /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AA51CC-82CC-4E4D-A2D7-69DA438D0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33475"/>
            <a:ext cx="11239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8AAD79-D0D8-4C4A-BB12-26E8B3579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33475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8CF2E7-75D2-422E-A9B2-360CFA656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66825"/>
            <a:ext cx="10706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降低回撤，同时接受上涨参与度下降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1CE789-DC6D-4D1B-BD63-529C17543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3526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92BEC3-D06D-4A49-8109-943CF43BB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238375"/>
            <a:ext cx="10553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每20个交易日调仓，50只目标持仓，前70名保留缓冲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2D39F3-11BC-4A1B-833A-311148F31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623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8B0672-E6D0-4F1B-A966-C656AB761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048000"/>
            <a:ext cx="10553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单股目标≤4%，行业目标≤25%，股票预算≤90%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8D019A-12A0-4E44-BE3B-5A5A65541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719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C876FC-8D03-4850-9FAE-77D6C9660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857625"/>
            <a:ext cx="10553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年化波动目标12%，过去60日估计风险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BF0E49D-E13C-44A0-A6DE-304C0ECF5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7815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E91005-EE68-4781-BF72-90119E5C7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667250"/>
            <a:ext cx="10553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沪深300低于120日均线时，股票预算乘0.25</a:t>
            </a:r>
          </a:p>
        </p:txBody>
      </p:sp>
    </p:spTree>
    <p:extLst>
      <p:ext uri="{BB962C8B-B14F-4D97-AF65-F5344CB8AC3E}">
        <p14:creationId xmlns:p14="http://schemas.microsoft.com/office/powerpoint/2010/main" val="1819841455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0C3220-86D6-4FE7-A54F-0FB6C5C77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44C91B-59C0-48F8-893C-22DC9C22C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11191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验证期选择了标准化多因子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9A39BB-69BA-4BDA-AC7A-A9A7D9E3C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24625"/>
            <a:ext cx="12192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554281-EF8C-458B-8F54-9E61FE7B2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青序量化研究平台   CF2026 Project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F28128-82FD-40E8-8E96-9A874B2BE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722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12 /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8CE8D6-51B0-4954-BB7A-08123E1FB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33475"/>
            <a:ext cx="11239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ED8871-5C6B-4ED8-8A1C-74344B9AB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33475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FAE9C9-171E-42D8-9F66-466836A0A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66825"/>
            <a:ext cx="10706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年化5.84%，最大回撤7.20%，符合预先选择规则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09600" y="2028825"/>
          <a:ext xmlns:a="http://schemas.openxmlformats.org/drawingml/2006/main" cx="10953750" cy="3943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a13e0788c9b4eae"/>
          </a:graphicData>
        </a:graphic>
      </p:graphicFrame>
    </p:spTree>
    <p:extLst>
      <p:ext uri="{BB962C8B-B14F-4D97-AF65-F5344CB8AC3E}">
        <p14:creationId xmlns:p14="http://schemas.microsoft.com/office/powerpoint/2010/main" val="92691771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9135C1-911C-4E06-8007-C3CA2EB1E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685078-1892-4D9B-867B-8DF0937D7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11191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最终期保留全部候选结果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48C7E8-4A78-42E1-830F-126C6F104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24625"/>
            <a:ext cx="12192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E4E6E9-106E-4C5C-9BC4-76E52A5BF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青序量化研究平台   CF2026 Project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096853-6101-4CB6-8D37-8C9FEEBAB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722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13 /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4DEAA5-2EA8-4D10-9CBE-DC42C5796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33475"/>
            <a:ext cx="11239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9F8947-3A47-42AC-B72C-81CEE4BFD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33475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6AC509-B9DD-4315-964D-6FBEFF826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66825"/>
            <a:ext cx="10706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LightGBM后续较强，仍不替换验证期预选策略</a:t>
            </a:r>
          </a:p>
        </p:txBody>
      </p:sp>
      <p:graphicFrame>
        <p:nvGraphicFramePr>
          <p:cNvPr id="18" name="Chart"/>
          <p:cNvGraphicFramePr/>
          <p:nvPr/>
        </p:nvGraphicFramePr>
        <p:xfrm>
          <a:off xmlns:a="http://schemas.openxmlformats.org/drawingml/2006/main" x="609600" y="2028825"/>
          <a:ext xmlns:a="http://schemas.openxmlformats.org/drawingml/2006/main" cx="10953750" cy="39433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a84fa5e84434339"/>
          </a:graphicData>
        </a:graphic>
      </p:graphicFrame>
    </p:spTree>
    <p:extLst>
      <p:ext uri="{BB962C8B-B14F-4D97-AF65-F5344CB8AC3E}">
        <p14:creationId xmlns:p14="http://schemas.microsoft.com/office/powerpoint/2010/main" val="195911075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31FA722-E1E5-41D1-A3F3-D83767E2A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A2709C-38FA-4A51-B3EE-126CC7814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11191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预选策略达到CPI目标，尚未战胜指数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F19B7A-EC96-4729-9A60-15A9052AF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24625"/>
            <a:ext cx="12192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1EF631-8019-4149-9191-B3F62C463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青序量化研究平台   CF2026 Project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931A0B-91C5-4579-B6BA-31040B418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722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14 /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54827C-ABB0-4FAE-A0D3-BB1A2EB08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33475"/>
            <a:ext cx="11239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068FD12-0C56-4150-BC9D-6A5130590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33475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DA7556-AA51-4F0B-AB66-F66CAB483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66825"/>
            <a:ext cx="10706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累计净收益6.12%，年化3.65%，最大回撤7.01%</a:t>
            </a:r>
          </a:p>
        </p:txBody>
      </p:sp>
      <p:graphicFrame>
        <p:nvGraphicFramePr>
          <p:cNvPr id="23" name="Chart"/>
          <p:cNvGraphicFramePr/>
          <p:nvPr/>
        </p:nvGraphicFramePr>
        <p:xfrm>
          <a:off xmlns:a="http://schemas.openxmlformats.org/drawingml/2006/main" x="609600" y="2028825"/>
          <a:ext xmlns:a="http://schemas.openxmlformats.org/drawingml/2006/main" cx="10953750" cy="3048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c4aa99e5b5aa4b3c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2BC06A-FD6B-4F6F-A3A5-50AB3860A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067300"/>
            <a:ext cx="1428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rPr>
              <a:t>2025-01-02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75FDBF-9EB2-4917-89B9-E06C0DDA8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5067300"/>
            <a:ext cx="1428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rPr>
              <a:t>2025年末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25AAB1-2A35-4E8D-A773-297A63D4C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067300"/>
            <a:ext cx="1476375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rPr>
              <a:t>2026-09-18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D0D179-2B8A-4EF5-BE79-230B2993C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rPr>
              <a:t>共同完整月份2025/02–2026/08：策略7.02%，CPI 0.69%；沪深300为未扣复制成本的价格指数；现金按零利息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EC97E0-4A48-4DA8-B97D-849EE4B78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34100"/>
            <a:ext cx="10953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rPr>
              <a:t>演示曲线每5个交易日取点，完整417日净值与回撤见平台及报告。</a:t>
            </a:r>
          </a:p>
        </p:txBody>
      </p:sp>
    </p:spTree>
    <p:extLst>
      <p:ext uri="{BB962C8B-B14F-4D97-AF65-F5344CB8AC3E}">
        <p14:creationId xmlns:p14="http://schemas.microsoft.com/office/powerpoint/2010/main" val="25812444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E095B00-283A-4B86-B845-854171585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52F8A7-1341-49A7-A46E-7ED191BFF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11191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同一分数下，风险控制减少回撤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92E69A-9385-4A63-81D8-16FB59FA9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24625"/>
            <a:ext cx="12192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25B8BAD-FFC9-4F67-94F3-D9E7B14AF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青序量化研究平台   CF2026 Project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ED58C2-AEB0-450B-980D-899A2C8CF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722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15 /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1EB1F9-F075-42EC-9744-CDCFF8921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33475"/>
            <a:ext cx="11239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A107CA-8CBF-44DE-9E5E-08F41348B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33475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E2BEEF6-16EA-46E3-B8CF-2795A956C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66825"/>
            <a:ext cx="10706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双倍费用下年化约3.18%，回撤约7.24%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09600" y="2028825"/>
          <a:ext xmlns:a="http://schemas.openxmlformats.org/drawingml/2006/main" cx="10953750" cy="3219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39d95dfcb5664475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DF3B590-280F-4E48-A09B-F03B27098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rPr>
              <a:t>满仓等权：年化4.81%，回撤13.12%；风险组合：年化3.65%，回撤7.01%；整套组合模块对照，不能单独归因于趋势过滤</a:t>
            </a:r>
          </a:p>
        </p:txBody>
      </p:sp>
    </p:spTree>
    <p:extLst>
      <p:ext uri="{BB962C8B-B14F-4D97-AF65-F5344CB8AC3E}">
        <p14:creationId xmlns:p14="http://schemas.microsoft.com/office/powerpoint/2010/main" val="61314527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8217745-A61A-4781-B552-DD7014610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01C3E4-992C-4B80-9D82-D6067F892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11191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因子诊断同时保留负结果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D821B8B-17AB-47FF-A7F9-938798B34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24625"/>
            <a:ext cx="12192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09E697-C586-4EEA-8DB0-A8372D70B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青序量化研究平台   CF2026 Project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4B4A25-01E0-4FCA-9671-10F739D1D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722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16 /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1FDDE0-52EC-4BF7-901B-AB5175195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33475"/>
            <a:ext cx="11239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5532B9-DA03-43C9-9B4C-E49A77837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33475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16404C-30CD-4DAE-9FA6-97B2826F5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66825"/>
            <a:ext cx="10706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878个形成日，逐日横截面IC与20日标签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09600" y="2028825"/>
          <a:ext xmlns:a="http://schemas.openxmlformats.org/drawingml/2006/main" cx="10953750" cy="32194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285b466a0b9471d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BC3B69-B8FB-435C-BF84-BAE73ED82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953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27285"/>
                </a:solidFill>
                <a:latin typeface="Microsoft YaHei"/>
                <a:ea typeface="Microsoft YaHei"/>
                <a:cs typeface="Microsoft YaHei"/>
              </a:rPr>
              <a:t>低波动与低振幅较强，仍需检查信息冗余；先形成五组，再匹配未来标签；不重新分组；重叠20日收益均值不连乘成净值，不声称显著性</a:t>
            </a:r>
          </a:p>
        </p:txBody>
      </p:sp>
    </p:spTree>
    <p:extLst>
      <p:ext uri="{BB962C8B-B14F-4D97-AF65-F5344CB8AC3E}">
        <p14:creationId xmlns:p14="http://schemas.microsoft.com/office/powerpoint/2010/main" val="62563860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E2C0012-CFE9-4C14-8906-5B4E6D396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5A5C38-E00A-4FE2-98ED-326566039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11191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现场演示：从结论追到证据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CC8CBD-60C4-4496-90B7-D4D791220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24625"/>
            <a:ext cx="12192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EDB8AF3-CEE0-4150-9D33-97A96BDFF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青序量化研究平台   CF2026 Project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094034-120F-4A3C-9F11-3E461F0E9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722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17 /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E08F9C-7E14-4AB6-B1D9-C0D267705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33475"/>
            <a:ext cx="11239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C90CA4-8197-40B4-BAB6-5FB439802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33475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3776C0F-84F6-4A11-8585-B1EB13C73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66825"/>
            <a:ext cx="10706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两分钟完成研究页、因子诊断与回测核验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E94725-9C50-4208-A4A3-F6031EC14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3526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D6C1BD-DDF8-41DB-86A6-77BC0282A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238375"/>
            <a:ext cx="1055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策略研究：确认预选名称、日期、CPI共同月份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5AB307-5910-4E6D-B3E2-41545F012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718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887623-0BAE-4E3E-A654-386E96290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057525"/>
            <a:ext cx="1055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模型对照：解释为什么没有选择后续冠军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372056-14B5-4791-8D53-43849BFC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909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FD4965-5F3C-4088-BAD8-3176CE8C6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876675"/>
            <a:ext cx="1055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因子诊断：查看公式、覆盖与形成/有效人数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6406F0-0A79-41EA-B69E-3B035DCD1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8101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84EE95-4B5D-4476-A48C-EE15F8866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695825"/>
            <a:ext cx="105537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回测实验：用预热样本运行并查看账本通过状态</a:t>
            </a:r>
          </a:p>
        </p:txBody>
      </p:sp>
    </p:spTree>
    <p:extLst>
      <p:ext uri="{BB962C8B-B14F-4D97-AF65-F5344CB8AC3E}">
        <p14:creationId xmlns:p14="http://schemas.microsoft.com/office/powerpoint/2010/main" val="137214239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2A0A2C-A2F1-4CFB-BE85-D2C6A3A1E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00ADA5-7376-4DE2-86B5-0FAB8877B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11191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平台已形成可复现的研究基础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048061-4ECD-4113-B51D-BB2AF451B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24625"/>
            <a:ext cx="12192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8EA8B6-C153-49C4-ADEC-39A7F4596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青序量化研究平台   CF2026 Project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FBDDD0-EEF5-408A-8246-BAD760E18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722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18 /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466BEE-B3D7-4D06-A412-D6B3CF1BB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33475"/>
            <a:ext cx="11239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2AB750-BD7F-42EE-9935-12ACB163A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33475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2851B4-47ED-44E3-98FC-57FC5E462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66825"/>
            <a:ext cx="10706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收益目标有条件达成，风险与数据边界继续保留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A1ADDDC-2C05-431F-B4DD-2D6B67A7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3526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F512EC-FE35-4492-8FF6-290AA72A1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238375"/>
            <a:ext cx="10553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达到：扣费后超过同期CPI，历史回撤低于20%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504BCB-4E31-4BD1-B131-387702C9F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623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967FDB-7AE1-4322-8867-E969BFD26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048000"/>
            <a:ext cx="10553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未达到：年化5%–8%的更高期望及战胜市场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823F87-CACC-40F6-97E0-27BF80E7D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719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9CEDD36-6619-4659-9332-505374A09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857625"/>
            <a:ext cx="10553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边界：固定池、财报修订、复权单位、风险目标漂移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B0B05F0-FB08-4CF3-A2D2-8F0FE1FA4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7815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6EEA83-412B-4864-B546-493925C74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667250"/>
            <a:ext cx="10553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下一步：新的滚动验证区间与更真实的成交模型</a:t>
            </a:r>
          </a:p>
        </p:txBody>
      </p:sp>
    </p:spTree>
    <p:extLst>
      <p:ext uri="{BB962C8B-B14F-4D97-AF65-F5344CB8AC3E}">
        <p14:creationId xmlns:p14="http://schemas.microsoft.com/office/powerpoint/2010/main" val="58616055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ACC846-363E-4D3C-80CF-82EAFE69D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0B2BFE-44B0-4DA0-89C2-DAC61AAB2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11191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备份：绩效与购买力口径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3D2B3A-2E5F-42D6-87E9-ED97C569A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24625"/>
            <a:ext cx="12192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63F45F-71F4-4399-A38B-6F35CAC31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青序量化研究平台   CF2026 Project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EA9C748-96CF-4985-AC49-6FC5E248D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722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19 /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712C7A-F46B-4B87-83ED-D4E0061BC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33475"/>
            <a:ext cx="11239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3B51E3-6C63-4906-9B52-BF2E7655E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33475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77D7B6-CFE0-4C27-8463-F71D88B16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66825"/>
            <a:ext cx="10706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期初净值参与第一日收益与最大回撤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EFFEB1-1B1F-4F49-9B46-2A4D6D646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2171700"/>
            <a:ext cx="109156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6F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69F38A-59C1-45A2-8ECB-3FA0F0BAE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2419350"/>
            <a:ext cx="10572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68579"/>
                </a:solidFill>
                <a:latin typeface="Microsoft YaHei"/>
                <a:ea typeface="Microsoft YaHei"/>
                <a:cs typeface="Microsoft YaHei"/>
              </a:rPr>
              <a:t>实际收益 = (1 + 策略累计收益) / (1 + 累计通胀) − 1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82F148-C3DF-4722-A4C6-73057623E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5147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C76B28-D451-45C0-860D-CBC38DD90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400425"/>
            <a:ext cx="105537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年化： (NAV末 / NAV初)^(252 / 交易日数) − 1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83ACDC-7F11-414C-90CF-B3D0C9DD9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1719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817AFB-D89C-44F4-B120-023EF26E0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057650"/>
            <a:ext cx="105537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Sharpe：√252 × 日超额均值 / 日超额样本标准差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AFD808-02E4-4089-B450-6C60B354F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8291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B7BED9-D304-4A0F-BD15-6E92F947A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714875"/>
            <a:ext cx="105537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CPI累计：逐月(1 + 月环比)相乘 − 1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4B9AFC-AFDF-4859-A69C-DEE450ADF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54864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7F85E2B-D643-48F3-B114-91BCC55B9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5372100"/>
            <a:ext cx="10553700" cy="561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实际收益：(1 + 策略收益) / (1 + CPI累计) − 1</a:t>
            </a:r>
          </a:p>
        </p:txBody>
      </p:sp>
    </p:spTree>
    <p:extLst>
      <p:ext uri="{BB962C8B-B14F-4D97-AF65-F5344CB8AC3E}">
        <p14:creationId xmlns:p14="http://schemas.microsoft.com/office/powerpoint/2010/main" val="164656771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7952FD-49B5-439B-B75B-99DF835A4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885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1FCD03-6750-4C80-A001-53C2A0FD6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0500"/>
            <a:ext cx="1119187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备份：来源与答辩问题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0A6959-0032-461C-B219-3C076D422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524625"/>
            <a:ext cx="12192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B4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D6309C-D7C3-4BE4-A359-1BC47A709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572250"/>
            <a:ext cx="904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青序量化研究平台   CF2026 Project 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7AA0375-12CE-4B92-A0CB-54517D671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5722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20 / 20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20B267-6006-454A-B8FB-0D0BF1264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33475"/>
            <a:ext cx="11239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5F4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EFB20E-5F70-4F71-8B97-2A3431E76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33475"/>
            <a:ext cx="666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0F92E7E-E491-4D90-A14D-D0AD74786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266825"/>
            <a:ext cx="10706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复杂模型、中性化与平台正确性可以分别讨论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5022A1-79CB-46B6-B3B7-C7D315C72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35267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E24D86-D349-47D3-B309-C86007F87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2238375"/>
            <a:ext cx="10553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为什么不用CNN？因子顺序无天然邻接，MLP更直接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495FF2-09DC-44CD-BDE4-CB1916500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6230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6D3CCE-06CF-4A7E-AFEC-1BDA570E2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048000"/>
            <a:ext cx="10553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为什么不选LightGBM？验证期规则已经固定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554948-E431-40B2-80D4-78AD657D1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971925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6DB5E8-20BD-4399-BDBD-84C0FED16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3857625"/>
            <a:ext cx="10553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Qlib复现了吗？参考工作流与表达，未完整复制Alpha158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8169886-1A3E-4307-BE3F-9D101608C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4781550"/>
            <a:ext cx="66675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579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73598BF-1BF7-472A-B944-DCFB442D9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4667250"/>
            <a:ext cx="105537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42B43"/>
                </a:solidFill>
                <a:latin typeface="Microsoft YaHei"/>
                <a:ea typeface="Microsoft YaHei"/>
                <a:cs typeface="Microsoft YaHei"/>
              </a:rPr>
              <a:t>主要来源：课程课件、Tushare、Qlib、CogAlpha、sklearn</a:t>
            </a:r>
          </a:p>
        </p:txBody>
      </p:sp>
    </p:spTree>
    <p:extLst>
      <p:ext uri="{BB962C8B-B14F-4D97-AF65-F5344CB8AC3E}">
        <p14:creationId xmlns:p14="http://schemas.microsoft.com/office/powerpoint/2010/main" val="9508326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2026-09-21T15:53:26.2930000Z</dcterms:created>
  <dcterms:modified xsi:type="dcterms:W3CDTF">2026-09-21T15:53:26.2930000Z</dcterms:modified>
</coreProperties>
</file>